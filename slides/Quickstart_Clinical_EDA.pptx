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f2d8cda-4570-f719-5ae5-fe6673cbfc4c}">
          <p14:sldIdLst>
            <p14:sldId id="256"/>
            <p14:sldId id="257"/>
            <p14:sldId id="258"/>
            <p14:sldId id="259"/>
            <p14:sldId id="260"/>
          </p14:sldIdLst>
        </p14:section>
        <p14:section name="0 Question and data" id="{0177c31a-a268-c047-1eed-7489ee73986a}">
          <p14:sldIdLst>
            <p14:sldId id="261"/>
            <p14:sldId id="262"/>
            <p14:sldId id="263"/>
            <p14:sldId id="264"/>
          </p14:sldIdLst>
        </p14:section>
        <p14:section name="1 Load" id="{5cd881e9-c2cd-03e7-af72-a5d6adeecdc8}">
          <p14:sldIdLst>
            <p14:sldId id="265"/>
            <p14:sldId id="266"/>
            <p14:sldId id="267"/>
          </p14:sldIdLst>
        </p14:section>
        <p14:section name="2 Clean" id="{72e4f02d-bbeb-5cda-c5e7-992a6ddeb00d}">
          <p14:sldIdLst>
            <p14:sldId id="268"/>
            <p14:sldId id="269"/>
            <p14:sldId id="270"/>
          </p14:sldIdLst>
        </p14:section>
        <p14:section name="3 Explore" id="{c63b0285-c960-2bd0-a2b6-9facfa24fa95}">
          <p14:sldIdLst>
            <p14:sldId id="271"/>
            <p14:sldId id="272"/>
            <p14:sldId id="273"/>
            <p14:sldId id="274"/>
            <p14:sldId id="275"/>
          </p14:sldIdLst>
        </p14:section>
        <p14:section name="4 Outliers" id="{c65c19b7-2d10-31ef-2a65-a193fe2e6864}">
          <p14:sldIdLst>
            <p14:sldId id="276"/>
          </p14:sldIdLst>
        </p14:section>
        <p14:section name="5 Missing data" id="{2af73239-ba91-acf7-af77-f9a210d7a78f}">
          <p14:sldIdLst>
            <p14:sldId id="277"/>
            <p14:sldId id="278"/>
            <p14:sldId id="279"/>
          </p14:sldIdLst>
        </p14:section>
        <p14:section name="6 Features" id="{aa4b1069-b38a-77f2-6495-d40bca754c32}">
          <p14:sldIdLst>
            <p14:sldId id="280"/>
            <p14:sldId id="281"/>
          </p14:sldIdLst>
        </p14:section>
        <p14:section name="7 Infer or predict" id="{21ee0263-2fb1-4e78-9fe1-f44ec474f0da}">
          <p14:sldIdLst>
            <p14:sldId id="282"/>
            <p14:sldId id="283"/>
            <p14:sldId id="284"/>
            <p14:sldId id="285"/>
            <p14:sldId id="286"/>
          </p14:sldIdLst>
        </p14:section>
        <p14:section name="8 Report" id="{8cf23d51-86c6-651d-3494-f813026607b0}">
          <p14:sldIdLst>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quickstart for exploring clinical tabular data in Python and R. One synthetic cardiovascular risk clinic dataset is used on every slide, from loading to the final EDA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Missing-data assessment now comes before any formal group comparison, because how missingness is handled changes the comparison. After exploration the workflow splits: statistical inference and predictive modelling have different preprocessing and validation requirements. The tracker at the bottom of each slide follows this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Task-specific links appear on the slide where each task is introduced, as 'Start here' chips. The full list is on the Resources by task slide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statin and ccs_class are hidden here for space; they appear in the data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determines the summary (slide on descriptive statistics), the plot, the encoding (feature engineering) and the test. Continuous variables can be further split into interval (no true zero, e.g. temperature in Celsius) and ratio (true zero, e.g.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Replacing values below the detection limit with LOD/2 (0.15 mg/L) is one documented convention, not the only option. The flag column keeps the information so that a sensitivity analysis can treat those values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fixed sample-size cut-offs (more than 100, fewer than 15) from the earlier version. Those rules oversimplify: robustness depends on the size of each group, the degree of skew, outliers and the design. The .sample(200) call was removed because it fails when fewer than 200 values exist and throws away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dataset the IQR rule flags one value, 212 mmHg in a 68-year-old with diastolic 93 mmHg. It is plausible, so it stays in the data. Sensitivity analysis in the tutorial notebook: the diabetes difference is 11.6 mmHg (7.7 to 15.6) with it and 10.6 mmHg (7.2 to 14.1)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'MCAR: drop, mean/median impute' line implied these were interchangeable. Dropping cases under MCAR loses power but stays unbiased; mean imputation distorts variances and relationships regardless of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Pooled result in this dataset (Python version, adjusted for age and BMI): diabetes coefficient about 5.2 mmHg (95% CI 1.6 to 8.8). Mixed data types (IDs, text categories, numbers) cannot be passed directly to IterativeImputer().fit_transform(df); they need encoding first, and identifiers must be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blanket rule 'do not normalize for hypothesis testing' was removed. A log transformation can be the right choice for a test or model, provided it is justified and the results are back-transformed for reporting. The spike at the left of the log histogram is the 9 values below the detection limit, all set to 0.15 mg/L.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Corrections from the earlier version: the one-sample non-normal row listed the Wilcoxon rank-sum test, which compares two independent groups; the one-sample analogue is the signed-rank test (symmetry assumed) or the sign test. Chi-square goodness-of-fit belongs to categorical counts. The heading no longer implies that every test compares means or medians.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predicts diabetes from routine measurements only to show the mechanics. The grouped cross-validated AUC in the synthetic data is about 0.79 for logistic regression, which barely changes with leaky folds; a random forest drops from 0.79 (leaky KFold) to 0.74 (GroupKFold), shown in section 7B of the notebook. A clinical prediction model would also need calibration, a pre-specified set of predictors and external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descriptive Table 1 usually omits p-values for baseline differences in observational cohorts; the formal comparison belongs to the analysis section with effect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SU_TITLE">
    <p:bg>
      <p:bgPr>
        <a:solidFill>
          <a:schemeClr val="accent1"/>
        </a:solidFill>
      </p:bgPr>
    </p:bg>
    <p:spTree>
      <p:nvGrpSpPr>
        <p:cNvPr id="1" name=""/>
        <p:cNvGrpSpPr/>
        <p:nvPr/>
      </p:nvGrpSpPr>
      <p:grpSpPr>
        <a:xfrm>
          <a:off x="0" y="0"/>
          <a:ext cx="0" cy="0"/>
          <a:chOff x="0" y="0"/>
          <a:chExt cx="0" cy="0"/>
        </a:xfrm>
      </p:grpSpPr>
      <p:pic>
        <p:nvPicPr>
          <p:cNvPr id="2" name="Image 0" descr="/home/claude/orig/un/ppt/media/image3.png">    </p:cNvPr>
          <p:cNvPicPr>
            <a:picLocks noChangeAspect="1"/>
          </p:cNvPicPr>
          <p:nvPr/>
        </p:nvPicPr>
        <p:blipFill>
          <a:blip r:embed="rId1">
            <a:alphaModFix amt="30000"/>
          </a:blip>
          <a:stretch>
            <a:fillRect/>
          </a:stretch>
        </p:blipFill>
        <p:spPr>
          <a:xfrm>
            <a:off x="8641080" y="-137160"/>
            <a:ext cx="3063240" cy="7406640"/>
          </a:xfrm>
          <a:prstGeom prst="rect">
            <a:avLst/>
          </a:prstGeom>
        </p:spPr>
      </p:pic>
      <p:pic>
        <p:nvPicPr>
          <p:cNvPr id="3" name="Image 1" descr="/home/claude/orig/un/ppt/media/image1.png">    </p:cNvPr>
          <p:cNvPicPr>
            <a:picLocks noChangeAspect="1"/>
          </p:cNvPicPr>
          <p:nvPr/>
        </p:nvPicPr>
        <p:blipFill>
          <a:blip r:embed="rId2"/>
          <a:stretch>
            <a:fillRect/>
          </a:stretch>
        </p:blipFill>
        <p:spPr>
          <a:xfrm>
            <a:off x="548640" y="502920"/>
            <a:ext cx="2011680" cy="370332"/>
          </a:xfrm>
          <a:prstGeom prst="rect">
            <a:avLst/>
          </a:prstGeom>
        </p:spPr>
      </p:pic>
      <p:sp>
        <p:nvSpPr>
          <p:cNvPr id="4" name="Text 0"/>
          <p:cNvSpPr/>
          <p:nvPr>
            <p:ph idx="102" type="title" hasCustomPrompt="1"/>
          </p:nvPr>
        </p:nvSpPr>
        <p:spPr>
          <a:xfrm>
            <a:off x="548640" y="1828800"/>
            <a:ext cx="786384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0"/>
          <p:cNvSpPr/>
          <p:nvPr>
            <p:ph idx="103" type="body" hasCustomPrompt="1"/>
          </p:nvPr>
        </p:nvSpPr>
        <p:spPr>
          <a:xfrm>
            <a:off x="548640" y="4983480"/>
            <a:ext cx="73152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SU_CONTENT">
    <p:bg>
      <p:bgPr>
        <a:solidFill>
          <a:schemeClr val="bg1"/>
        </a:solidFill>
      </p:bgPr>
    </p:bg>
    <p:spTree>
      <p:nvGrpSpPr>
        <p:cNvPr id="1" name=""/>
        <p:cNvGrpSpPr/>
        <p:nvPr/>
      </p:nvGrpSpPr>
      <p:grpSpPr>
        <a:xfrm>
          <a:off x="0" y="0"/>
          <a:ext cx="0" cy="0"/>
          <a:chOff x="0" y="0"/>
          <a:chExt cx="0" cy="0"/>
        </a:xfrm>
      </p:grpSpPr>
      <p:pic>
        <p:nvPicPr>
          <p:cNvPr id="2" name="Image 0" descr="/home/claude/orig/un/ppt/media/image4.png">    </p:cNvPr>
          <p:cNvPicPr>
            <a:picLocks noChangeAspect="1"/>
          </p:cNvPicPr>
          <p:nvPr/>
        </p:nvPicPr>
        <p:blipFill>
          <a:blip r:embed="rId1"/>
          <a:stretch>
            <a:fillRect/>
          </a:stretch>
        </p:blipFill>
        <p:spPr>
          <a:xfrm>
            <a:off x="457200" y="6336792"/>
            <a:ext cx="1371600" cy="267919"/>
          </a:xfrm>
          <a:prstGeom prst="rect">
            <a:avLst/>
          </a:prstGeom>
        </p:spPr>
      </p:pic>
      <p:sp>
        <p:nvSpPr>
          <p:cNvPr id="3" name="Text 0"/>
          <p:cNvSpPr/>
          <p:nvPr>
            <p:ph idx="101" type="title" hasCustomPrompt="1"/>
          </p:nvPr>
        </p:nvSpPr>
        <p:spPr>
          <a:xfrm>
            <a:off x="457200" y="274320"/>
            <a:ext cx="11274552"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SU_DARK">
    <p:bg>
      <p:bgPr>
        <a:solidFill>
          <a:schemeClr val="accent1"/>
        </a:solidFill>
      </p:bgPr>
    </p:bg>
    <p:spTree>
      <p:nvGrpSpPr>
        <p:cNvPr id="1" name=""/>
        <p:cNvGrpSpPr/>
        <p:nvPr/>
      </p:nvGrpSpPr>
      <p:grpSpPr>
        <a:xfrm>
          <a:off x="0" y="0"/>
          <a:ext cx="0" cy="0"/>
          <a:chOff x="0" y="0"/>
          <a:chExt cx="0" cy="0"/>
        </a:xfrm>
      </p:grpSpPr>
      <p:pic>
        <p:nvPicPr>
          <p:cNvPr id="2" name="Image 0" descr="/home/claude/orig/un/ppt/media/image1.png">    </p:cNvPr>
          <p:cNvPicPr>
            <a:picLocks noChangeAspect="1"/>
          </p:cNvPicPr>
          <p:nvPr/>
        </p:nvPicPr>
        <p:blipFill>
          <a:blip r:embed="rId1"/>
          <a:stretch>
            <a:fillRect/>
          </a:stretch>
        </p:blipFill>
        <p:spPr>
          <a:xfrm>
            <a:off x="457200" y="6309360"/>
            <a:ext cx="1463040" cy="269748"/>
          </a:xfrm>
          <a:prstGeom prst="rect">
            <a:avLst/>
          </a:prstGeom>
        </p:spPr>
      </p:pic>
      <p:sp>
        <p:nvSpPr>
          <p:cNvPr id="3" name="Text 0"/>
          <p:cNvSpPr/>
          <p:nvPr>
            <p:ph idx="101" type="title" hasCustomPrompt="1"/>
          </p:nvPr>
        </p:nvSpPr>
        <p:spPr>
          <a:xfrm>
            <a:off x="457200" y="274320"/>
            <a:ext cx="11274552"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2057400" y="63550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book.datascience.appliedhealthinformatics.com/docs/intro" TargetMode="External"/><Relationship Id="rId3" Type="http://schemas.openxmlformats.org/officeDocument/2006/relationships/hyperlink" Target="https://book.datascience.appliedhealthinformatics.com/docs/category/chapter-3---exploratory-data-analysis-eda" TargetMode="External"/><Relationship Id="rId5" Type="http://schemas.openxmlformats.org/officeDocument/2006/relationships/hyperlink" Target="https://www.pythonhealthdatascience.com/content/front_page.html" TargetMode="External"/><Relationship Id="rId6" Type="http://schemas.openxmlformats.org/officeDocument/2006/relationships/hyperlink" Target="https://www.pythonhealthdatascience.com/content/02_stat_prog/03_exercises/02_stroke_data_wrangling.html" TargetMode="External"/><Relationship Id="rId8" Type="http://schemas.openxmlformats.org/officeDocument/2006/relationships/hyperlink" Target="https://bookdown.org/drki_musa/dataanalysis/" TargetMode="External"/><Relationship Id="rId9" Type="http://schemas.openxmlformats.org/officeDocument/2006/relationships/hyperlink" Target="https://bookdown.org/drki_musa/dataanalysis/exploratory-data-analysis.html" TargetMode="External"/><Relationship Id="rId10" Type="http://schemas.openxmlformats.org/officeDocument/2006/relationships/hyperlink" Target="https://swcarpentry.github.io/python-novice-inflammation/" TargetMode="External"/><Relationship Id="rId11" Type="http://schemas.openxmlformats.org/officeDocument/2006/relationships/hyperlink" Target="https://r4ds.hadley.nz/" TargetMode="External"/><Relationship Id="rId1" Type="http://schemas.openxmlformats.org/officeDocument/2006/relationships/image" Target="../media/image-5-1.png"/><Relationship Id="rId4" Type="http://schemas.openxmlformats.org/officeDocument/2006/relationships/image" Target="../media/image-5-2.png"/><Relationship Id="rId7" Type="http://schemas.openxmlformats.org/officeDocument/2006/relationships/image" Target="../media/image-5-3.png"/><Relationship Id="rId12" Type="http://schemas.openxmlformats.org/officeDocument/2006/relationships/slideLayout" Target="../slideLayouts/slideLayout3.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pandas.pydata.org/docs/getting_started/intro_tutorials/index.html" TargetMode="External"/><Relationship Id="rId2" Type="http://schemas.openxmlformats.org/officeDocument/2006/relationships/hyperlink" Target="https://swcarpentry.github.io/python-novice-inflammation/" TargetMode="External"/><Relationship Id="rId3" Type="http://schemas.openxmlformats.org/officeDocument/2006/relationships/hyperlink" Target="https://r4ds.hadley.nz/" TargetMode="External"/><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profiling.ydata.ai/latest/getting-started/quickstart/" TargetMode="Externa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seaborn.pydata.org/tutorial/distributions.html" TargetMode="External"/><Relationship Id="rId1" Type="http://schemas.openxmlformats.org/officeDocument/2006/relationships/image" Target="../media/image-17-1.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kaggle.com/learn/data-visualization" TargetMode="External"/><Relationship Id="rId1" Type="http://schemas.openxmlformats.org/officeDocument/2006/relationships/image" Target="../media/image-20-1.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stefvanbuuren.name/fimd/" TargetMode="Externa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mices.org/mice/" TargetMode="Externa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www.amstat.org/asa/files/pdfs/p-valuestatements.pdf" TargetMode="External"/><Relationship Id="rId1" Type="http://schemas.openxmlformats.org/officeDocument/2006/relationships/image" Target="../media/image-29-1.png"/><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scikit-learn.org/stable/common_pitfalls.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www.danieldsjoberg.com/gtsummary/articles/tbl_summary.html" TargetMode="Externa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swcarpentry.github.io/python-novice-inflammation/" TargetMode="External"/><Relationship Id="rId2" Type="http://schemas.openxmlformats.org/officeDocument/2006/relationships/hyperlink" Target="https://r4ds.hadley.nz/" TargetMode="External"/><Relationship Id="rId3" Type="http://schemas.openxmlformats.org/officeDocument/2006/relationships/hyperlink" Target="https://pandas.pydata.org/docs/getting_started/intro_tutorials/index.html" TargetMode="External"/><Relationship Id="rId4" Type="http://schemas.openxmlformats.org/officeDocument/2006/relationships/hyperlink" Target="https://seaborn.pydata.org/tutorial/distributions.html" TargetMode="External"/><Relationship Id="rId5" Type="http://schemas.openxmlformats.org/officeDocument/2006/relationships/hyperlink" Target="https://www.kaggle.com/learn/data-visualization" TargetMode="External"/><Relationship Id="rId6" Type="http://schemas.openxmlformats.org/officeDocument/2006/relationships/hyperlink" Target="https://docs.profiling.ydata.ai/latest/getting-started/quickstart/" TargetMode="External"/><Relationship Id="rId7" Type="http://schemas.openxmlformats.org/officeDocument/2006/relationships/hyperlink" Target="https://www.danieldsjoberg.com/gtsummary/articles/tbl_summary.html" TargetMode="External"/><Relationship Id="rId8" Type="http://schemas.openxmlformats.org/officeDocument/2006/relationships/hyperlink" Target="https://stefvanbuuren.name/fimd/" TargetMode="External"/><Relationship Id="rId9" Type="http://schemas.openxmlformats.org/officeDocument/2006/relationships/hyperlink" Target="https://amices.org/mice/" TargetMode="External"/><Relationship Id="rId10" Type="http://schemas.openxmlformats.org/officeDocument/2006/relationships/hyperlink" Target="https://scikit-learn.org/stable/common_pitfalls.html" TargetMode="External"/><Relationship Id="rId11" Type="http://schemas.openxmlformats.org/officeDocument/2006/relationships/hyperlink" Target="https://www.amstat.org/asa/files/pdfs/p-valuestatements.pdf" TargetMode="External"/><Relationship Id="rId12" Type="http://schemas.openxmlformats.org/officeDocument/2006/relationships/hyperlink" Target="https://book.datascience.appliedhealthinformatics.com/docs/intro" TargetMode="External"/><Relationship Id="rId13" Type="http://schemas.openxmlformats.org/officeDocument/2006/relationships/hyperlink" Target="https://www.pythonhealthdatascience.com/content/front_page.html" TargetMode="External"/><Relationship Id="rId14" Type="http://schemas.openxmlformats.org/officeDocument/2006/relationships/hyperlink" Target="https://bookdown.org/drki_musa/dataanalysis/" TargetMode="External"/><Relationship Id="rId15" Type="http://schemas.openxmlformats.org/officeDocument/2006/relationships/slideLayout" Target="../slideLayouts/slideLayout3.xml"/><Relationship Id="rId1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34.xml"/><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548640" y="1828800"/>
            <a:ext cx="7863840" cy="2011680"/>
          </a:xfrm>
          <a:prstGeom prst="rect">
            <a:avLst/>
          </a:prstGeom>
          <a:noFill/>
          <a:ln/>
        </p:spPr>
        <p:txBody>
          <a:bodyPr wrap="square" lIns="0" tIns="0" rIns="0" bIns="0" rtlCol="0" anchor="t"/>
          <a:lstStyle/>
          <a:p>
            <a:pPr algn="l" indent="0" marL="0">
              <a:buNone/>
            </a:pPr>
            <a:r>
              <a:rPr lang="en-US" sz="2000" b="1" spc="400" kern="0" dirty="0">
                <a:solidFill>
                  <a:schemeClr val="bg1"/>
                </a:solidFill>
              </a:rPr>
              <a:t>QUICKSTART</a:t>
            </a:r>
            <a:endParaRPr lang="en-US" sz="4000" dirty="0"/>
          </a:p>
          <a:p>
            <a:pPr algn="l" indent="0" marL="0">
              <a:buNone/>
            </a:pPr>
            <a:r>
              <a:rPr lang="en-US" sz="4000" b="1" dirty="0">
                <a:solidFill>
                  <a:schemeClr val="bg1"/>
                </a:solidFill>
              </a:rPr>
              <a:t>Clinical Data: Exploratory Data Analysis (EDA)</a:t>
            </a:r>
            <a:endParaRPr lang="en-US" sz="4000" dirty="0"/>
          </a:p>
        </p:txBody>
      </p:sp>
      <p:sp>
        <p:nvSpPr>
          <p:cNvPr id="3" name="Text 0"/>
          <p:cNvSpPr/>
          <p:nvPr>
            <p:ph idx="103" type="body" hasCustomPrompt="1"/>
          </p:nvPr>
        </p:nvSpPr>
        <p:spPr>
          <a:xfrm>
            <a:off x="548640" y="4983480"/>
            <a:ext cx="7315200" cy="1097280"/>
          </a:xfrm>
          <a:prstGeom prst="rect">
            <a:avLst/>
          </a:prstGeom>
          <a:noFill/>
          <a:ln/>
        </p:spPr>
        <p:txBody>
          <a:bodyPr wrap="square" lIns="0" tIns="0" rIns="0" bIns="0" rtlCol="0" anchor="t"/>
          <a:lstStyle/>
          <a:p>
            <a:pPr indent="0" marL="0">
              <a:buNone/>
            </a:pPr>
            <a:r>
              <a:rPr lang="en-US" sz="1800" dirty="0">
                <a:solidFill>
                  <a:schemeClr val="bg1"/>
                </a:solidFill>
              </a:rPr>
              <a:t>RSU, Bioinformatics group</a:t>
            </a:r>
            <a:endParaRPr lang="en-US" sz="1800" dirty="0"/>
          </a:p>
          <a:p>
            <a:pPr indent="0" marL="0">
              <a:buNone/>
            </a:pPr>
            <a:r>
              <a:rPr lang="en-US" sz="1800" dirty="0">
                <a:solidFill>
                  <a:schemeClr val="bg1"/>
                </a:solidFill>
              </a:rPr>
              <a:t>Viktorija Dauksaite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Why EDA comes first</a:t>
            </a:r>
            <a:endParaRPr lang="en-US" sz="3000" dirty="0"/>
          </a:p>
        </p:txBody>
      </p:sp>
      <p:sp>
        <p:nvSpPr>
          <p:cNvPr id="3" name="card"/>
          <p:cNvSpPr/>
          <p:nvPr/>
        </p:nvSpPr>
        <p:spPr>
          <a:xfrm>
            <a:off x="457200" y="1371600"/>
            <a:ext cx="5440680" cy="2057400"/>
          </a:xfrm>
          <a:prstGeom prst="roundRect">
            <a:avLst>
              <a:gd name="adj" fmla="val 4444"/>
            </a:avLst>
          </a:prstGeom>
          <a:solidFill>
            <a:schemeClr val="bg2"/>
          </a:solidFill>
          <a:ln w="12700">
            <a:solidFill>
              <a:schemeClr val="bg2"/>
            </a:solidFill>
            <a:prstDash val="solid"/>
          </a:ln>
        </p:spPr>
      </p:sp>
      <p:sp>
        <p:nvSpPr>
          <p:cNvPr id="4" name="icon circle"/>
          <p:cNvSpPr/>
          <p:nvPr/>
        </p:nvSpPr>
        <p:spPr>
          <a:xfrm>
            <a:off x="777240" y="1737360"/>
            <a:ext cx="731520" cy="7315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60120" y="1920240"/>
            <a:ext cx="365760" cy="365760"/>
          </a:xfrm>
          <a:prstGeom prst="rect">
            <a:avLst/>
          </a:prstGeom>
        </p:spPr>
      </p:pic>
      <p:sp>
        <p:nvSpPr>
          <p:cNvPr id="6" name="Text 3"/>
          <p:cNvSpPr txBox="1"/>
          <p:nvPr/>
        </p:nvSpPr>
        <p:spPr>
          <a:xfrm>
            <a:off x="1737360" y="1691640"/>
            <a:ext cx="3931920" cy="457200"/>
          </a:xfrm>
          <a:prstGeom prst="rect">
            <a:avLst/>
          </a:prstGeom>
          <a:noFill/>
          <a:ln/>
        </p:spPr>
        <p:txBody>
          <a:bodyPr wrap="square" lIns="0" tIns="0" rIns="0" bIns="0" rtlCol="0" anchor="ctr"/>
          <a:lstStyle/>
          <a:p>
            <a:pPr indent="0" marL="0">
              <a:buNone/>
            </a:pPr>
            <a:r>
              <a:rPr lang="en-US" sz="2000" b="1" dirty="0">
                <a:solidFill>
                  <a:schemeClr val="tx1"/>
                </a:solidFill>
              </a:rPr>
              <a:t>Understand the data structure</a:t>
            </a:r>
            <a:endParaRPr lang="en-US" sz="2000" dirty="0"/>
          </a:p>
        </p:txBody>
      </p:sp>
      <p:sp>
        <p:nvSpPr>
          <p:cNvPr id="7" name="Text 4"/>
          <p:cNvSpPr txBox="1"/>
          <p:nvPr/>
        </p:nvSpPr>
        <p:spPr>
          <a:xfrm>
            <a:off x="1737360" y="2194560"/>
            <a:ext cx="3931920" cy="1097280"/>
          </a:xfrm>
          <a:prstGeom prst="rect">
            <a:avLst/>
          </a:prstGeom>
          <a:noFill/>
          <a:ln/>
        </p:spPr>
        <p:txBody>
          <a:bodyPr wrap="square" lIns="0" tIns="0" rIns="0" bIns="0" rtlCol="0" anchor="t"/>
          <a:lstStyle/>
          <a:p>
            <a:pPr indent="0" marL="0">
              <a:buNone/>
            </a:pPr>
            <a:r>
              <a:rPr lang="en-US" sz="1600" dirty="0">
                <a:solidFill>
                  <a:schemeClr val="tx2"/>
                </a:solidFill>
              </a:rPr>
              <a:t>What one row means, which variables exist, their types, units and coding.</a:t>
            </a:r>
            <a:endParaRPr lang="en-US" sz="1600" dirty="0"/>
          </a:p>
        </p:txBody>
      </p:sp>
      <p:sp>
        <p:nvSpPr>
          <p:cNvPr id="8" name="card"/>
          <p:cNvSpPr/>
          <p:nvPr/>
        </p:nvSpPr>
        <p:spPr>
          <a:xfrm>
            <a:off x="6172200" y="1371600"/>
            <a:ext cx="5440680" cy="2057400"/>
          </a:xfrm>
          <a:prstGeom prst="roundRect">
            <a:avLst>
              <a:gd name="adj" fmla="val 4444"/>
            </a:avLst>
          </a:prstGeom>
          <a:solidFill>
            <a:schemeClr val="bg2"/>
          </a:solidFill>
          <a:ln w="12700">
            <a:solidFill>
              <a:schemeClr val="bg2"/>
            </a:solidFill>
            <a:prstDash val="solid"/>
          </a:ln>
        </p:spPr>
      </p:sp>
      <p:sp>
        <p:nvSpPr>
          <p:cNvPr id="9" name="icon circle"/>
          <p:cNvSpPr/>
          <p:nvPr/>
        </p:nvSpPr>
        <p:spPr>
          <a:xfrm>
            <a:off x="6492240" y="1737360"/>
            <a:ext cx="731520" cy="73152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6675120" y="1920240"/>
            <a:ext cx="365760" cy="365760"/>
          </a:xfrm>
          <a:prstGeom prst="rect">
            <a:avLst/>
          </a:prstGeom>
        </p:spPr>
      </p:pic>
      <p:sp>
        <p:nvSpPr>
          <p:cNvPr id="11" name="Text 7"/>
          <p:cNvSpPr txBox="1"/>
          <p:nvPr/>
        </p:nvSpPr>
        <p:spPr>
          <a:xfrm>
            <a:off x="7452360" y="1691640"/>
            <a:ext cx="3931920" cy="457200"/>
          </a:xfrm>
          <a:prstGeom prst="rect">
            <a:avLst/>
          </a:prstGeom>
          <a:noFill/>
          <a:ln/>
        </p:spPr>
        <p:txBody>
          <a:bodyPr wrap="square" lIns="0" tIns="0" rIns="0" bIns="0" rtlCol="0" anchor="ctr"/>
          <a:lstStyle/>
          <a:p>
            <a:pPr indent="0" marL="0">
              <a:buNone/>
            </a:pPr>
            <a:r>
              <a:rPr lang="en-US" sz="2000" b="1" dirty="0">
                <a:solidFill>
                  <a:schemeClr val="tx1"/>
                </a:solidFill>
              </a:rPr>
              <a:t>Detect problems early</a:t>
            </a:r>
            <a:endParaRPr lang="en-US" sz="2000" dirty="0"/>
          </a:p>
        </p:txBody>
      </p:sp>
      <p:sp>
        <p:nvSpPr>
          <p:cNvPr id="12" name="Text 8"/>
          <p:cNvSpPr txBox="1"/>
          <p:nvPr/>
        </p:nvSpPr>
        <p:spPr>
          <a:xfrm>
            <a:off x="7452360" y="2194560"/>
            <a:ext cx="3931920" cy="1097280"/>
          </a:xfrm>
          <a:prstGeom prst="rect">
            <a:avLst/>
          </a:prstGeom>
          <a:noFill/>
          <a:ln/>
        </p:spPr>
        <p:txBody>
          <a:bodyPr wrap="square" lIns="0" tIns="0" rIns="0" bIns="0" rtlCol="0" anchor="t"/>
          <a:lstStyle/>
          <a:p>
            <a:pPr indent="0" marL="0">
              <a:buNone/>
            </a:pPr>
            <a:r>
              <a:rPr lang="en-US" sz="1600" dirty="0">
                <a:solidFill>
                  <a:schemeClr val="tx2"/>
                </a:solidFill>
              </a:rPr>
              <a:t>Entry errors, unit mismatches, duplicates and impossible values, before they reach an analysis.</a:t>
            </a:r>
            <a:endParaRPr lang="en-US" sz="1600" dirty="0"/>
          </a:p>
        </p:txBody>
      </p:sp>
      <p:sp>
        <p:nvSpPr>
          <p:cNvPr id="13" name="card"/>
          <p:cNvSpPr/>
          <p:nvPr/>
        </p:nvSpPr>
        <p:spPr>
          <a:xfrm>
            <a:off x="457200" y="3703320"/>
            <a:ext cx="5440680" cy="2057400"/>
          </a:xfrm>
          <a:prstGeom prst="roundRect">
            <a:avLst>
              <a:gd name="adj" fmla="val 4444"/>
            </a:avLst>
          </a:prstGeom>
          <a:solidFill>
            <a:schemeClr val="bg2"/>
          </a:solidFill>
          <a:ln w="12700">
            <a:solidFill>
              <a:schemeClr val="bg2"/>
            </a:solidFill>
            <a:prstDash val="solid"/>
          </a:ln>
        </p:spPr>
      </p:sp>
      <p:sp>
        <p:nvSpPr>
          <p:cNvPr id="14" name="icon circle"/>
          <p:cNvSpPr/>
          <p:nvPr/>
        </p:nvSpPr>
        <p:spPr>
          <a:xfrm>
            <a:off x="777240" y="4069080"/>
            <a:ext cx="731520" cy="73152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960120" y="4251960"/>
            <a:ext cx="365760" cy="365760"/>
          </a:xfrm>
          <a:prstGeom prst="rect">
            <a:avLst/>
          </a:prstGeom>
        </p:spPr>
      </p:pic>
      <p:sp>
        <p:nvSpPr>
          <p:cNvPr id="16" name="Text 11"/>
          <p:cNvSpPr txBox="1"/>
          <p:nvPr/>
        </p:nvSpPr>
        <p:spPr>
          <a:xfrm>
            <a:off x="1737360" y="4023360"/>
            <a:ext cx="3931920" cy="457200"/>
          </a:xfrm>
          <a:prstGeom prst="rect">
            <a:avLst/>
          </a:prstGeom>
          <a:noFill/>
          <a:ln/>
        </p:spPr>
        <p:txBody>
          <a:bodyPr wrap="square" lIns="0" tIns="0" rIns="0" bIns="0" rtlCol="0" anchor="ctr"/>
          <a:lstStyle/>
          <a:p>
            <a:pPr indent="0" marL="0">
              <a:buNone/>
            </a:pPr>
            <a:r>
              <a:rPr lang="en-US" sz="2000" b="1" dirty="0">
                <a:solidFill>
                  <a:schemeClr val="tx1"/>
                </a:solidFill>
              </a:rPr>
              <a:t>Generate hypotheses</a:t>
            </a:r>
            <a:endParaRPr lang="en-US" sz="2000" dirty="0"/>
          </a:p>
        </p:txBody>
      </p:sp>
      <p:sp>
        <p:nvSpPr>
          <p:cNvPr id="17" name="Text 12"/>
          <p:cNvSpPr txBox="1"/>
          <p:nvPr/>
        </p:nvSpPr>
        <p:spPr>
          <a:xfrm>
            <a:off x="1737360" y="4526280"/>
            <a:ext cx="3931920" cy="1097280"/>
          </a:xfrm>
          <a:prstGeom prst="rect">
            <a:avLst/>
          </a:prstGeom>
          <a:noFill/>
          <a:ln/>
        </p:spPr>
        <p:txBody>
          <a:bodyPr wrap="square" lIns="0" tIns="0" rIns="0" bIns="0" rtlCol="0" anchor="t"/>
          <a:lstStyle/>
          <a:p>
            <a:pPr indent="0" marL="0">
              <a:buNone/>
            </a:pPr>
            <a:r>
              <a:rPr lang="en-US" sz="1600" dirty="0">
                <a:solidFill>
                  <a:schemeClr val="tx2"/>
                </a:solidFill>
              </a:rPr>
              <a:t>Patterns between groups and variables suggest questions; they are not yet findings.</a:t>
            </a:r>
            <a:endParaRPr lang="en-US" sz="1600" dirty="0"/>
          </a:p>
        </p:txBody>
      </p:sp>
      <p:sp>
        <p:nvSpPr>
          <p:cNvPr id="18" name="card"/>
          <p:cNvSpPr/>
          <p:nvPr/>
        </p:nvSpPr>
        <p:spPr>
          <a:xfrm>
            <a:off x="6172200" y="3703320"/>
            <a:ext cx="5440680" cy="2057400"/>
          </a:xfrm>
          <a:prstGeom prst="roundRect">
            <a:avLst>
              <a:gd name="adj" fmla="val 4444"/>
            </a:avLst>
          </a:prstGeom>
          <a:solidFill>
            <a:schemeClr val="bg2"/>
          </a:solidFill>
          <a:ln w="12700">
            <a:solidFill>
              <a:schemeClr val="bg2"/>
            </a:solidFill>
            <a:prstDash val="solid"/>
          </a:ln>
        </p:spPr>
      </p:sp>
      <p:sp>
        <p:nvSpPr>
          <p:cNvPr id="19" name="icon circle"/>
          <p:cNvSpPr/>
          <p:nvPr/>
        </p:nvSpPr>
        <p:spPr>
          <a:xfrm>
            <a:off x="6492240" y="4069080"/>
            <a:ext cx="731520" cy="73152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6675120" y="4251960"/>
            <a:ext cx="365760" cy="365760"/>
          </a:xfrm>
          <a:prstGeom prst="rect">
            <a:avLst/>
          </a:prstGeom>
        </p:spPr>
      </p:pic>
      <p:sp>
        <p:nvSpPr>
          <p:cNvPr id="21" name="Text 15"/>
          <p:cNvSpPr txBox="1"/>
          <p:nvPr/>
        </p:nvSpPr>
        <p:spPr>
          <a:xfrm>
            <a:off x="7452360" y="4023360"/>
            <a:ext cx="3931920" cy="457200"/>
          </a:xfrm>
          <a:prstGeom prst="rect">
            <a:avLst/>
          </a:prstGeom>
          <a:noFill/>
          <a:ln/>
        </p:spPr>
        <p:txBody>
          <a:bodyPr wrap="square" lIns="0" tIns="0" rIns="0" bIns="0" rtlCol="0" anchor="ctr"/>
          <a:lstStyle/>
          <a:p>
            <a:pPr indent="0" marL="0">
              <a:buNone/>
            </a:pPr>
            <a:r>
              <a:rPr lang="en-US" sz="2000" b="1" dirty="0">
                <a:solidFill>
                  <a:schemeClr val="tx1"/>
                </a:solidFill>
              </a:rPr>
              <a:t>Inform the analysis plan</a:t>
            </a:r>
            <a:endParaRPr lang="en-US" sz="2000" dirty="0"/>
          </a:p>
        </p:txBody>
      </p:sp>
      <p:sp>
        <p:nvSpPr>
          <p:cNvPr id="22" name="Text 16"/>
          <p:cNvSpPr txBox="1"/>
          <p:nvPr/>
        </p:nvSpPr>
        <p:spPr>
          <a:xfrm>
            <a:off x="7452360" y="4526280"/>
            <a:ext cx="3931920" cy="1097280"/>
          </a:xfrm>
          <a:prstGeom prst="rect">
            <a:avLst/>
          </a:prstGeom>
          <a:noFill/>
          <a:ln/>
        </p:spPr>
        <p:txBody>
          <a:bodyPr wrap="square" lIns="0" tIns="0" rIns="0" bIns="0" rtlCol="0" anchor="t"/>
          <a:lstStyle/>
          <a:p>
            <a:pPr indent="0" marL="0">
              <a:buNone/>
            </a:pPr>
            <a:r>
              <a:rPr lang="en-US" sz="1600" dirty="0">
                <a:solidFill>
                  <a:schemeClr val="tx2"/>
                </a:solidFill>
              </a:rPr>
              <a:t>Distributions, missingness and confounders guide the choice of statistical or machine learning methods.</a:t>
            </a:r>
            <a:endParaRPr lang="en-US" sz="16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Key concepts in EDA</a:t>
            </a:r>
            <a:endParaRPr lang="en-US" sz="3000" dirty="0"/>
          </a:p>
        </p:txBody>
      </p:sp>
      <p:sp>
        <p:nvSpPr>
          <p:cNvPr id="3" name="card"/>
          <p:cNvSpPr/>
          <p:nvPr/>
        </p:nvSpPr>
        <p:spPr>
          <a:xfrm>
            <a:off x="457200" y="1325880"/>
            <a:ext cx="3566160" cy="3840480"/>
          </a:xfrm>
          <a:prstGeom prst="roundRect">
            <a:avLst>
              <a:gd name="adj" fmla="val 2564"/>
            </a:avLst>
          </a:prstGeom>
          <a:solidFill>
            <a:schemeClr val="bg2"/>
          </a:solidFill>
          <a:ln w="12700">
            <a:solidFill>
              <a:schemeClr val="bg2"/>
            </a:solidFill>
            <a:prstDash val="solid"/>
          </a:ln>
        </p:spPr>
      </p:sp>
      <p:sp>
        <p:nvSpPr>
          <p:cNvPr id="4" name="icon circle"/>
          <p:cNvSpPr/>
          <p:nvPr/>
        </p:nvSpPr>
        <p:spPr>
          <a:xfrm>
            <a:off x="1828800" y="1645920"/>
            <a:ext cx="822960" cy="8229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2034540" y="1851660"/>
            <a:ext cx="411480" cy="411480"/>
          </a:xfrm>
          <a:prstGeom prst="rect">
            <a:avLst/>
          </a:prstGeom>
        </p:spPr>
      </p:pic>
      <p:sp>
        <p:nvSpPr>
          <p:cNvPr id="6" name="Text 3"/>
          <p:cNvSpPr txBox="1"/>
          <p:nvPr/>
        </p:nvSpPr>
        <p:spPr>
          <a:xfrm>
            <a:off x="731520" y="2697480"/>
            <a:ext cx="3017520" cy="502920"/>
          </a:xfrm>
          <a:prstGeom prst="rect">
            <a:avLst/>
          </a:prstGeom>
          <a:noFill/>
          <a:ln/>
        </p:spPr>
        <p:txBody>
          <a:bodyPr wrap="square" lIns="0" tIns="0" rIns="0" bIns="0" rtlCol="0" anchor="ctr"/>
          <a:lstStyle/>
          <a:p>
            <a:pPr algn="ctr" indent="0" marL="0">
              <a:buNone/>
            </a:pPr>
            <a:r>
              <a:rPr lang="en-US" sz="2000" b="1" dirty="0">
                <a:solidFill>
                  <a:schemeClr val="tx1"/>
                </a:solidFill>
              </a:rPr>
              <a:t>Descriptive statistics</a:t>
            </a:r>
            <a:endParaRPr lang="en-US" sz="2000" dirty="0"/>
          </a:p>
        </p:txBody>
      </p:sp>
      <p:sp>
        <p:nvSpPr>
          <p:cNvPr id="7" name="Text 4"/>
          <p:cNvSpPr txBox="1"/>
          <p:nvPr/>
        </p:nvSpPr>
        <p:spPr>
          <a:xfrm>
            <a:off x="777240" y="3291840"/>
            <a:ext cx="2926080" cy="1737360"/>
          </a:xfrm>
          <a:prstGeom prst="rect">
            <a:avLst/>
          </a:prstGeom>
          <a:noFill/>
          <a:ln/>
        </p:spPr>
        <p:txBody>
          <a:bodyPr wrap="square" lIns="0" tIns="0" rIns="0" bIns="0" rtlCol="0" anchor="t"/>
          <a:lstStyle/>
          <a:p>
            <a:pPr indent="0" marL="0">
              <a:buNone/>
            </a:pPr>
            <a:r>
              <a:rPr lang="en-US" sz="1600" dirty="0">
                <a:solidFill>
                  <a:schemeClr val="tx2"/>
                </a:solidFill>
              </a:rPr>
              <a:t>Central tendency (mean, median) and spread (SD, IQR, range) summarise each variable, chosen according to its type and shape.</a:t>
            </a:r>
            <a:endParaRPr lang="en-US" sz="1600" dirty="0"/>
          </a:p>
        </p:txBody>
      </p:sp>
      <p:sp>
        <p:nvSpPr>
          <p:cNvPr id="8" name="card"/>
          <p:cNvSpPr/>
          <p:nvPr/>
        </p:nvSpPr>
        <p:spPr>
          <a:xfrm>
            <a:off x="4279392" y="1325880"/>
            <a:ext cx="3566160" cy="3840480"/>
          </a:xfrm>
          <a:prstGeom prst="roundRect">
            <a:avLst>
              <a:gd name="adj" fmla="val 2564"/>
            </a:avLst>
          </a:prstGeom>
          <a:solidFill>
            <a:schemeClr val="bg2"/>
          </a:solidFill>
          <a:ln w="12700">
            <a:solidFill>
              <a:schemeClr val="bg2"/>
            </a:solidFill>
            <a:prstDash val="solid"/>
          </a:ln>
        </p:spPr>
      </p:sp>
      <p:sp>
        <p:nvSpPr>
          <p:cNvPr id="9" name="icon circle"/>
          <p:cNvSpPr/>
          <p:nvPr/>
        </p:nvSpPr>
        <p:spPr>
          <a:xfrm>
            <a:off x="5650992" y="1645920"/>
            <a:ext cx="822960" cy="82296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5856732" y="1851660"/>
            <a:ext cx="411480" cy="411480"/>
          </a:xfrm>
          <a:prstGeom prst="rect">
            <a:avLst/>
          </a:prstGeom>
        </p:spPr>
      </p:pic>
      <p:sp>
        <p:nvSpPr>
          <p:cNvPr id="11" name="Text 7"/>
          <p:cNvSpPr txBox="1"/>
          <p:nvPr/>
        </p:nvSpPr>
        <p:spPr>
          <a:xfrm>
            <a:off x="4553712" y="2697480"/>
            <a:ext cx="3017520" cy="502920"/>
          </a:xfrm>
          <a:prstGeom prst="rect">
            <a:avLst/>
          </a:prstGeom>
          <a:noFill/>
          <a:ln/>
        </p:spPr>
        <p:txBody>
          <a:bodyPr wrap="square" lIns="0" tIns="0" rIns="0" bIns="0" rtlCol="0" anchor="ctr"/>
          <a:lstStyle/>
          <a:p>
            <a:pPr algn="ctr" indent="0" marL="0">
              <a:buNone/>
            </a:pPr>
            <a:r>
              <a:rPr lang="en-US" sz="2000" b="1" dirty="0">
                <a:solidFill>
                  <a:schemeClr val="tx1"/>
                </a:solidFill>
              </a:rPr>
              <a:t>Data visualization</a:t>
            </a:r>
            <a:endParaRPr lang="en-US" sz="2000" dirty="0"/>
          </a:p>
        </p:txBody>
      </p:sp>
      <p:sp>
        <p:nvSpPr>
          <p:cNvPr id="12" name="Text 8"/>
          <p:cNvSpPr txBox="1"/>
          <p:nvPr/>
        </p:nvSpPr>
        <p:spPr>
          <a:xfrm>
            <a:off x="4599432" y="3291840"/>
            <a:ext cx="2926080" cy="1737360"/>
          </a:xfrm>
          <a:prstGeom prst="rect">
            <a:avLst/>
          </a:prstGeom>
          <a:noFill/>
          <a:ln/>
        </p:spPr>
        <p:txBody>
          <a:bodyPr wrap="square" lIns="0" tIns="0" rIns="0" bIns="0" rtlCol="0" anchor="t"/>
          <a:lstStyle/>
          <a:p>
            <a:pPr indent="0" marL="0">
              <a:buNone/>
            </a:pPr>
            <a:r>
              <a:rPr lang="en-US" sz="1600" dirty="0">
                <a:solidFill>
                  <a:schemeClr val="tx2"/>
                </a:solidFill>
              </a:rPr>
              <a:t>Histograms, Q-Q plots, box plots and scatter plots show distributions, group differences and relationships that summary numbers hide.</a:t>
            </a:r>
            <a:endParaRPr lang="en-US" sz="1600" dirty="0"/>
          </a:p>
        </p:txBody>
      </p:sp>
      <p:sp>
        <p:nvSpPr>
          <p:cNvPr id="13" name="card"/>
          <p:cNvSpPr/>
          <p:nvPr/>
        </p:nvSpPr>
        <p:spPr>
          <a:xfrm>
            <a:off x="8101584" y="1325880"/>
            <a:ext cx="3566160" cy="3840480"/>
          </a:xfrm>
          <a:prstGeom prst="roundRect">
            <a:avLst>
              <a:gd name="adj" fmla="val 2564"/>
            </a:avLst>
          </a:prstGeom>
          <a:solidFill>
            <a:schemeClr val="bg2"/>
          </a:solidFill>
          <a:ln w="12700">
            <a:solidFill>
              <a:schemeClr val="bg2"/>
            </a:solidFill>
            <a:prstDash val="solid"/>
          </a:ln>
        </p:spPr>
      </p:sp>
      <p:sp>
        <p:nvSpPr>
          <p:cNvPr id="14" name="icon circle"/>
          <p:cNvSpPr/>
          <p:nvPr/>
        </p:nvSpPr>
        <p:spPr>
          <a:xfrm>
            <a:off x="9473184" y="1645920"/>
            <a:ext cx="822960" cy="82296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9678924" y="1851660"/>
            <a:ext cx="411480" cy="411480"/>
          </a:xfrm>
          <a:prstGeom prst="rect">
            <a:avLst/>
          </a:prstGeom>
        </p:spPr>
      </p:pic>
      <p:sp>
        <p:nvSpPr>
          <p:cNvPr id="16" name="Text 11"/>
          <p:cNvSpPr txBox="1"/>
          <p:nvPr/>
        </p:nvSpPr>
        <p:spPr>
          <a:xfrm>
            <a:off x="8375904" y="2697480"/>
            <a:ext cx="3017520" cy="502920"/>
          </a:xfrm>
          <a:prstGeom prst="rect">
            <a:avLst/>
          </a:prstGeom>
          <a:noFill/>
          <a:ln/>
        </p:spPr>
        <p:txBody>
          <a:bodyPr wrap="square" lIns="0" tIns="0" rIns="0" bIns="0" rtlCol="0" anchor="ctr"/>
          <a:lstStyle/>
          <a:p>
            <a:pPr algn="ctr" indent="0" marL="0">
              <a:buNone/>
            </a:pPr>
            <a:r>
              <a:rPr lang="en-US" sz="2000" b="1" dirty="0">
                <a:solidFill>
                  <a:schemeClr val="tx1"/>
                </a:solidFill>
              </a:rPr>
              <a:t>Data quality assessment</a:t>
            </a:r>
            <a:endParaRPr lang="en-US" sz="2000" dirty="0"/>
          </a:p>
        </p:txBody>
      </p:sp>
      <p:sp>
        <p:nvSpPr>
          <p:cNvPr id="17" name="Text 12"/>
          <p:cNvSpPr txBox="1"/>
          <p:nvPr/>
        </p:nvSpPr>
        <p:spPr>
          <a:xfrm>
            <a:off x="8421624" y="3291840"/>
            <a:ext cx="2926080" cy="1737360"/>
          </a:xfrm>
          <a:prstGeom prst="rect">
            <a:avLst/>
          </a:prstGeom>
          <a:noFill/>
          <a:ln/>
        </p:spPr>
        <p:txBody>
          <a:bodyPr wrap="square" lIns="0" tIns="0" rIns="0" bIns="0" rtlCol="0" anchor="t"/>
          <a:lstStyle/>
          <a:p>
            <a:pPr indent="0" marL="0">
              <a:buNone/>
            </a:pPr>
            <a:r>
              <a:rPr lang="en-US" sz="1600" dirty="0">
                <a:solidFill>
                  <a:schemeClr val="tx2"/>
                </a:solidFill>
              </a:rPr>
              <a:t>Missing values, errors and inconsistencies are found and documented, because the accuracy of every later result depends on them.</a:t>
            </a:r>
            <a:endParaRPr lang="en-US" sz="1600" dirty="0"/>
          </a:p>
        </p:txBody>
      </p:sp>
      <p:sp>
        <p:nvSpPr>
          <p:cNvPr id="18" name="Text 13"/>
          <p:cNvSpPr txBox="1"/>
          <p:nvPr/>
        </p:nvSpPr>
        <p:spPr>
          <a:xfrm>
            <a:off x="457200" y="5440680"/>
            <a:ext cx="11247120" cy="365760"/>
          </a:xfrm>
          <a:prstGeom prst="rect">
            <a:avLst/>
          </a:prstGeom>
          <a:noFill/>
          <a:ln/>
        </p:spPr>
        <p:txBody>
          <a:bodyPr wrap="square" lIns="0" tIns="0" rIns="0" bIns="0" rtlCol="0" anchor="ctr"/>
          <a:lstStyle/>
          <a:p>
            <a:pPr indent="0" marL="0">
              <a:buNone/>
            </a:pPr>
            <a:r>
              <a:rPr lang="en-US" sz="1600" i="1" dirty="0">
                <a:solidFill>
                  <a:schemeClr val="accent1"/>
                </a:solidFill>
              </a:rPr>
              <a:t>In clinical data, each of these depends on context: how, when and why the data were collected.</a:t>
            </a:r>
            <a:endParaRPr lang="en-US" sz="16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The workflow in this quickstart</a:t>
            </a:r>
            <a:endParaRPr lang="en-US" sz="3000" dirty="0"/>
          </a:p>
        </p:txBody>
      </p:sp>
      <p:sp>
        <p:nvSpPr>
          <p:cNvPr id="3" name="card"/>
          <p:cNvSpPr/>
          <p:nvPr/>
        </p:nvSpPr>
        <p:spPr>
          <a:xfrm>
            <a:off x="457200" y="1371600"/>
            <a:ext cx="1463040" cy="1828800"/>
          </a:xfrm>
          <a:prstGeom prst="roundRect">
            <a:avLst>
              <a:gd name="adj" fmla="val 6250"/>
            </a:avLst>
          </a:prstGeom>
          <a:solidFill>
            <a:schemeClr val="bg2"/>
          </a:solidFill>
          <a:ln w="12700">
            <a:solidFill>
              <a:schemeClr val="bg2"/>
            </a:solidFill>
            <a:prstDash val="solid"/>
          </a:ln>
        </p:spPr>
      </p:sp>
      <p:sp>
        <p:nvSpPr>
          <p:cNvPr id="4" name="Text 2"/>
          <p:cNvSpPr txBox="1"/>
          <p:nvPr/>
        </p:nvSpPr>
        <p:spPr>
          <a:xfrm>
            <a:off x="566928" y="1481328"/>
            <a:ext cx="457200" cy="365760"/>
          </a:xfrm>
          <a:prstGeom prst="rect">
            <a:avLst/>
          </a:prstGeom>
          <a:noFill/>
          <a:ln/>
        </p:spPr>
        <p:txBody>
          <a:bodyPr wrap="square" lIns="0" tIns="0" rIns="0" bIns="0" rtlCol="0" anchor="ctr"/>
          <a:lstStyle/>
          <a:p>
            <a:pPr indent="0" marL="0">
              <a:buNone/>
            </a:pPr>
            <a:r>
              <a:rPr lang="en-US" sz="2000" b="1" dirty="0">
                <a:solidFill>
                  <a:schemeClr val="accent1"/>
                </a:solidFill>
              </a:rPr>
              <a:t>0</a:t>
            </a:r>
            <a:endParaRPr lang="en-US" sz="2000" dirty="0"/>
          </a:p>
        </p:txBody>
      </p:sp>
      <p:sp>
        <p:nvSpPr>
          <p:cNvPr id="5" name="Text 3"/>
          <p:cNvSpPr txBox="1"/>
          <p:nvPr/>
        </p:nvSpPr>
        <p:spPr>
          <a:xfrm>
            <a:off x="566928" y="1874520"/>
            <a:ext cx="1280160" cy="365760"/>
          </a:xfrm>
          <a:prstGeom prst="rect">
            <a:avLst/>
          </a:prstGeom>
          <a:noFill/>
          <a:ln/>
        </p:spPr>
        <p:txBody>
          <a:bodyPr wrap="square" lIns="0" tIns="0" rIns="0" bIns="0" rtlCol="0" anchor="ctr"/>
          <a:lstStyle/>
          <a:p>
            <a:pPr indent="0" marL="0">
              <a:buNone/>
            </a:pPr>
            <a:r>
              <a:rPr lang="en-US" sz="1700" b="1" dirty="0">
                <a:solidFill>
                  <a:schemeClr val="tx1"/>
                </a:solidFill>
              </a:rPr>
              <a:t>Question</a:t>
            </a:r>
            <a:endParaRPr lang="en-US" sz="1700" dirty="0"/>
          </a:p>
        </p:txBody>
      </p:sp>
      <p:sp>
        <p:nvSpPr>
          <p:cNvPr id="6" name="Text 4"/>
          <p:cNvSpPr txBox="1"/>
          <p:nvPr/>
        </p:nvSpPr>
        <p:spPr>
          <a:xfrm>
            <a:off x="566928" y="2286000"/>
            <a:ext cx="1298448" cy="822960"/>
          </a:xfrm>
          <a:prstGeom prst="rect">
            <a:avLst/>
          </a:prstGeom>
          <a:noFill/>
          <a:ln/>
        </p:spPr>
        <p:txBody>
          <a:bodyPr wrap="square" lIns="0" tIns="0" rIns="0" bIns="0" rtlCol="0" anchor="t"/>
          <a:lstStyle/>
          <a:p>
            <a:pPr indent="0" marL="0">
              <a:buNone/>
            </a:pPr>
            <a:r>
              <a:rPr lang="en-US" sz="1200" dirty="0">
                <a:solidFill>
                  <a:schemeClr val="tx2"/>
                </a:solidFill>
              </a:rPr>
              <a:t>Study question,</a:t>
            </a:r>
            <a:endParaRPr lang="en-US" sz="1200" dirty="0"/>
          </a:p>
          <a:p>
            <a:pPr indent="0" marL="0">
              <a:buNone/>
            </a:pPr>
            <a:r>
              <a:rPr lang="en-US" sz="1200" dirty="0">
                <a:solidFill>
                  <a:schemeClr val="tx2"/>
                </a:solidFill>
              </a:rPr>
              <a:t>data dictionary</a:t>
            </a:r>
            <a:endParaRPr lang="en-US" sz="1200" dirty="0"/>
          </a:p>
        </p:txBody>
      </p:sp>
      <p:sp>
        <p:nvSpPr>
          <p:cNvPr id="7" name="card"/>
          <p:cNvSpPr/>
          <p:nvPr/>
        </p:nvSpPr>
        <p:spPr>
          <a:xfrm>
            <a:off x="2084832" y="1371600"/>
            <a:ext cx="1463040" cy="1828800"/>
          </a:xfrm>
          <a:prstGeom prst="roundRect">
            <a:avLst>
              <a:gd name="adj" fmla="val 6250"/>
            </a:avLst>
          </a:prstGeom>
          <a:solidFill>
            <a:schemeClr val="bg2"/>
          </a:solidFill>
          <a:ln w="12700">
            <a:solidFill>
              <a:schemeClr val="bg2"/>
            </a:solidFill>
            <a:prstDash val="solid"/>
          </a:ln>
        </p:spPr>
      </p:sp>
      <p:sp>
        <p:nvSpPr>
          <p:cNvPr id="8" name="Text 6"/>
          <p:cNvSpPr txBox="1"/>
          <p:nvPr/>
        </p:nvSpPr>
        <p:spPr>
          <a:xfrm>
            <a:off x="2194560" y="1481328"/>
            <a:ext cx="457200" cy="365760"/>
          </a:xfrm>
          <a:prstGeom prst="rect">
            <a:avLst/>
          </a:prstGeom>
          <a:noFill/>
          <a:ln/>
        </p:spPr>
        <p:txBody>
          <a:bodyPr wrap="square" lIns="0" tIns="0" rIns="0" bIns="0" rtlCol="0" anchor="ctr"/>
          <a:lstStyle/>
          <a:p>
            <a:pPr indent="0" marL="0">
              <a:buNone/>
            </a:pPr>
            <a:r>
              <a:rPr lang="en-US" sz="2000" b="1" dirty="0">
                <a:solidFill>
                  <a:schemeClr val="accent1"/>
                </a:solidFill>
              </a:rPr>
              <a:t>1</a:t>
            </a:r>
            <a:endParaRPr lang="en-US" sz="2000" dirty="0"/>
          </a:p>
        </p:txBody>
      </p:sp>
      <p:sp>
        <p:nvSpPr>
          <p:cNvPr id="9" name="Text 7"/>
          <p:cNvSpPr txBox="1"/>
          <p:nvPr/>
        </p:nvSpPr>
        <p:spPr>
          <a:xfrm>
            <a:off x="2194560" y="1874520"/>
            <a:ext cx="1280160" cy="365760"/>
          </a:xfrm>
          <a:prstGeom prst="rect">
            <a:avLst/>
          </a:prstGeom>
          <a:noFill/>
          <a:ln/>
        </p:spPr>
        <p:txBody>
          <a:bodyPr wrap="square" lIns="0" tIns="0" rIns="0" bIns="0" rtlCol="0" anchor="ctr"/>
          <a:lstStyle/>
          <a:p>
            <a:pPr indent="0" marL="0">
              <a:buNone/>
            </a:pPr>
            <a:r>
              <a:rPr lang="en-US" sz="1700" b="1" dirty="0">
                <a:solidFill>
                  <a:schemeClr val="tx1"/>
                </a:solidFill>
              </a:rPr>
              <a:t>Load</a:t>
            </a:r>
            <a:endParaRPr lang="en-US" sz="1700" dirty="0"/>
          </a:p>
        </p:txBody>
      </p:sp>
      <p:sp>
        <p:nvSpPr>
          <p:cNvPr id="10" name="Text 8"/>
          <p:cNvSpPr txBox="1"/>
          <p:nvPr/>
        </p:nvSpPr>
        <p:spPr>
          <a:xfrm>
            <a:off x="2194560" y="2286000"/>
            <a:ext cx="1298448" cy="822960"/>
          </a:xfrm>
          <a:prstGeom prst="rect">
            <a:avLst/>
          </a:prstGeom>
          <a:noFill/>
          <a:ln/>
        </p:spPr>
        <p:txBody>
          <a:bodyPr wrap="square" lIns="0" tIns="0" rIns="0" bIns="0" rtlCol="0" anchor="t"/>
          <a:lstStyle/>
          <a:p>
            <a:pPr indent="0" marL="0">
              <a:buNone/>
            </a:pPr>
            <a:r>
              <a:rPr lang="en-US" sz="1200" dirty="0">
                <a:solidFill>
                  <a:schemeClr val="tx2"/>
                </a:solidFill>
              </a:rPr>
              <a:t>Read, first look,</a:t>
            </a:r>
            <a:endParaRPr lang="en-US" sz="1200" dirty="0"/>
          </a:p>
          <a:p>
            <a:pPr indent="0" marL="0">
              <a:buNone/>
            </a:pPr>
            <a:r>
              <a:rPr lang="en-US" sz="1200" dirty="0">
                <a:solidFill>
                  <a:schemeClr val="tx2"/>
                </a:solidFill>
              </a:rPr>
              <a:t>profile</a:t>
            </a:r>
            <a:endParaRPr lang="en-US" sz="1200" dirty="0"/>
          </a:p>
        </p:txBody>
      </p:sp>
      <p:sp>
        <p:nvSpPr>
          <p:cNvPr id="11" name="card"/>
          <p:cNvSpPr/>
          <p:nvPr/>
        </p:nvSpPr>
        <p:spPr>
          <a:xfrm>
            <a:off x="3712464" y="1371600"/>
            <a:ext cx="1463040" cy="1828800"/>
          </a:xfrm>
          <a:prstGeom prst="roundRect">
            <a:avLst>
              <a:gd name="adj" fmla="val 6250"/>
            </a:avLst>
          </a:prstGeom>
          <a:solidFill>
            <a:schemeClr val="bg2"/>
          </a:solidFill>
          <a:ln w="12700">
            <a:solidFill>
              <a:schemeClr val="bg2"/>
            </a:solidFill>
            <a:prstDash val="solid"/>
          </a:ln>
        </p:spPr>
      </p:sp>
      <p:sp>
        <p:nvSpPr>
          <p:cNvPr id="12" name="Text 10"/>
          <p:cNvSpPr txBox="1"/>
          <p:nvPr/>
        </p:nvSpPr>
        <p:spPr>
          <a:xfrm>
            <a:off x="3822192" y="1481328"/>
            <a:ext cx="457200" cy="365760"/>
          </a:xfrm>
          <a:prstGeom prst="rect">
            <a:avLst/>
          </a:prstGeom>
          <a:noFill/>
          <a:ln/>
        </p:spPr>
        <p:txBody>
          <a:bodyPr wrap="square" lIns="0" tIns="0" rIns="0" bIns="0" rtlCol="0" anchor="ctr"/>
          <a:lstStyle/>
          <a:p>
            <a:pPr indent="0" marL="0">
              <a:buNone/>
            </a:pPr>
            <a:r>
              <a:rPr lang="en-US" sz="2000" b="1" dirty="0">
                <a:solidFill>
                  <a:schemeClr val="accent1"/>
                </a:solidFill>
              </a:rPr>
              <a:t>2</a:t>
            </a:r>
            <a:endParaRPr lang="en-US" sz="2000" dirty="0"/>
          </a:p>
        </p:txBody>
      </p:sp>
      <p:sp>
        <p:nvSpPr>
          <p:cNvPr id="13" name="Text 11"/>
          <p:cNvSpPr txBox="1"/>
          <p:nvPr/>
        </p:nvSpPr>
        <p:spPr>
          <a:xfrm>
            <a:off x="3822192" y="1874520"/>
            <a:ext cx="1280160" cy="365760"/>
          </a:xfrm>
          <a:prstGeom prst="rect">
            <a:avLst/>
          </a:prstGeom>
          <a:noFill/>
          <a:ln/>
        </p:spPr>
        <p:txBody>
          <a:bodyPr wrap="square" lIns="0" tIns="0" rIns="0" bIns="0" rtlCol="0" anchor="ctr"/>
          <a:lstStyle/>
          <a:p>
            <a:pPr indent="0" marL="0">
              <a:buNone/>
            </a:pPr>
            <a:r>
              <a:rPr lang="en-US" sz="1700" b="1" dirty="0">
                <a:solidFill>
                  <a:schemeClr val="tx1"/>
                </a:solidFill>
              </a:rPr>
              <a:t>Clean</a:t>
            </a:r>
            <a:endParaRPr lang="en-US" sz="1700" dirty="0"/>
          </a:p>
        </p:txBody>
      </p:sp>
      <p:sp>
        <p:nvSpPr>
          <p:cNvPr id="14" name="Text 12"/>
          <p:cNvSpPr txBox="1"/>
          <p:nvPr/>
        </p:nvSpPr>
        <p:spPr>
          <a:xfrm>
            <a:off x="3822192" y="2286000"/>
            <a:ext cx="1298448" cy="822960"/>
          </a:xfrm>
          <a:prstGeom prst="rect">
            <a:avLst/>
          </a:prstGeom>
          <a:noFill/>
          <a:ln/>
        </p:spPr>
        <p:txBody>
          <a:bodyPr wrap="square" lIns="0" tIns="0" rIns="0" bIns="0" rtlCol="0" anchor="t"/>
          <a:lstStyle/>
          <a:p>
            <a:pPr indent="0" marL="0">
              <a:buNone/>
            </a:pPr>
            <a:r>
              <a:rPr lang="en-US" sz="1200" dirty="0">
                <a:solidFill>
                  <a:schemeClr val="tx2"/>
                </a:solidFill>
              </a:rPr>
              <a:t>Labels, types,</a:t>
            </a:r>
            <a:endParaRPr lang="en-US" sz="1200" dirty="0"/>
          </a:p>
          <a:p>
            <a:pPr indent="0" marL="0">
              <a:buNone/>
            </a:pPr>
            <a:r>
              <a:rPr lang="en-US" sz="1200" dirty="0">
                <a:solidFill>
                  <a:schemeClr val="tx2"/>
                </a:solidFill>
              </a:rPr>
              <a:t>clinical checks</a:t>
            </a:r>
            <a:endParaRPr lang="en-US" sz="1200" dirty="0"/>
          </a:p>
        </p:txBody>
      </p:sp>
      <p:sp>
        <p:nvSpPr>
          <p:cNvPr id="15" name="card"/>
          <p:cNvSpPr/>
          <p:nvPr/>
        </p:nvSpPr>
        <p:spPr>
          <a:xfrm>
            <a:off x="5340096" y="1371600"/>
            <a:ext cx="1463040" cy="1828800"/>
          </a:xfrm>
          <a:prstGeom prst="roundRect">
            <a:avLst>
              <a:gd name="adj" fmla="val 6250"/>
            </a:avLst>
          </a:prstGeom>
          <a:solidFill>
            <a:schemeClr val="bg2"/>
          </a:solidFill>
          <a:ln w="12700">
            <a:solidFill>
              <a:schemeClr val="bg2"/>
            </a:solidFill>
            <a:prstDash val="solid"/>
          </a:ln>
        </p:spPr>
      </p:sp>
      <p:sp>
        <p:nvSpPr>
          <p:cNvPr id="16" name="Text 14"/>
          <p:cNvSpPr txBox="1"/>
          <p:nvPr/>
        </p:nvSpPr>
        <p:spPr>
          <a:xfrm>
            <a:off x="5449824" y="1481328"/>
            <a:ext cx="457200" cy="365760"/>
          </a:xfrm>
          <a:prstGeom prst="rect">
            <a:avLst/>
          </a:prstGeom>
          <a:noFill/>
          <a:ln/>
        </p:spPr>
        <p:txBody>
          <a:bodyPr wrap="square" lIns="0" tIns="0" rIns="0" bIns="0" rtlCol="0" anchor="ctr"/>
          <a:lstStyle/>
          <a:p>
            <a:pPr indent="0" marL="0">
              <a:buNone/>
            </a:pPr>
            <a:r>
              <a:rPr lang="en-US" sz="2000" b="1" dirty="0">
                <a:solidFill>
                  <a:schemeClr val="accent1"/>
                </a:solidFill>
              </a:rPr>
              <a:t>3</a:t>
            </a:r>
            <a:endParaRPr lang="en-US" sz="2000" dirty="0"/>
          </a:p>
        </p:txBody>
      </p:sp>
      <p:sp>
        <p:nvSpPr>
          <p:cNvPr id="17" name="Text 15"/>
          <p:cNvSpPr txBox="1"/>
          <p:nvPr/>
        </p:nvSpPr>
        <p:spPr>
          <a:xfrm>
            <a:off x="5449824" y="1874520"/>
            <a:ext cx="1280160" cy="365760"/>
          </a:xfrm>
          <a:prstGeom prst="rect">
            <a:avLst/>
          </a:prstGeom>
          <a:noFill/>
          <a:ln/>
        </p:spPr>
        <p:txBody>
          <a:bodyPr wrap="square" lIns="0" tIns="0" rIns="0" bIns="0" rtlCol="0" anchor="ctr"/>
          <a:lstStyle/>
          <a:p>
            <a:pPr indent="0" marL="0">
              <a:buNone/>
            </a:pPr>
            <a:r>
              <a:rPr lang="en-US" sz="1700" b="1" dirty="0">
                <a:solidFill>
                  <a:schemeClr val="tx1"/>
                </a:solidFill>
              </a:rPr>
              <a:t>Explore</a:t>
            </a:r>
            <a:endParaRPr lang="en-US" sz="1700" dirty="0"/>
          </a:p>
        </p:txBody>
      </p:sp>
      <p:sp>
        <p:nvSpPr>
          <p:cNvPr id="18" name="Text 16"/>
          <p:cNvSpPr txBox="1"/>
          <p:nvPr/>
        </p:nvSpPr>
        <p:spPr>
          <a:xfrm>
            <a:off x="5449824" y="2286000"/>
            <a:ext cx="1298448" cy="822960"/>
          </a:xfrm>
          <a:prstGeom prst="rect">
            <a:avLst/>
          </a:prstGeom>
          <a:noFill/>
          <a:ln/>
        </p:spPr>
        <p:txBody>
          <a:bodyPr wrap="square" lIns="0" tIns="0" rIns="0" bIns="0" rtlCol="0" anchor="t"/>
          <a:lstStyle/>
          <a:p>
            <a:pPr indent="0" marL="0">
              <a:buNone/>
            </a:pPr>
            <a:r>
              <a:rPr lang="en-US" sz="1200" dirty="0">
                <a:solidFill>
                  <a:schemeClr val="tx2"/>
                </a:solidFill>
              </a:rPr>
              <a:t>Distributions,</a:t>
            </a:r>
            <a:endParaRPr lang="en-US" sz="1200" dirty="0"/>
          </a:p>
          <a:p>
            <a:pPr indent="0" marL="0">
              <a:buNone/>
            </a:pPr>
            <a:r>
              <a:rPr lang="en-US" sz="1200" dirty="0">
                <a:solidFill>
                  <a:schemeClr val="tx2"/>
                </a:solidFill>
              </a:rPr>
              <a:t>groups, relations</a:t>
            </a:r>
            <a:endParaRPr lang="en-US" sz="1200" dirty="0"/>
          </a:p>
        </p:txBody>
      </p:sp>
      <p:sp>
        <p:nvSpPr>
          <p:cNvPr id="19" name="card"/>
          <p:cNvSpPr/>
          <p:nvPr/>
        </p:nvSpPr>
        <p:spPr>
          <a:xfrm>
            <a:off x="6967728" y="1371600"/>
            <a:ext cx="1463040" cy="1828800"/>
          </a:xfrm>
          <a:prstGeom prst="roundRect">
            <a:avLst>
              <a:gd name="adj" fmla="val 6250"/>
            </a:avLst>
          </a:prstGeom>
          <a:solidFill>
            <a:schemeClr val="bg2"/>
          </a:solidFill>
          <a:ln w="12700">
            <a:solidFill>
              <a:schemeClr val="bg2"/>
            </a:solidFill>
            <a:prstDash val="solid"/>
          </a:ln>
        </p:spPr>
      </p:sp>
      <p:sp>
        <p:nvSpPr>
          <p:cNvPr id="20" name="Text 18"/>
          <p:cNvSpPr txBox="1"/>
          <p:nvPr/>
        </p:nvSpPr>
        <p:spPr>
          <a:xfrm>
            <a:off x="7077456" y="1481328"/>
            <a:ext cx="457200" cy="365760"/>
          </a:xfrm>
          <a:prstGeom prst="rect">
            <a:avLst/>
          </a:prstGeom>
          <a:noFill/>
          <a:ln/>
        </p:spPr>
        <p:txBody>
          <a:bodyPr wrap="square" lIns="0" tIns="0" rIns="0" bIns="0" rtlCol="0" anchor="ctr"/>
          <a:lstStyle/>
          <a:p>
            <a:pPr indent="0" marL="0">
              <a:buNone/>
            </a:pPr>
            <a:r>
              <a:rPr lang="en-US" sz="2000" b="1" dirty="0">
                <a:solidFill>
                  <a:schemeClr val="accent1"/>
                </a:solidFill>
              </a:rPr>
              <a:t>4</a:t>
            </a:r>
            <a:endParaRPr lang="en-US" sz="2000" dirty="0"/>
          </a:p>
        </p:txBody>
      </p:sp>
      <p:sp>
        <p:nvSpPr>
          <p:cNvPr id="21" name="Text 19"/>
          <p:cNvSpPr txBox="1"/>
          <p:nvPr/>
        </p:nvSpPr>
        <p:spPr>
          <a:xfrm>
            <a:off x="7077456" y="1874520"/>
            <a:ext cx="1280160" cy="365760"/>
          </a:xfrm>
          <a:prstGeom prst="rect">
            <a:avLst/>
          </a:prstGeom>
          <a:noFill/>
          <a:ln/>
        </p:spPr>
        <p:txBody>
          <a:bodyPr wrap="square" lIns="0" tIns="0" rIns="0" bIns="0" rtlCol="0" anchor="ctr"/>
          <a:lstStyle/>
          <a:p>
            <a:pPr indent="0" marL="0">
              <a:buNone/>
            </a:pPr>
            <a:r>
              <a:rPr lang="en-US" sz="1700" b="1" dirty="0">
                <a:solidFill>
                  <a:schemeClr val="tx1"/>
                </a:solidFill>
              </a:rPr>
              <a:t>Outliers</a:t>
            </a:r>
            <a:endParaRPr lang="en-US" sz="1700" dirty="0"/>
          </a:p>
        </p:txBody>
      </p:sp>
      <p:sp>
        <p:nvSpPr>
          <p:cNvPr id="22" name="Text 20"/>
          <p:cNvSpPr txBox="1"/>
          <p:nvPr/>
        </p:nvSpPr>
        <p:spPr>
          <a:xfrm>
            <a:off x="7077456" y="2286000"/>
            <a:ext cx="1298448" cy="822960"/>
          </a:xfrm>
          <a:prstGeom prst="rect">
            <a:avLst/>
          </a:prstGeom>
          <a:noFill/>
          <a:ln/>
        </p:spPr>
        <p:txBody>
          <a:bodyPr wrap="square" lIns="0" tIns="0" rIns="0" bIns="0" rtlCol="0" anchor="t"/>
          <a:lstStyle/>
          <a:p>
            <a:pPr indent="0" marL="0">
              <a:buNone/>
            </a:pPr>
            <a:r>
              <a:rPr lang="en-US" sz="1200" dirty="0">
                <a:solidFill>
                  <a:schemeClr val="tx2"/>
                </a:solidFill>
              </a:rPr>
              <a:t>Plausibility,</a:t>
            </a:r>
            <a:endParaRPr lang="en-US" sz="1200" dirty="0"/>
          </a:p>
          <a:p>
            <a:pPr indent="0" marL="0">
              <a:buNone/>
            </a:pPr>
            <a:r>
              <a:rPr lang="en-US" sz="1200" dirty="0">
                <a:solidFill>
                  <a:schemeClr val="tx2"/>
                </a:solidFill>
              </a:rPr>
              <a:t>context</a:t>
            </a:r>
            <a:endParaRPr lang="en-US" sz="1200" dirty="0"/>
          </a:p>
        </p:txBody>
      </p:sp>
      <p:sp>
        <p:nvSpPr>
          <p:cNvPr id="23" name="card"/>
          <p:cNvSpPr/>
          <p:nvPr/>
        </p:nvSpPr>
        <p:spPr>
          <a:xfrm>
            <a:off x="8595360" y="1371600"/>
            <a:ext cx="1463040" cy="1828800"/>
          </a:xfrm>
          <a:prstGeom prst="roundRect">
            <a:avLst>
              <a:gd name="adj" fmla="val 6250"/>
            </a:avLst>
          </a:prstGeom>
          <a:solidFill>
            <a:schemeClr val="bg2"/>
          </a:solidFill>
          <a:ln w="12700">
            <a:solidFill>
              <a:schemeClr val="bg2"/>
            </a:solidFill>
            <a:prstDash val="solid"/>
          </a:ln>
        </p:spPr>
      </p:sp>
      <p:sp>
        <p:nvSpPr>
          <p:cNvPr id="24" name="Text 22"/>
          <p:cNvSpPr txBox="1"/>
          <p:nvPr/>
        </p:nvSpPr>
        <p:spPr>
          <a:xfrm>
            <a:off x="8705088" y="1481328"/>
            <a:ext cx="457200" cy="365760"/>
          </a:xfrm>
          <a:prstGeom prst="rect">
            <a:avLst/>
          </a:prstGeom>
          <a:noFill/>
          <a:ln/>
        </p:spPr>
        <p:txBody>
          <a:bodyPr wrap="square" lIns="0" tIns="0" rIns="0" bIns="0" rtlCol="0" anchor="ctr"/>
          <a:lstStyle/>
          <a:p>
            <a:pPr indent="0" marL="0">
              <a:buNone/>
            </a:pPr>
            <a:r>
              <a:rPr lang="en-US" sz="2000" b="1" dirty="0">
                <a:solidFill>
                  <a:schemeClr val="accent1"/>
                </a:solidFill>
              </a:rPr>
              <a:t>5</a:t>
            </a:r>
            <a:endParaRPr lang="en-US" sz="2000" dirty="0"/>
          </a:p>
        </p:txBody>
      </p:sp>
      <p:sp>
        <p:nvSpPr>
          <p:cNvPr id="25" name="Text 23"/>
          <p:cNvSpPr txBox="1"/>
          <p:nvPr/>
        </p:nvSpPr>
        <p:spPr>
          <a:xfrm>
            <a:off x="8705088" y="1874520"/>
            <a:ext cx="1280160" cy="365760"/>
          </a:xfrm>
          <a:prstGeom prst="rect">
            <a:avLst/>
          </a:prstGeom>
          <a:noFill/>
          <a:ln/>
        </p:spPr>
        <p:txBody>
          <a:bodyPr wrap="square" lIns="0" tIns="0" rIns="0" bIns="0" rtlCol="0" anchor="ctr"/>
          <a:lstStyle/>
          <a:p>
            <a:pPr indent="0" marL="0">
              <a:buNone/>
            </a:pPr>
            <a:r>
              <a:rPr lang="en-US" sz="1700" b="1" dirty="0">
                <a:solidFill>
                  <a:schemeClr val="tx1"/>
                </a:solidFill>
              </a:rPr>
              <a:t>Missing</a:t>
            </a:r>
            <a:endParaRPr lang="en-US" sz="1700" dirty="0"/>
          </a:p>
        </p:txBody>
      </p:sp>
      <p:sp>
        <p:nvSpPr>
          <p:cNvPr id="26" name="Text 24"/>
          <p:cNvSpPr txBox="1"/>
          <p:nvPr/>
        </p:nvSpPr>
        <p:spPr>
          <a:xfrm>
            <a:off x="8705088" y="2286000"/>
            <a:ext cx="1298448" cy="822960"/>
          </a:xfrm>
          <a:prstGeom prst="rect">
            <a:avLst/>
          </a:prstGeom>
          <a:noFill/>
          <a:ln/>
        </p:spPr>
        <p:txBody>
          <a:bodyPr wrap="square" lIns="0" tIns="0" rIns="0" bIns="0" rtlCol="0" anchor="t"/>
          <a:lstStyle/>
          <a:p>
            <a:pPr indent="0" marL="0">
              <a:buNone/>
            </a:pPr>
            <a:r>
              <a:rPr lang="en-US" sz="1200" dirty="0">
                <a:solidFill>
                  <a:schemeClr val="tx2"/>
                </a:solidFill>
              </a:rPr>
              <a:t>Patterns, reasons,</a:t>
            </a:r>
            <a:endParaRPr lang="en-US" sz="1200" dirty="0"/>
          </a:p>
          <a:p>
            <a:pPr indent="0" marL="0">
              <a:buNone/>
            </a:pPr>
            <a:r>
              <a:rPr lang="en-US" sz="1200" dirty="0">
                <a:solidFill>
                  <a:schemeClr val="tx2"/>
                </a:solidFill>
              </a:rPr>
              <a:t>handling</a:t>
            </a:r>
            <a:endParaRPr lang="en-US" sz="1200" dirty="0"/>
          </a:p>
        </p:txBody>
      </p:sp>
      <p:sp>
        <p:nvSpPr>
          <p:cNvPr id="27" name="card"/>
          <p:cNvSpPr/>
          <p:nvPr/>
        </p:nvSpPr>
        <p:spPr>
          <a:xfrm>
            <a:off x="10222992" y="1371600"/>
            <a:ext cx="1463040" cy="1828800"/>
          </a:xfrm>
          <a:prstGeom prst="roundRect">
            <a:avLst>
              <a:gd name="adj" fmla="val 6250"/>
            </a:avLst>
          </a:prstGeom>
          <a:solidFill>
            <a:schemeClr val="bg2"/>
          </a:solidFill>
          <a:ln w="12700">
            <a:solidFill>
              <a:schemeClr val="bg2"/>
            </a:solidFill>
            <a:prstDash val="solid"/>
          </a:ln>
        </p:spPr>
      </p:sp>
      <p:sp>
        <p:nvSpPr>
          <p:cNvPr id="28" name="Text 26"/>
          <p:cNvSpPr txBox="1"/>
          <p:nvPr/>
        </p:nvSpPr>
        <p:spPr>
          <a:xfrm>
            <a:off x="10332720" y="1481328"/>
            <a:ext cx="457200" cy="365760"/>
          </a:xfrm>
          <a:prstGeom prst="rect">
            <a:avLst/>
          </a:prstGeom>
          <a:noFill/>
          <a:ln/>
        </p:spPr>
        <p:txBody>
          <a:bodyPr wrap="square" lIns="0" tIns="0" rIns="0" bIns="0" rtlCol="0" anchor="ctr"/>
          <a:lstStyle/>
          <a:p>
            <a:pPr indent="0" marL="0">
              <a:buNone/>
            </a:pPr>
            <a:r>
              <a:rPr lang="en-US" sz="2000" b="1" dirty="0">
                <a:solidFill>
                  <a:schemeClr val="accent1"/>
                </a:solidFill>
              </a:rPr>
              <a:t>6</a:t>
            </a:r>
            <a:endParaRPr lang="en-US" sz="2000" dirty="0"/>
          </a:p>
        </p:txBody>
      </p:sp>
      <p:sp>
        <p:nvSpPr>
          <p:cNvPr id="29" name="Text 27"/>
          <p:cNvSpPr txBox="1"/>
          <p:nvPr/>
        </p:nvSpPr>
        <p:spPr>
          <a:xfrm>
            <a:off x="10332720" y="1874520"/>
            <a:ext cx="1280160" cy="365760"/>
          </a:xfrm>
          <a:prstGeom prst="rect">
            <a:avLst/>
          </a:prstGeom>
          <a:noFill/>
          <a:ln/>
        </p:spPr>
        <p:txBody>
          <a:bodyPr wrap="square" lIns="0" tIns="0" rIns="0" bIns="0" rtlCol="0" anchor="ctr"/>
          <a:lstStyle/>
          <a:p>
            <a:pPr indent="0" marL="0">
              <a:buNone/>
            </a:pPr>
            <a:r>
              <a:rPr lang="en-US" sz="1700" b="1" dirty="0">
                <a:solidFill>
                  <a:schemeClr val="tx1"/>
                </a:solidFill>
              </a:rPr>
              <a:t>Features</a:t>
            </a:r>
            <a:endParaRPr lang="en-US" sz="1700" dirty="0"/>
          </a:p>
        </p:txBody>
      </p:sp>
      <p:sp>
        <p:nvSpPr>
          <p:cNvPr id="30" name="Text 28"/>
          <p:cNvSpPr txBox="1"/>
          <p:nvPr/>
        </p:nvSpPr>
        <p:spPr>
          <a:xfrm>
            <a:off x="10332720" y="2286000"/>
            <a:ext cx="1298448" cy="822960"/>
          </a:xfrm>
          <a:prstGeom prst="rect">
            <a:avLst/>
          </a:prstGeom>
          <a:noFill/>
          <a:ln/>
        </p:spPr>
        <p:txBody>
          <a:bodyPr wrap="square" lIns="0" tIns="0" rIns="0" bIns="0" rtlCol="0" anchor="t"/>
          <a:lstStyle/>
          <a:p>
            <a:pPr indent="0" marL="0">
              <a:buNone/>
            </a:pPr>
            <a:r>
              <a:rPr lang="en-US" sz="1200" dirty="0">
                <a:solidFill>
                  <a:schemeClr val="tx2"/>
                </a:solidFill>
              </a:rPr>
              <a:t>Derive, encode,</a:t>
            </a:r>
            <a:endParaRPr lang="en-US" sz="1200" dirty="0"/>
          </a:p>
          <a:p>
            <a:pPr indent="0" marL="0">
              <a:buNone/>
            </a:pPr>
            <a:r>
              <a:rPr lang="en-US" sz="1200" dirty="0">
                <a:solidFill>
                  <a:schemeClr val="tx2"/>
                </a:solidFill>
              </a:rPr>
              <a:t>scale or transform</a:t>
            </a:r>
            <a:endParaRPr lang="en-US" sz="1200" dirty="0"/>
          </a:p>
        </p:txBody>
      </p:sp>
      <p:sp>
        <p:nvSpPr>
          <p:cNvPr id="31" name="Shape 29"/>
          <p:cNvSpPr/>
          <p:nvPr/>
        </p:nvSpPr>
        <p:spPr>
          <a:xfrm>
            <a:off x="6099048" y="3291840"/>
            <a:ext cx="0" cy="411480"/>
          </a:xfrm>
          <a:prstGeom prst="line">
            <a:avLst/>
          </a:prstGeom>
          <a:noFill/>
          <a:ln w="19050">
            <a:solidFill>
              <a:schemeClr val="tx2"/>
            </a:solidFill>
            <a:prstDash val="solid"/>
          </a:ln>
        </p:spPr>
      </p:sp>
      <p:sp>
        <p:nvSpPr>
          <p:cNvPr id="32" name="Shape 30"/>
          <p:cNvSpPr/>
          <p:nvPr/>
        </p:nvSpPr>
        <p:spPr>
          <a:xfrm>
            <a:off x="3108960" y="3703320"/>
            <a:ext cx="5989320" cy="0"/>
          </a:xfrm>
          <a:prstGeom prst="line">
            <a:avLst/>
          </a:prstGeom>
          <a:noFill/>
          <a:ln w="19050">
            <a:solidFill>
              <a:schemeClr val="tx2"/>
            </a:solidFill>
            <a:prstDash val="solid"/>
          </a:ln>
        </p:spPr>
      </p:sp>
      <p:sp>
        <p:nvSpPr>
          <p:cNvPr id="33" name="Shape 31"/>
          <p:cNvSpPr/>
          <p:nvPr/>
        </p:nvSpPr>
        <p:spPr>
          <a:xfrm>
            <a:off x="3108960" y="3703320"/>
            <a:ext cx="0" cy="274320"/>
          </a:xfrm>
          <a:prstGeom prst="line">
            <a:avLst/>
          </a:prstGeom>
          <a:noFill/>
          <a:ln w="19050">
            <a:solidFill>
              <a:schemeClr val="tx2"/>
            </a:solidFill>
            <a:prstDash val="solid"/>
            <a:tailEnd type="triangle"/>
          </a:ln>
        </p:spPr>
      </p:sp>
      <p:sp>
        <p:nvSpPr>
          <p:cNvPr id="34" name="Shape 32"/>
          <p:cNvSpPr/>
          <p:nvPr/>
        </p:nvSpPr>
        <p:spPr>
          <a:xfrm>
            <a:off x="9098280" y="3703320"/>
            <a:ext cx="0" cy="274320"/>
          </a:xfrm>
          <a:prstGeom prst="line">
            <a:avLst/>
          </a:prstGeom>
          <a:noFill/>
          <a:ln w="19050">
            <a:solidFill>
              <a:schemeClr val="tx2"/>
            </a:solidFill>
            <a:prstDash val="solid"/>
            <a:tailEnd type="triangle"/>
          </a:ln>
        </p:spPr>
      </p:sp>
      <p:sp>
        <p:nvSpPr>
          <p:cNvPr id="35" name="Shape 33"/>
          <p:cNvSpPr/>
          <p:nvPr/>
        </p:nvSpPr>
        <p:spPr>
          <a:xfrm>
            <a:off x="457200" y="4023360"/>
            <a:ext cx="5303520" cy="1325880"/>
          </a:xfrm>
          <a:prstGeom prst="roundRect">
            <a:avLst>
              <a:gd name="adj" fmla="val 6897"/>
            </a:avLst>
          </a:prstGeom>
          <a:solidFill>
            <a:schemeClr val="accent4"/>
          </a:solidFill>
          <a:ln w="12700">
            <a:solidFill>
              <a:schemeClr val="accent1"/>
            </a:solidFill>
            <a:prstDash val="solid"/>
          </a:ln>
        </p:spPr>
      </p:sp>
      <p:sp>
        <p:nvSpPr>
          <p:cNvPr id="36" name="Text 34"/>
          <p:cNvSpPr txBox="1"/>
          <p:nvPr/>
        </p:nvSpPr>
        <p:spPr>
          <a:xfrm>
            <a:off x="685800" y="4114800"/>
            <a:ext cx="4846320" cy="365760"/>
          </a:xfrm>
          <a:prstGeom prst="rect">
            <a:avLst/>
          </a:prstGeom>
          <a:noFill/>
          <a:ln/>
        </p:spPr>
        <p:txBody>
          <a:bodyPr wrap="square" lIns="0" tIns="0" rIns="0" bIns="0" rtlCol="0" anchor="ctr"/>
          <a:lstStyle/>
          <a:p>
            <a:pPr indent="0" marL="0">
              <a:buNone/>
            </a:pPr>
            <a:r>
              <a:rPr lang="en-US" sz="1700" b="1" dirty="0">
                <a:solidFill>
                  <a:schemeClr val="accent1"/>
                </a:solidFill>
              </a:rPr>
              <a:t>7A  Statistical inference</a:t>
            </a:r>
            <a:endParaRPr lang="en-US" sz="1700" dirty="0"/>
          </a:p>
        </p:txBody>
      </p:sp>
      <p:sp>
        <p:nvSpPr>
          <p:cNvPr id="37" name="Text 35"/>
          <p:cNvSpPr txBox="1"/>
          <p:nvPr/>
        </p:nvSpPr>
        <p:spPr>
          <a:xfrm>
            <a:off x="685800" y="4498848"/>
            <a:ext cx="4846320" cy="777240"/>
          </a:xfrm>
          <a:prstGeom prst="rect">
            <a:avLst/>
          </a:prstGeom>
          <a:noFill/>
          <a:ln/>
        </p:spPr>
        <p:txBody>
          <a:bodyPr wrap="square" lIns="0" tIns="0" rIns="0" bIns="0" rtlCol="0" anchor="t"/>
          <a:lstStyle/>
          <a:p>
            <a:pPr indent="0" marL="0">
              <a:buNone/>
            </a:pPr>
            <a:r>
              <a:rPr lang="en-US" sz="1400" dirty="0">
                <a:solidFill>
                  <a:schemeClr val="tx1"/>
                </a:solidFill>
              </a:rPr>
              <a:t>Choose a test by outcome and design, report effect estimates with confidence intervals, address multiplicity and confounding.</a:t>
            </a:r>
            <a:endParaRPr lang="en-US" sz="1400" dirty="0"/>
          </a:p>
        </p:txBody>
      </p:sp>
      <p:sp>
        <p:nvSpPr>
          <p:cNvPr id="38" name="Shape 36"/>
          <p:cNvSpPr/>
          <p:nvPr/>
        </p:nvSpPr>
        <p:spPr>
          <a:xfrm>
            <a:off x="6446520" y="4023360"/>
            <a:ext cx="5303520" cy="1325880"/>
          </a:xfrm>
          <a:prstGeom prst="roundRect">
            <a:avLst>
              <a:gd name="adj" fmla="val 6897"/>
            </a:avLst>
          </a:prstGeom>
          <a:solidFill>
            <a:schemeClr val="accent4"/>
          </a:solidFill>
          <a:ln w="12700">
            <a:solidFill>
              <a:schemeClr val="accent1"/>
            </a:solidFill>
            <a:prstDash val="solid"/>
          </a:ln>
        </p:spPr>
      </p:sp>
      <p:sp>
        <p:nvSpPr>
          <p:cNvPr id="39" name="Text 37"/>
          <p:cNvSpPr txBox="1"/>
          <p:nvPr/>
        </p:nvSpPr>
        <p:spPr>
          <a:xfrm>
            <a:off x="6675120" y="4114800"/>
            <a:ext cx="4846320" cy="365760"/>
          </a:xfrm>
          <a:prstGeom prst="rect">
            <a:avLst/>
          </a:prstGeom>
          <a:noFill/>
          <a:ln/>
        </p:spPr>
        <p:txBody>
          <a:bodyPr wrap="square" lIns="0" tIns="0" rIns="0" bIns="0" rtlCol="0" anchor="ctr"/>
          <a:lstStyle/>
          <a:p>
            <a:pPr indent="0" marL="0">
              <a:buNone/>
            </a:pPr>
            <a:r>
              <a:rPr lang="en-US" sz="1700" b="1" dirty="0">
                <a:solidFill>
                  <a:schemeClr val="accent1"/>
                </a:solidFill>
              </a:rPr>
              <a:t>7B  Predictive modelling</a:t>
            </a:r>
            <a:endParaRPr lang="en-US" sz="1700" dirty="0"/>
          </a:p>
        </p:txBody>
      </p:sp>
      <p:sp>
        <p:nvSpPr>
          <p:cNvPr id="40" name="Text 38"/>
          <p:cNvSpPr txBox="1"/>
          <p:nvPr/>
        </p:nvSpPr>
        <p:spPr>
          <a:xfrm>
            <a:off x="6675120" y="4498848"/>
            <a:ext cx="4846320" cy="777240"/>
          </a:xfrm>
          <a:prstGeom prst="rect">
            <a:avLst/>
          </a:prstGeom>
          <a:noFill/>
          <a:ln/>
        </p:spPr>
        <p:txBody>
          <a:bodyPr wrap="square" lIns="0" tIns="0" rIns="0" bIns="0" rtlCol="0" anchor="t"/>
          <a:lstStyle/>
          <a:p>
            <a:pPr indent="0" marL="0">
              <a:buNone/>
            </a:pPr>
            <a:r>
              <a:rPr lang="en-US" sz="1400" dirty="0">
                <a:solidFill>
                  <a:schemeClr val="tx1"/>
                </a:solidFill>
              </a:rPr>
              <a:t>Split by patient (and time or site), fit every learned preprocessing step inside training folds.</a:t>
            </a:r>
            <a:endParaRPr lang="en-US" sz="1400" dirty="0"/>
          </a:p>
        </p:txBody>
      </p:sp>
      <p:sp>
        <p:nvSpPr>
          <p:cNvPr id="41" name="Text 39"/>
          <p:cNvSpPr txBox="1"/>
          <p:nvPr/>
        </p:nvSpPr>
        <p:spPr>
          <a:xfrm>
            <a:off x="457200" y="5532120"/>
            <a:ext cx="11247120" cy="365760"/>
          </a:xfrm>
          <a:prstGeom prst="rect">
            <a:avLst/>
          </a:prstGeom>
          <a:noFill/>
          <a:ln/>
        </p:spPr>
        <p:txBody>
          <a:bodyPr wrap="square" lIns="0" tIns="0" rIns="0" bIns="0" rtlCol="0" anchor="ctr"/>
          <a:lstStyle/>
          <a:p>
            <a:pPr indent="0" marL="0">
              <a:buNone/>
            </a:pPr>
            <a:r>
              <a:rPr lang="en-US" sz="1500" b="1" dirty="0">
                <a:solidFill>
                  <a:schemeClr val="accent1"/>
                </a:solidFill>
              </a:rPr>
              <a:t>8  Report: </a:t>
            </a:r>
            <a:pPr indent="0" marL="0">
              <a:buNone/>
            </a:pPr>
            <a:r>
              <a:rPr lang="en-US" sz="1500" dirty="0">
                <a:solidFill>
                  <a:schemeClr val="tx1"/>
                </a:solidFill>
              </a:rPr>
              <a:t>cohort summary table, informative plots, problems found and documented decisions.</a:t>
            </a:r>
            <a:endParaRPr lang="en-US" sz="1500" dirty="0"/>
          </a:p>
        </p:txBody>
      </p:sp>
      <p:sp>
        <p:nvSpPr>
          <p:cNvPr id="42" name="tracker line"/>
          <p:cNvSpPr/>
          <p:nvPr/>
        </p:nvSpPr>
        <p:spPr>
          <a:xfrm>
            <a:off x="3840480" y="6382512"/>
            <a:ext cx="7452360" cy="0"/>
          </a:xfrm>
          <a:prstGeom prst="line">
            <a:avLst/>
          </a:prstGeom>
          <a:noFill/>
          <a:ln w="19050">
            <a:solidFill>
              <a:schemeClr val="accent5"/>
            </a:solidFill>
            <a:prstDash val="solid"/>
          </a:ln>
        </p:spPr>
      </p:sp>
      <p:sp>
        <p:nvSpPr>
          <p:cNvPr id="43" name="tracker Question"/>
          <p:cNvSpPr/>
          <p:nvPr/>
        </p:nvSpPr>
        <p:spPr>
          <a:xfrm>
            <a:off x="3785616" y="6327648"/>
            <a:ext cx="109728" cy="109728"/>
          </a:xfrm>
          <a:prstGeom prst="ellipse">
            <a:avLst/>
          </a:prstGeom>
          <a:solidFill>
            <a:schemeClr val="bg1"/>
          </a:solidFill>
          <a:ln w="12700">
            <a:solidFill>
              <a:schemeClr val="accent5"/>
            </a:solidFill>
            <a:prstDash val="solid"/>
          </a:ln>
        </p:spPr>
      </p:sp>
      <p:sp>
        <p:nvSpPr>
          <p:cNvPr id="44"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45" name="tracker Load"/>
          <p:cNvSpPr/>
          <p:nvPr/>
        </p:nvSpPr>
        <p:spPr>
          <a:xfrm>
            <a:off x="4717161" y="6327648"/>
            <a:ext cx="109728" cy="109728"/>
          </a:xfrm>
          <a:prstGeom prst="ellipse">
            <a:avLst/>
          </a:prstGeom>
          <a:solidFill>
            <a:schemeClr val="bg1"/>
          </a:solidFill>
          <a:ln w="12700">
            <a:solidFill>
              <a:schemeClr val="accent5"/>
            </a:solidFill>
            <a:prstDash val="solid"/>
          </a:ln>
        </p:spPr>
      </p:sp>
      <p:sp>
        <p:nvSpPr>
          <p:cNvPr id="46"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47" name="tracker Clean"/>
          <p:cNvSpPr/>
          <p:nvPr/>
        </p:nvSpPr>
        <p:spPr>
          <a:xfrm>
            <a:off x="5648706" y="6327648"/>
            <a:ext cx="109728" cy="109728"/>
          </a:xfrm>
          <a:prstGeom prst="ellipse">
            <a:avLst/>
          </a:prstGeom>
          <a:solidFill>
            <a:schemeClr val="bg1"/>
          </a:solidFill>
          <a:ln w="12700">
            <a:solidFill>
              <a:schemeClr val="accent5"/>
            </a:solidFill>
            <a:prstDash val="solid"/>
          </a:ln>
        </p:spPr>
      </p:sp>
      <p:sp>
        <p:nvSpPr>
          <p:cNvPr id="48"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49"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50"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51"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52"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53"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54"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55"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56"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57"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58"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59"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60"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Main resources and where to start</a:t>
            </a:r>
            <a:endParaRPr lang="en-US" sz="3000" dirty="0"/>
          </a:p>
        </p:txBody>
      </p:sp>
      <p:sp>
        <p:nvSpPr>
          <p:cNvPr id="3" name="card"/>
          <p:cNvSpPr/>
          <p:nvPr/>
        </p:nvSpPr>
        <p:spPr>
          <a:xfrm>
            <a:off x="457200" y="1280160"/>
            <a:ext cx="3566160" cy="3657600"/>
          </a:xfrm>
          <a:prstGeom prst="roundRect">
            <a:avLst>
              <a:gd name="adj" fmla="val 2564"/>
            </a:avLst>
          </a:prstGeom>
          <a:solidFill>
            <a:schemeClr val="bg2"/>
          </a:solidFill>
          <a:ln w="12700">
            <a:solidFill>
              <a:schemeClr val="bg2"/>
            </a:solidFill>
            <a:prstDash val="solid"/>
          </a:ln>
        </p:spPr>
      </p:sp>
      <p:pic>
        <p:nvPicPr>
          <p:cNvPr id="4" name="cover Data Science for Health Informatists" descr="cover Data Science for Health Informatists">    </p:cNvPr>
          <p:cNvPicPr>
            <a:picLocks noChangeAspect="1"/>
          </p:cNvPicPr>
          <p:nvPr/>
        </p:nvPicPr>
        <p:blipFill>
          <a:blip r:embed="rId1"/>
          <a:stretch>
            <a:fillRect/>
          </a:stretch>
        </p:blipFill>
        <p:spPr>
          <a:xfrm>
            <a:off x="731520" y="1721090"/>
            <a:ext cx="3017520" cy="581181"/>
          </a:xfrm>
          <a:prstGeom prst="rect">
            <a:avLst/>
          </a:prstGeom>
        </p:spPr>
      </p:pic>
      <p:sp>
        <p:nvSpPr>
          <p:cNvPr id="5" name="Text 2"/>
          <p:cNvSpPr txBox="1"/>
          <p:nvPr/>
        </p:nvSpPr>
        <p:spPr>
          <a:xfrm>
            <a:off x="731520" y="26974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Data Science for Health Informatists</a:t>
            </a:r>
            <a:endParaRPr lang="en-US" sz="1600" dirty="0"/>
          </a:p>
        </p:txBody>
      </p:sp>
      <p:sp>
        <p:nvSpPr>
          <p:cNvPr id="6" name="Text 3"/>
          <p:cNvSpPr txBox="1"/>
          <p:nvPr/>
        </p:nvSpPr>
        <p:spPr>
          <a:xfrm>
            <a:off x="731520" y="3291840"/>
            <a:ext cx="3017520" cy="274320"/>
          </a:xfrm>
          <a:prstGeom prst="rect">
            <a:avLst/>
          </a:prstGeom>
          <a:noFill/>
          <a:ln/>
        </p:spPr>
        <p:txBody>
          <a:bodyPr wrap="square" lIns="0" tIns="0" rIns="0" bIns="0" rtlCol="0" anchor="ctr"/>
          <a:lstStyle/>
          <a:p>
            <a:pPr indent="0" marL="0">
              <a:buNone/>
            </a:pPr>
            <a:r>
              <a:rPr lang="en-US" sz="1200" i="1" dirty="0">
                <a:solidFill>
                  <a:schemeClr val="tx2"/>
                </a:solidFill>
              </a:rPr>
              <a:t>Python, health data</a:t>
            </a:r>
            <a:endParaRPr lang="en-US" sz="1200" dirty="0"/>
          </a:p>
        </p:txBody>
      </p:sp>
      <p:sp>
        <p:nvSpPr>
          <p:cNvPr id="7" name="Text 4"/>
          <p:cNvSpPr txBox="1"/>
          <p:nvPr/>
        </p:nvSpPr>
        <p:spPr>
          <a:xfrm>
            <a:off x="731520" y="3611880"/>
            <a:ext cx="3017520" cy="868680"/>
          </a:xfrm>
          <a:prstGeom prst="rect">
            <a:avLst/>
          </a:prstGeom>
          <a:noFill/>
          <a:ln/>
        </p:spPr>
        <p:txBody>
          <a:bodyPr wrap="square" lIns="0" tIns="0" rIns="0" bIns="0" rtlCol="0" anchor="t"/>
          <a:lstStyle/>
          <a:p>
            <a:pPr indent="0" marL="0">
              <a:buNone/>
            </a:pPr>
            <a:r>
              <a:rPr lang="en-US" sz="1300" dirty="0">
                <a:solidFill>
                  <a:schemeClr val="tx1"/>
                </a:solidFill>
              </a:rPr>
              <a:t>Start with: Ch. 2 Data Processing and Cleaning, then Ch. 3 Exploratory Data Analysis.</a:t>
            </a:r>
            <a:endParaRPr lang="en-US" sz="1300" dirty="0"/>
          </a:p>
        </p:txBody>
      </p:sp>
      <p:sp>
        <p:nvSpPr>
          <p:cNvPr id="8" name="Text 5"/>
          <p:cNvSpPr txBox="1"/>
          <p:nvPr/>
        </p:nvSpPr>
        <p:spPr>
          <a:xfrm>
            <a:off x="731520" y="4526280"/>
            <a:ext cx="3017520" cy="274320"/>
          </a:xfrm>
          <a:prstGeom prst="rect">
            <a:avLst/>
          </a:prstGeom>
          <a:noFill/>
          <a:ln/>
        </p:spPr>
        <p:txBody>
          <a:bodyPr wrap="square" lIns="0" tIns="0" rIns="0" bIns="0" rtlCol="0" anchor="ctr"/>
          <a:lstStyle/>
          <a:p>
            <a:pPr indent="0" marL="0">
              <a:buNone/>
            </a:pPr>
            <a:r>
              <a:rPr lang="en-US" sz="1200" b="1" u="sng" dirty="0">
                <a:solidFill>
                  <a:schemeClr val="accent1"/>
                </a:solidFill>
                <a:hlinkClick r:id="rId2" invalidUrl="" action="" tgtFrame="" tooltip="https://book.datascience.appliedhealthinformatics.com/docs/intro" history="1" highlightClick="0" endSnd="0">
                  <a:extLst>
                    <a:ext uri="{A12FA001-AC4F-418D-AE19-62706E023703}">
                      <ahyp:hlinkClr xmlns:ahyp="http://schemas.microsoft.com/office/drawing/2018/hyperlinkcolor" val="tx"/>
                    </a:ext>
                  </a:extLst>
                </a:hlinkClick>
              </a:rPr>
              <a:t>Book home</a:t>
            </a:r>
            <a:pPr indent="0" marL="0">
              <a:buNone/>
            </a:pPr>
            <a:r>
              <a:rPr lang="en-US" sz="1200" b="1" dirty="0">
                <a:solidFill>
                  <a:schemeClr val="tx2"/>
                </a:solidFill>
              </a:rPr>
              <a:t>   ·   </a:t>
            </a:r>
            <a:pPr indent="0" marL="0">
              <a:buNone/>
            </a:pPr>
            <a:r>
              <a:rPr lang="en-US" sz="1200" b="1" u="sng" dirty="0">
                <a:solidFill>
                  <a:schemeClr val="accent1"/>
                </a:solidFill>
                <a:hlinkClick r:id="rId3" invalidUrl="" action="" tgtFrame="" tooltip="https://book.datascience.appliedhealthinformatics.com/docs/category/chapter-3---exploratory-data-analysis-eda" history="1" highlightClick="0" endSnd="0">
                  <a:extLst>
                    <a:ext uri="{A12FA001-AC4F-418D-AE19-62706E023703}">
                      <ahyp:hlinkClr xmlns:ahyp="http://schemas.microsoft.com/office/drawing/2018/hyperlinkcolor" val="tx"/>
                    </a:ext>
                  </a:extLst>
                </a:hlinkClick>
              </a:rPr>
              <a:t>Open Ch. 3 (EDA)</a:t>
            </a:r>
            <a:endParaRPr lang="en-US" sz="1200" dirty="0"/>
          </a:p>
        </p:txBody>
      </p:sp>
      <p:sp>
        <p:nvSpPr>
          <p:cNvPr id="9" name="card"/>
          <p:cNvSpPr/>
          <p:nvPr/>
        </p:nvSpPr>
        <p:spPr>
          <a:xfrm>
            <a:off x="4279392" y="1280160"/>
            <a:ext cx="3566160" cy="3657600"/>
          </a:xfrm>
          <a:prstGeom prst="roundRect">
            <a:avLst>
              <a:gd name="adj" fmla="val 2564"/>
            </a:avLst>
          </a:prstGeom>
          <a:solidFill>
            <a:schemeClr val="bg2"/>
          </a:solidFill>
          <a:ln w="12700">
            <a:solidFill>
              <a:schemeClr val="bg2"/>
            </a:solidFill>
            <a:prstDash val="solid"/>
          </a:ln>
        </p:spPr>
      </p:sp>
      <p:pic>
        <p:nvPicPr>
          <p:cNvPr id="10" name="cover Python for Health Data Science" descr="cover Python for Health Data Science">    </p:cNvPr>
          <p:cNvPicPr>
            <a:picLocks noChangeAspect="1"/>
          </p:cNvPicPr>
          <p:nvPr/>
        </p:nvPicPr>
        <p:blipFill>
          <a:blip r:embed="rId4"/>
          <a:stretch>
            <a:fillRect/>
          </a:stretch>
        </p:blipFill>
        <p:spPr>
          <a:xfrm>
            <a:off x="4553712" y="1680382"/>
            <a:ext cx="3017520" cy="662596"/>
          </a:xfrm>
          <a:prstGeom prst="rect">
            <a:avLst/>
          </a:prstGeom>
        </p:spPr>
      </p:pic>
      <p:sp>
        <p:nvSpPr>
          <p:cNvPr id="11" name="Text 7"/>
          <p:cNvSpPr txBox="1"/>
          <p:nvPr/>
        </p:nvSpPr>
        <p:spPr>
          <a:xfrm>
            <a:off x="4553712" y="26974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Python for Health Data Science</a:t>
            </a:r>
            <a:endParaRPr lang="en-US" sz="1600" dirty="0"/>
          </a:p>
        </p:txBody>
      </p:sp>
      <p:sp>
        <p:nvSpPr>
          <p:cNvPr id="12" name="Text 8"/>
          <p:cNvSpPr txBox="1"/>
          <p:nvPr/>
        </p:nvSpPr>
        <p:spPr>
          <a:xfrm>
            <a:off x="4553712" y="3291840"/>
            <a:ext cx="3017520" cy="274320"/>
          </a:xfrm>
          <a:prstGeom prst="rect">
            <a:avLst/>
          </a:prstGeom>
          <a:noFill/>
          <a:ln/>
        </p:spPr>
        <p:txBody>
          <a:bodyPr wrap="square" lIns="0" tIns="0" rIns="0" bIns="0" rtlCol="0" anchor="ctr"/>
          <a:lstStyle/>
          <a:p>
            <a:pPr indent="0" marL="0">
              <a:buNone/>
            </a:pPr>
            <a:r>
              <a:rPr lang="en-US" sz="1200" i="1" dirty="0">
                <a:solidFill>
                  <a:schemeClr val="tx2"/>
                </a:solidFill>
              </a:rPr>
              <a:t>Python, hands-on</a:t>
            </a:r>
            <a:endParaRPr lang="en-US" sz="1200" dirty="0"/>
          </a:p>
        </p:txBody>
      </p:sp>
      <p:sp>
        <p:nvSpPr>
          <p:cNvPr id="13" name="Text 9"/>
          <p:cNvSpPr txBox="1"/>
          <p:nvPr/>
        </p:nvSpPr>
        <p:spPr>
          <a:xfrm>
            <a:off x="4553712" y="3611880"/>
            <a:ext cx="3017520" cy="868680"/>
          </a:xfrm>
          <a:prstGeom prst="rect">
            <a:avLst/>
          </a:prstGeom>
          <a:noFill/>
          <a:ln/>
        </p:spPr>
        <p:txBody>
          <a:bodyPr wrap="square" lIns="0" tIns="0" rIns="0" bIns="0" rtlCol="0" anchor="t"/>
          <a:lstStyle/>
          <a:p>
            <a:pPr indent="0" marL="0">
              <a:buNone/>
            </a:pPr>
            <a:r>
              <a:rPr lang="en-US" sz="1300" dirty="0">
                <a:solidFill>
                  <a:schemeClr val="tx1"/>
                </a:solidFill>
              </a:rPr>
              <a:t>Start with: the pandas chapter (Working with files), then the Stroke data wrangling exercise.</a:t>
            </a:r>
            <a:endParaRPr lang="en-US" sz="1300" dirty="0"/>
          </a:p>
        </p:txBody>
      </p:sp>
      <p:sp>
        <p:nvSpPr>
          <p:cNvPr id="14" name="Text 10"/>
          <p:cNvSpPr txBox="1"/>
          <p:nvPr/>
        </p:nvSpPr>
        <p:spPr>
          <a:xfrm>
            <a:off x="4553712" y="4526280"/>
            <a:ext cx="3017520" cy="274320"/>
          </a:xfrm>
          <a:prstGeom prst="rect">
            <a:avLst/>
          </a:prstGeom>
          <a:noFill/>
          <a:ln/>
        </p:spPr>
        <p:txBody>
          <a:bodyPr wrap="square" lIns="0" tIns="0" rIns="0" bIns="0" rtlCol="0" anchor="ctr"/>
          <a:lstStyle/>
          <a:p>
            <a:pPr indent="0" marL="0">
              <a:buNone/>
            </a:pPr>
            <a:r>
              <a:rPr lang="en-US" sz="1200" b="1" u="sng" dirty="0">
                <a:solidFill>
                  <a:schemeClr val="accent1"/>
                </a:solidFill>
                <a:hlinkClick r:id="rId5" invalidUrl="" action="" tgtFrame="" tooltip="https://www.pythonhealthdatascience.com/content/front_page.html" history="1" highlightClick="0" endSnd="0">
                  <a:extLst>
                    <a:ext uri="{A12FA001-AC4F-418D-AE19-62706E023703}">
                      <ahyp:hlinkClr xmlns:ahyp="http://schemas.microsoft.com/office/drawing/2018/hyperlinkcolor" val="tx"/>
                    </a:ext>
                  </a:extLst>
                </a:hlinkClick>
              </a:rPr>
              <a:t>Book home</a:t>
            </a:r>
            <a:pPr indent="0" marL="0">
              <a:buNone/>
            </a:pPr>
            <a:r>
              <a:rPr lang="en-US" sz="1200" b="1" dirty="0">
                <a:solidFill>
                  <a:schemeClr val="tx2"/>
                </a:solidFill>
              </a:rPr>
              <a:t>   ·   </a:t>
            </a:r>
            <a:pPr indent="0" marL="0">
              <a:buNone/>
            </a:pPr>
            <a:r>
              <a:rPr lang="en-US" sz="1200" b="1" u="sng" dirty="0">
                <a:solidFill>
                  <a:schemeClr val="accent1"/>
                </a:solidFill>
                <a:hlinkClick r:id="rId6" invalidUrl="" action="" tgtFrame="" tooltip="https://www.pythonhealthdatascience.com/content/02_stat_prog/03_exercises/02_stroke_data_wrangling.html" history="1" highlightClick="0" endSnd="0">
                  <a:extLst>
                    <a:ext uri="{A12FA001-AC4F-418D-AE19-62706E023703}">
                      <ahyp:hlinkClr xmlns:ahyp="http://schemas.microsoft.com/office/drawing/2018/hyperlinkcolor" val="tx"/>
                    </a:ext>
                  </a:extLst>
                </a:hlinkClick>
              </a:rPr>
              <a:t>Open the stroke exercise</a:t>
            </a:r>
            <a:endParaRPr lang="en-US" sz="1200" dirty="0"/>
          </a:p>
        </p:txBody>
      </p:sp>
      <p:sp>
        <p:nvSpPr>
          <p:cNvPr id="15" name="card"/>
          <p:cNvSpPr/>
          <p:nvPr/>
        </p:nvSpPr>
        <p:spPr>
          <a:xfrm>
            <a:off x="8101584" y="1280160"/>
            <a:ext cx="3566160" cy="3657600"/>
          </a:xfrm>
          <a:prstGeom prst="roundRect">
            <a:avLst>
              <a:gd name="adj" fmla="val 2564"/>
            </a:avLst>
          </a:prstGeom>
          <a:solidFill>
            <a:schemeClr val="bg2"/>
          </a:solidFill>
          <a:ln w="12700">
            <a:solidFill>
              <a:schemeClr val="bg2"/>
            </a:solidFill>
            <a:prstDash val="solid"/>
          </a:ln>
        </p:spPr>
      </p:sp>
      <p:pic>
        <p:nvPicPr>
          <p:cNvPr id="16" name="cover Data Analysis in Medicine and Health using R" descr="cover Data Analysis in Medicine and Health using R">    </p:cNvPr>
          <p:cNvPicPr>
            <a:picLocks noChangeAspect="1"/>
          </p:cNvPicPr>
          <p:nvPr/>
        </p:nvPicPr>
        <p:blipFill>
          <a:blip r:embed="rId7"/>
          <a:stretch>
            <a:fillRect/>
          </a:stretch>
        </p:blipFill>
        <p:spPr>
          <a:xfrm>
            <a:off x="9518904" y="1463040"/>
            <a:ext cx="731520" cy="1097280"/>
          </a:xfrm>
          <a:prstGeom prst="rect">
            <a:avLst/>
          </a:prstGeom>
        </p:spPr>
      </p:pic>
      <p:sp>
        <p:nvSpPr>
          <p:cNvPr id="17" name="Text 12"/>
          <p:cNvSpPr txBox="1"/>
          <p:nvPr/>
        </p:nvSpPr>
        <p:spPr>
          <a:xfrm>
            <a:off x="8375904" y="26974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Data Analysis in Medicine and Health using R</a:t>
            </a:r>
            <a:endParaRPr lang="en-US" sz="1600" dirty="0"/>
          </a:p>
        </p:txBody>
      </p:sp>
      <p:sp>
        <p:nvSpPr>
          <p:cNvPr id="18" name="Text 13"/>
          <p:cNvSpPr txBox="1"/>
          <p:nvPr/>
        </p:nvSpPr>
        <p:spPr>
          <a:xfrm>
            <a:off x="8375904" y="3291840"/>
            <a:ext cx="3017520" cy="274320"/>
          </a:xfrm>
          <a:prstGeom prst="rect">
            <a:avLst/>
          </a:prstGeom>
          <a:noFill/>
          <a:ln/>
        </p:spPr>
        <p:txBody>
          <a:bodyPr wrap="square" lIns="0" tIns="0" rIns="0" bIns="0" rtlCol="0" anchor="ctr"/>
          <a:lstStyle/>
          <a:p>
            <a:pPr indent="0" marL="0">
              <a:buNone/>
            </a:pPr>
            <a:r>
              <a:rPr lang="en-US" sz="1200" i="1" dirty="0">
                <a:solidFill>
                  <a:schemeClr val="tx2"/>
                </a:solidFill>
              </a:rPr>
              <a:t>R, clinical examples</a:t>
            </a:r>
            <a:endParaRPr lang="en-US" sz="1200" dirty="0"/>
          </a:p>
        </p:txBody>
      </p:sp>
      <p:sp>
        <p:nvSpPr>
          <p:cNvPr id="19" name="Text 14"/>
          <p:cNvSpPr txBox="1"/>
          <p:nvPr/>
        </p:nvSpPr>
        <p:spPr>
          <a:xfrm>
            <a:off x="8375904" y="3611880"/>
            <a:ext cx="3017520" cy="868680"/>
          </a:xfrm>
          <a:prstGeom prst="rect">
            <a:avLst/>
          </a:prstGeom>
          <a:noFill/>
          <a:ln/>
        </p:spPr>
        <p:txBody>
          <a:bodyPr wrap="square" lIns="0" tIns="0" rIns="0" bIns="0" rtlCol="0" anchor="t"/>
          <a:lstStyle/>
          <a:p>
            <a:pPr indent="0" marL="0">
              <a:buNone/>
            </a:pPr>
            <a:r>
              <a:rPr lang="en-US" sz="1300" dirty="0">
                <a:solidFill>
                  <a:schemeClr val="tx1"/>
                </a:solidFill>
              </a:rPr>
              <a:t>Start with: Ch. 4 Data Visualisation, Ch. 5 Data Wrangling, then Ch. 6 EDA (ggplot2, gtsummary).</a:t>
            </a:r>
            <a:endParaRPr lang="en-US" sz="1300" dirty="0"/>
          </a:p>
        </p:txBody>
      </p:sp>
      <p:sp>
        <p:nvSpPr>
          <p:cNvPr id="20" name="Text 15"/>
          <p:cNvSpPr txBox="1"/>
          <p:nvPr/>
        </p:nvSpPr>
        <p:spPr>
          <a:xfrm>
            <a:off x="8375904" y="4526280"/>
            <a:ext cx="3017520" cy="274320"/>
          </a:xfrm>
          <a:prstGeom prst="rect">
            <a:avLst/>
          </a:prstGeom>
          <a:noFill/>
          <a:ln/>
        </p:spPr>
        <p:txBody>
          <a:bodyPr wrap="square" lIns="0" tIns="0" rIns="0" bIns="0" rtlCol="0" anchor="ctr"/>
          <a:lstStyle/>
          <a:p>
            <a:pPr indent="0" marL="0">
              <a:buNone/>
            </a:pPr>
            <a:r>
              <a:rPr lang="en-US" sz="1200" b="1" u="sng" dirty="0">
                <a:solidFill>
                  <a:schemeClr val="accent1"/>
                </a:solidFill>
                <a:hlinkClick r:id="rId8" invalidUrl="" action="" tgtFrame="" tooltip="https://bookdown.org/drki_musa/dataanalysis/" history="1" highlightClick="0" endSnd="0">
                  <a:extLst>
                    <a:ext uri="{A12FA001-AC4F-418D-AE19-62706E023703}">
                      <ahyp:hlinkClr xmlns:ahyp="http://schemas.microsoft.com/office/drawing/2018/hyperlinkcolor" val="tx"/>
                    </a:ext>
                  </a:extLst>
                </a:hlinkClick>
              </a:rPr>
              <a:t>Book home</a:t>
            </a:r>
            <a:pPr indent="0" marL="0">
              <a:buNone/>
            </a:pPr>
            <a:r>
              <a:rPr lang="en-US" sz="1200" b="1" dirty="0">
                <a:solidFill>
                  <a:schemeClr val="tx2"/>
                </a:solidFill>
              </a:rPr>
              <a:t>   ·   </a:t>
            </a:r>
            <a:pPr indent="0" marL="0">
              <a:buNone/>
            </a:pPr>
            <a:r>
              <a:rPr lang="en-US" sz="1200" b="1" u="sng" dirty="0">
                <a:solidFill>
                  <a:schemeClr val="accent1"/>
                </a:solidFill>
                <a:hlinkClick r:id="rId9" invalidUrl="" action="" tgtFrame="" tooltip="https://bookdown.org/drki_musa/dataanalysis/exploratory-data-analysis.html" history="1" highlightClick="0" endSnd="0">
                  <a:extLst>
                    <a:ext uri="{A12FA001-AC4F-418D-AE19-62706E023703}">
                      <ahyp:hlinkClr xmlns:ahyp="http://schemas.microsoft.com/office/drawing/2018/hyperlinkcolor" val="tx"/>
                    </a:ext>
                  </a:extLst>
                </a:hlinkClick>
              </a:rPr>
              <a:t>Open Ch. 6 (EDA)</a:t>
            </a:r>
            <a:endParaRPr lang="en-US" sz="1200" dirty="0"/>
          </a:p>
        </p:txBody>
      </p:sp>
      <p:sp>
        <p:nvSpPr>
          <p:cNvPr id="21" name="Text 16"/>
          <p:cNvSpPr txBox="1"/>
          <p:nvPr/>
        </p:nvSpPr>
        <p:spPr>
          <a:xfrm>
            <a:off x="457200" y="5166360"/>
            <a:ext cx="11247120" cy="594360"/>
          </a:xfrm>
          <a:prstGeom prst="rect">
            <a:avLst/>
          </a:prstGeom>
          <a:noFill/>
          <a:ln/>
        </p:spPr>
        <p:txBody>
          <a:bodyPr wrap="square" lIns="0" tIns="0" rIns="0" bIns="0" rtlCol="0" anchor="t"/>
          <a:lstStyle/>
          <a:p>
            <a:pPr indent="0" marL="0">
              <a:buNone/>
            </a:pPr>
            <a:r>
              <a:rPr lang="en-US" sz="1400" b="1" dirty="0">
                <a:solidFill>
                  <a:schemeClr val="tx1"/>
                </a:solidFill>
              </a:rPr>
              <a:t>New to coding? </a:t>
            </a:r>
            <a:pPr indent="0" marL="0">
              <a:buNone/>
            </a:pPr>
            <a:r>
              <a:rPr lang="en-US" sz="1400" b="1" dirty="0">
                <a:solidFill>
                  <a:schemeClr val="tx2"/>
                </a:solidFill>
              </a:rPr>
              <a:t>Python: </a:t>
            </a:r>
            <a:pPr indent="0" marL="0">
              <a:buNone/>
            </a:pPr>
            <a:r>
              <a:rPr lang="en-US" sz="1400" u="sng" dirty="0">
                <a:solidFill>
                  <a:schemeClr val="accent1"/>
                </a:solidFill>
                <a:hlinkClick r:id="rId10" invalidUrl="" action="" tgtFrame="" tooltip="" history="1" highlightClick="0" endSnd="0">
                  <a:extLst>
                    <a:ext uri="{A12FA001-AC4F-418D-AE19-62706E023703}">
                      <ahyp:hlinkClr xmlns:ahyp="http://schemas.microsoft.com/office/drawing/2018/hyperlinkcolor" val="tx"/>
                    </a:ext>
                  </a:extLst>
                </a:hlinkClick>
              </a:rPr>
              <a:t>Software Carpentry, Programming with Python</a:t>
            </a:r>
            <a:pPr indent="0" marL="0">
              <a:buNone/>
            </a:pPr>
            <a:r>
              <a:rPr lang="en-US" sz="1400" dirty="0">
                <a:solidFill>
                  <a:schemeClr val="tx1"/>
                </a:solidFill>
              </a:rPr>
              <a:t> (uses patient inflammation data).   </a:t>
            </a:r>
            <a:pPr indent="0" marL="0">
              <a:buNone/>
            </a:pPr>
            <a:r>
              <a:rPr lang="en-US" sz="1400" b="1" dirty="0">
                <a:solidFill>
                  <a:schemeClr val="tx2"/>
                </a:solidFill>
              </a:rPr>
              <a:t>R: </a:t>
            </a:r>
            <a:pPr indent="0" marL="0">
              <a:buNone/>
            </a:pPr>
            <a:r>
              <a:rPr lang="en-US" sz="1400" u="sng" dirty="0">
                <a:solidFill>
                  <a:schemeClr val="accent1"/>
                </a:solidFill>
                <a:hlinkClick r:id="rId11" invalidUrl="" action="" tgtFrame="" tooltip="" history="1" highlightClick="0" endSnd="0">
                  <a:extLst>
                    <a:ext uri="{A12FA001-AC4F-418D-AE19-62706E023703}">
                      <ahyp:hlinkClr xmlns:ahyp="http://schemas.microsoft.com/office/drawing/2018/hyperlinkcolor" val="tx"/>
                    </a:ext>
                  </a:extLst>
                </a:hlinkClick>
              </a:rPr>
              <a:t>R for Data Science, 2nd edition</a:t>
            </a:r>
            <a:pPr indent="0" marL="0">
              <a:buNone/>
            </a:pPr>
            <a:r>
              <a:rPr lang="en-US" sz="1400" dirty="0">
                <a:solidFill>
                  <a:schemeClr val="tx1"/>
                </a:solidFill>
              </a:rPr>
              <a:t> (Whole game chapters).</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Start with a study question</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Question"/>
          <p:cNvSpPr/>
          <p:nvPr/>
        </p:nvSpPr>
        <p:spPr>
          <a:xfrm>
            <a:off x="3749040" y="6291072"/>
            <a:ext cx="182880" cy="182880"/>
          </a:xfrm>
          <a:prstGeom prst="ellipse">
            <a:avLst/>
          </a:prstGeom>
          <a:solidFill>
            <a:schemeClr val="accent1"/>
          </a:solidFill>
          <a:ln w="12700">
            <a:solidFill>
              <a:schemeClr val="accent1"/>
            </a:solidFill>
            <a:prstDash val="solid"/>
          </a:ln>
        </p:spPr>
      </p:sp>
      <p:sp>
        <p:nvSpPr>
          <p:cNvPr id="5"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Question</a:t>
            </a:r>
            <a:endParaRPr lang="en-US" sz="1000" dirty="0"/>
          </a:p>
        </p:txBody>
      </p:sp>
      <p:sp>
        <p:nvSpPr>
          <p:cNvPr id="6" name="tracker Load"/>
          <p:cNvSpPr/>
          <p:nvPr/>
        </p:nvSpPr>
        <p:spPr>
          <a:xfrm>
            <a:off x="4717161" y="6327648"/>
            <a:ext cx="109728" cy="109728"/>
          </a:xfrm>
          <a:prstGeom prst="ellipse">
            <a:avLst/>
          </a:prstGeom>
          <a:solidFill>
            <a:schemeClr val="bg1"/>
          </a:solidFill>
          <a:ln w="12700">
            <a:solidFill>
              <a:schemeClr val="accent5"/>
            </a:solidFill>
            <a:prstDash val="solid"/>
          </a:ln>
        </p:spPr>
      </p:sp>
      <p:sp>
        <p:nvSpPr>
          <p:cNvPr id="7"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8" name="tracker Clean"/>
          <p:cNvSpPr/>
          <p:nvPr/>
        </p:nvSpPr>
        <p:spPr>
          <a:xfrm>
            <a:off x="5648706" y="6327648"/>
            <a:ext cx="109728" cy="109728"/>
          </a:xfrm>
          <a:prstGeom prst="ellipse">
            <a:avLst/>
          </a:prstGeom>
          <a:solidFill>
            <a:schemeClr val="bg1"/>
          </a:solidFill>
          <a:ln w="12700">
            <a:solidFill>
              <a:schemeClr val="accent5"/>
            </a:solidFill>
            <a:prstDash val="solid"/>
          </a:ln>
        </p:spPr>
      </p:sp>
      <p:sp>
        <p:nvSpPr>
          <p:cNvPr id="9"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0"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1"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2"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3"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4"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5"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6"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7"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8"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19"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0"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1"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2" name="card"/>
          <p:cNvSpPr/>
          <p:nvPr/>
        </p:nvSpPr>
        <p:spPr>
          <a:xfrm>
            <a:off x="457200" y="1325880"/>
            <a:ext cx="6766560" cy="868680"/>
          </a:xfrm>
          <a:prstGeom prst="roundRect">
            <a:avLst>
              <a:gd name="adj" fmla="val 10526"/>
            </a:avLst>
          </a:prstGeom>
          <a:solidFill>
            <a:schemeClr val="bg2"/>
          </a:solidFill>
          <a:ln w="12700">
            <a:solidFill>
              <a:schemeClr val="bg2"/>
            </a:solidFill>
            <a:prstDash val="solid"/>
          </a:ln>
        </p:spPr>
      </p:sp>
      <p:sp>
        <p:nvSpPr>
          <p:cNvPr id="23" name="Text 21"/>
          <p:cNvSpPr txBox="1"/>
          <p:nvPr/>
        </p:nvSpPr>
        <p:spPr>
          <a:xfrm>
            <a:off x="685800" y="1325880"/>
            <a:ext cx="1737360" cy="868680"/>
          </a:xfrm>
          <a:prstGeom prst="rect">
            <a:avLst/>
          </a:prstGeom>
          <a:noFill/>
          <a:ln/>
        </p:spPr>
        <p:txBody>
          <a:bodyPr wrap="square" lIns="0" tIns="0" rIns="0" bIns="0" rtlCol="0" anchor="ctr"/>
          <a:lstStyle/>
          <a:p>
            <a:pPr indent="0" marL="0">
              <a:buNone/>
            </a:pPr>
            <a:r>
              <a:rPr lang="en-US" sz="1600" b="1" dirty="0">
                <a:solidFill>
                  <a:schemeClr val="accent1"/>
                </a:solidFill>
              </a:rPr>
              <a:t>Population</a:t>
            </a:r>
            <a:endParaRPr lang="en-US" sz="1600" dirty="0"/>
          </a:p>
        </p:txBody>
      </p:sp>
      <p:sp>
        <p:nvSpPr>
          <p:cNvPr id="24" name="Text 22"/>
          <p:cNvSpPr txBox="1"/>
          <p:nvPr/>
        </p:nvSpPr>
        <p:spPr>
          <a:xfrm>
            <a:off x="2468880" y="1325880"/>
            <a:ext cx="4572000" cy="868680"/>
          </a:xfrm>
          <a:prstGeom prst="rect">
            <a:avLst/>
          </a:prstGeom>
          <a:noFill/>
          <a:ln/>
        </p:spPr>
        <p:txBody>
          <a:bodyPr wrap="square" lIns="0" tIns="0" rIns="0" bIns="0" rtlCol="0" anchor="ctr"/>
          <a:lstStyle/>
          <a:p>
            <a:pPr indent="0" marL="0">
              <a:buNone/>
            </a:pPr>
            <a:r>
              <a:rPr lang="en-US" sz="1500" dirty="0">
                <a:solidFill>
                  <a:schemeClr val="tx1"/>
                </a:solidFill>
              </a:rPr>
              <a:t>Adults attending a cardiovascular risk clinic at three sites (A, B, C), 2022 to 2025</a:t>
            </a:r>
            <a:endParaRPr lang="en-US" sz="1500" dirty="0"/>
          </a:p>
        </p:txBody>
      </p:sp>
      <p:sp>
        <p:nvSpPr>
          <p:cNvPr id="25" name="card"/>
          <p:cNvSpPr/>
          <p:nvPr/>
        </p:nvSpPr>
        <p:spPr>
          <a:xfrm>
            <a:off x="457200" y="2350008"/>
            <a:ext cx="6766560" cy="868680"/>
          </a:xfrm>
          <a:prstGeom prst="roundRect">
            <a:avLst>
              <a:gd name="adj" fmla="val 10526"/>
            </a:avLst>
          </a:prstGeom>
          <a:solidFill>
            <a:schemeClr val="bg2"/>
          </a:solidFill>
          <a:ln w="12700">
            <a:solidFill>
              <a:schemeClr val="bg2"/>
            </a:solidFill>
            <a:prstDash val="solid"/>
          </a:ln>
        </p:spPr>
      </p:sp>
      <p:sp>
        <p:nvSpPr>
          <p:cNvPr id="26" name="Text 24"/>
          <p:cNvSpPr txBox="1"/>
          <p:nvPr/>
        </p:nvSpPr>
        <p:spPr>
          <a:xfrm>
            <a:off x="685800" y="2350008"/>
            <a:ext cx="1737360" cy="868680"/>
          </a:xfrm>
          <a:prstGeom prst="rect">
            <a:avLst/>
          </a:prstGeom>
          <a:noFill/>
          <a:ln/>
        </p:spPr>
        <p:txBody>
          <a:bodyPr wrap="square" lIns="0" tIns="0" rIns="0" bIns="0" rtlCol="0" anchor="ctr"/>
          <a:lstStyle/>
          <a:p>
            <a:pPr indent="0" marL="0">
              <a:buNone/>
            </a:pPr>
            <a:r>
              <a:rPr lang="en-US" sz="1600" b="1" dirty="0">
                <a:solidFill>
                  <a:schemeClr val="accent1"/>
                </a:solidFill>
              </a:rPr>
              <a:t>Comparison</a:t>
            </a:r>
            <a:endParaRPr lang="en-US" sz="1600" dirty="0"/>
          </a:p>
        </p:txBody>
      </p:sp>
      <p:sp>
        <p:nvSpPr>
          <p:cNvPr id="27" name="Text 25"/>
          <p:cNvSpPr txBox="1"/>
          <p:nvPr/>
        </p:nvSpPr>
        <p:spPr>
          <a:xfrm>
            <a:off x="2468880" y="2350008"/>
            <a:ext cx="4572000" cy="868680"/>
          </a:xfrm>
          <a:prstGeom prst="rect">
            <a:avLst/>
          </a:prstGeom>
          <a:noFill/>
          <a:ln/>
        </p:spPr>
        <p:txBody>
          <a:bodyPr wrap="square" lIns="0" tIns="0" rIns="0" bIns="0" rtlCol="0" anchor="ctr"/>
          <a:lstStyle/>
          <a:p>
            <a:pPr indent="0" marL="0">
              <a:buNone/>
            </a:pPr>
            <a:r>
              <a:rPr lang="en-US" sz="1500" dirty="0">
                <a:solidFill>
                  <a:schemeClr val="tx1"/>
                </a:solidFill>
              </a:rPr>
              <a:t>Patients with diabetes versus without diabetes</a:t>
            </a:r>
            <a:endParaRPr lang="en-US" sz="1500" dirty="0"/>
          </a:p>
        </p:txBody>
      </p:sp>
      <p:sp>
        <p:nvSpPr>
          <p:cNvPr id="28" name="card"/>
          <p:cNvSpPr/>
          <p:nvPr/>
        </p:nvSpPr>
        <p:spPr>
          <a:xfrm>
            <a:off x="457200" y="3374136"/>
            <a:ext cx="6766560" cy="868680"/>
          </a:xfrm>
          <a:prstGeom prst="roundRect">
            <a:avLst>
              <a:gd name="adj" fmla="val 10526"/>
            </a:avLst>
          </a:prstGeom>
          <a:solidFill>
            <a:schemeClr val="bg2"/>
          </a:solidFill>
          <a:ln w="12700">
            <a:solidFill>
              <a:schemeClr val="bg2"/>
            </a:solidFill>
            <a:prstDash val="solid"/>
          </a:ln>
        </p:spPr>
      </p:sp>
      <p:sp>
        <p:nvSpPr>
          <p:cNvPr id="29" name="Text 27"/>
          <p:cNvSpPr txBox="1"/>
          <p:nvPr/>
        </p:nvSpPr>
        <p:spPr>
          <a:xfrm>
            <a:off x="685800" y="3374136"/>
            <a:ext cx="1737360" cy="868680"/>
          </a:xfrm>
          <a:prstGeom prst="rect">
            <a:avLst/>
          </a:prstGeom>
          <a:noFill/>
          <a:ln/>
        </p:spPr>
        <p:txBody>
          <a:bodyPr wrap="square" lIns="0" tIns="0" rIns="0" bIns="0" rtlCol="0" anchor="ctr"/>
          <a:lstStyle/>
          <a:p>
            <a:pPr indent="0" marL="0">
              <a:buNone/>
            </a:pPr>
            <a:r>
              <a:rPr lang="en-US" sz="1600" b="1" dirty="0">
                <a:solidFill>
                  <a:schemeClr val="accent1"/>
                </a:solidFill>
              </a:rPr>
              <a:t>Outcome</a:t>
            </a:r>
            <a:endParaRPr lang="en-US" sz="1600" dirty="0"/>
          </a:p>
        </p:txBody>
      </p:sp>
      <p:sp>
        <p:nvSpPr>
          <p:cNvPr id="30" name="Text 28"/>
          <p:cNvSpPr txBox="1"/>
          <p:nvPr/>
        </p:nvSpPr>
        <p:spPr>
          <a:xfrm>
            <a:off x="2468880" y="3374136"/>
            <a:ext cx="4572000" cy="868680"/>
          </a:xfrm>
          <a:prstGeom prst="rect">
            <a:avLst/>
          </a:prstGeom>
          <a:noFill/>
          <a:ln/>
        </p:spPr>
        <p:txBody>
          <a:bodyPr wrap="square" lIns="0" tIns="0" rIns="0" bIns="0" rtlCol="0" anchor="ctr"/>
          <a:lstStyle/>
          <a:p>
            <a:pPr indent="0" marL="0">
              <a:buNone/>
            </a:pPr>
            <a:r>
              <a:rPr lang="en-US" sz="1500" dirty="0">
                <a:solidFill>
                  <a:schemeClr val="tx1"/>
                </a:solidFill>
              </a:rPr>
              <a:t>Systolic blood pressure at the baseline visit, in mmHg</a:t>
            </a:r>
            <a:endParaRPr lang="en-US" sz="1500" dirty="0"/>
          </a:p>
        </p:txBody>
      </p:sp>
      <p:sp>
        <p:nvSpPr>
          <p:cNvPr id="31" name="card"/>
          <p:cNvSpPr/>
          <p:nvPr/>
        </p:nvSpPr>
        <p:spPr>
          <a:xfrm>
            <a:off x="457200" y="4398264"/>
            <a:ext cx="6766560" cy="868680"/>
          </a:xfrm>
          <a:prstGeom prst="roundRect">
            <a:avLst>
              <a:gd name="adj" fmla="val 10526"/>
            </a:avLst>
          </a:prstGeom>
          <a:solidFill>
            <a:schemeClr val="accent4"/>
          </a:solidFill>
          <a:ln w="12700">
            <a:solidFill>
              <a:schemeClr val="accent4"/>
            </a:solidFill>
            <a:prstDash val="solid"/>
          </a:ln>
        </p:spPr>
      </p:sp>
      <p:sp>
        <p:nvSpPr>
          <p:cNvPr id="32" name="Text 30"/>
          <p:cNvSpPr txBox="1"/>
          <p:nvPr/>
        </p:nvSpPr>
        <p:spPr>
          <a:xfrm>
            <a:off x="685800" y="4398264"/>
            <a:ext cx="1737360" cy="868680"/>
          </a:xfrm>
          <a:prstGeom prst="rect">
            <a:avLst/>
          </a:prstGeom>
          <a:noFill/>
          <a:ln/>
        </p:spPr>
        <p:txBody>
          <a:bodyPr wrap="square" lIns="0" tIns="0" rIns="0" bIns="0" rtlCol="0" anchor="ctr"/>
          <a:lstStyle/>
          <a:p>
            <a:pPr indent="0" marL="0">
              <a:buNone/>
            </a:pPr>
            <a:r>
              <a:rPr lang="en-US" sz="1600" b="1" dirty="0">
                <a:solidFill>
                  <a:schemeClr val="accent1"/>
                </a:solidFill>
              </a:rPr>
              <a:t>Unit of analysis</a:t>
            </a:r>
            <a:endParaRPr lang="en-US" sz="1600" dirty="0"/>
          </a:p>
        </p:txBody>
      </p:sp>
      <p:sp>
        <p:nvSpPr>
          <p:cNvPr id="33" name="Text 31"/>
          <p:cNvSpPr txBox="1"/>
          <p:nvPr/>
        </p:nvSpPr>
        <p:spPr>
          <a:xfrm>
            <a:off x="2468880" y="4398264"/>
            <a:ext cx="4572000" cy="868680"/>
          </a:xfrm>
          <a:prstGeom prst="rect">
            <a:avLst/>
          </a:prstGeom>
          <a:noFill/>
          <a:ln/>
        </p:spPr>
        <p:txBody>
          <a:bodyPr wrap="square" lIns="0" tIns="0" rIns="0" bIns="0" rtlCol="0" anchor="ctr"/>
          <a:lstStyle/>
          <a:p>
            <a:pPr indent="0" marL="0">
              <a:buNone/>
            </a:pPr>
            <a:r>
              <a:rPr lang="en-US" sz="1500" dirty="0">
                <a:solidFill>
                  <a:schemeClr val="tx1"/>
                </a:solidFill>
              </a:rPr>
              <a:t>One row = one clinic visit. The study question uses one row per patient (visit 1).</a:t>
            </a:r>
            <a:endParaRPr lang="en-US" sz="1500" dirty="0"/>
          </a:p>
        </p:txBody>
      </p:sp>
      <p:sp>
        <p:nvSpPr>
          <p:cNvPr id="34" name="Text 32"/>
          <p:cNvSpPr txBox="1"/>
          <p:nvPr/>
        </p:nvSpPr>
        <p:spPr>
          <a:xfrm>
            <a:off x="7680960" y="1280160"/>
            <a:ext cx="1325880" cy="777240"/>
          </a:xfrm>
          <a:prstGeom prst="rect">
            <a:avLst/>
          </a:prstGeom>
          <a:noFill/>
          <a:ln/>
        </p:spPr>
        <p:txBody>
          <a:bodyPr wrap="square" lIns="0" tIns="0" rIns="0" bIns="0" rtlCol="0" anchor="ctr"/>
          <a:lstStyle/>
          <a:p>
            <a:pPr indent="0" marL="0">
              <a:buNone/>
            </a:pPr>
            <a:r>
              <a:rPr lang="en-US" sz="4000" b="1" dirty="0">
                <a:solidFill>
                  <a:schemeClr val="accent1"/>
                </a:solidFill>
              </a:rPr>
              <a:t>550</a:t>
            </a:r>
            <a:endParaRPr lang="en-US" sz="4000" dirty="0"/>
          </a:p>
        </p:txBody>
      </p:sp>
      <p:sp>
        <p:nvSpPr>
          <p:cNvPr id="35" name="Text 33"/>
          <p:cNvSpPr txBox="1"/>
          <p:nvPr/>
        </p:nvSpPr>
        <p:spPr>
          <a:xfrm>
            <a:off x="7680960" y="2057400"/>
            <a:ext cx="1325880" cy="320040"/>
          </a:xfrm>
          <a:prstGeom prst="rect">
            <a:avLst/>
          </a:prstGeom>
          <a:noFill/>
          <a:ln/>
        </p:spPr>
        <p:txBody>
          <a:bodyPr wrap="square" lIns="0" tIns="0" rIns="0" bIns="0" rtlCol="0" anchor="ctr"/>
          <a:lstStyle/>
          <a:p>
            <a:pPr indent="0" marL="0">
              <a:buNone/>
            </a:pPr>
            <a:r>
              <a:rPr lang="en-US" sz="1300" dirty="0">
                <a:solidFill>
                  <a:schemeClr val="tx2"/>
                </a:solidFill>
              </a:rPr>
              <a:t>rows (visits)</a:t>
            </a:r>
            <a:endParaRPr lang="en-US" sz="1300" dirty="0"/>
          </a:p>
        </p:txBody>
      </p:sp>
      <p:sp>
        <p:nvSpPr>
          <p:cNvPr id="36" name="Text 34"/>
          <p:cNvSpPr txBox="1"/>
          <p:nvPr/>
        </p:nvSpPr>
        <p:spPr>
          <a:xfrm>
            <a:off x="9052560" y="1280160"/>
            <a:ext cx="1325880" cy="777240"/>
          </a:xfrm>
          <a:prstGeom prst="rect">
            <a:avLst/>
          </a:prstGeom>
          <a:noFill/>
          <a:ln/>
        </p:spPr>
        <p:txBody>
          <a:bodyPr wrap="square" lIns="0" tIns="0" rIns="0" bIns="0" rtlCol="0" anchor="ctr"/>
          <a:lstStyle/>
          <a:p>
            <a:pPr indent="0" marL="0">
              <a:buNone/>
            </a:pPr>
            <a:r>
              <a:rPr lang="en-US" sz="4000" b="1" dirty="0">
                <a:solidFill>
                  <a:schemeClr val="accent1"/>
                </a:solidFill>
              </a:rPr>
              <a:t>420</a:t>
            </a:r>
            <a:endParaRPr lang="en-US" sz="4000" dirty="0"/>
          </a:p>
        </p:txBody>
      </p:sp>
      <p:sp>
        <p:nvSpPr>
          <p:cNvPr id="37" name="Text 35"/>
          <p:cNvSpPr txBox="1"/>
          <p:nvPr/>
        </p:nvSpPr>
        <p:spPr>
          <a:xfrm>
            <a:off x="9052560" y="2057400"/>
            <a:ext cx="1325880" cy="320040"/>
          </a:xfrm>
          <a:prstGeom prst="rect">
            <a:avLst/>
          </a:prstGeom>
          <a:noFill/>
          <a:ln/>
        </p:spPr>
        <p:txBody>
          <a:bodyPr wrap="square" lIns="0" tIns="0" rIns="0" bIns="0" rtlCol="0" anchor="ctr"/>
          <a:lstStyle/>
          <a:p>
            <a:pPr indent="0" marL="0">
              <a:buNone/>
            </a:pPr>
            <a:r>
              <a:rPr lang="en-US" sz="1300" dirty="0">
                <a:solidFill>
                  <a:schemeClr val="tx2"/>
                </a:solidFill>
              </a:rPr>
              <a:t>patients</a:t>
            </a:r>
            <a:endParaRPr lang="en-US" sz="1300" dirty="0"/>
          </a:p>
        </p:txBody>
      </p:sp>
      <p:sp>
        <p:nvSpPr>
          <p:cNvPr id="38" name="Text 36"/>
          <p:cNvSpPr txBox="1"/>
          <p:nvPr/>
        </p:nvSpPr>
        <p:spPr>
          <a:xfrm>
            <a:off x="10424160" y="1280160"/>
            <a:ext cx="1325880" cy="777240"/>
          </a:xfrm>
          <a:prstGeom prst="rect">
            <a:avLst/>
          </a:prstGeom>
          <a:noFill/>
          <a:ln/>
        </p:spPr>
        <p:txBody>
          <a:bodyPr wrap="square" lIns="0" tIns="0" rIns="0" bIns="0" rtlCol="0" anchor="ctr"/>
          <a:lstStyle/>
          <a:p>
            <a:pPr indent="0" marL="0">
              <a:buNone/>
            </a:pPr>
            <a:r>
              <a:rPr lang="en-US" sz="4000" b="1" dirty="0">
                <a:solidFill>
                  <a:schemeClr val="accent1"/>
                </a:solidFill>
              </a:rPr>
              <a:t>3</a:t>
            </a:r>
            <a:endParaRPr lang="en-US" sz="4000" dirty="0"/>
          </a:p>
        </p:txBody>
      </p:sp>
      <p:sp>
        <p:nvSpPr>
          <p:cNvPr id="39" name="Text 37"/>
          <p:cNvSpPr txBox="1"/>
          <p:nvPr/>
        </p:nvSpPr>
        <p:spPr>
          <a:xfrm>
            <a:off x="10424160" y="2057400"/>
            <a:ext cx="1325880" cy="320040"/>
          </a:xfrm>
          <a:prstGeom prst="rect">
            <a:avLst/>
          </a:prstGeom>
          <a:noFill/>
          <a:ln/>
        </p:spPr>
        <p:txBody>
          <a:bodyPr wrap="square" lIns="0" tIns="0" rIns="0" bIns="0" rtlCol="0" anchor="ctr"/>
          <a:lstStyle/>
          <a:p>
            <a:pPr indent="0" marL="0">
              <a:buNone/>
            </a:pPr>
            <a:r>
              <a:rPr lang="en-US" sz="1300" dirty="0">
                <a:solidFill>
                  <a:schemeClr val="tx2"/>
                </a:solidFill>
              </a:rPr>
              <a:t>sites</a:t>
            </a:r>
            <a:endParaRPr lang="en-US" sz="1300" dirty="0"/>
          </a:p>
        </p:txBody>
      </p:sp>
      <p:sp>
        <p:nvSpPr>
          <p:cNvPr id="40" name="Text 38"/>
          <p:cNvSpPr txBox="1"/>
          <p:nvPr/>
        </p:nvSpPr>
        <p:spPr>
          <a:xfrm>
            <a:off x="7680960" y="2697480"/>
            <a:ext cx="4023360" cy="1920240"/>
          </a:xfrm>
          <a:prstGeom prst="rect">
            <a:avLst/>
          </a:prstGeom>
          <a:noFill/>
          <a:ln/>
        </p:spPr>
        <p:txBody>
          <a:bodyPr wrap="square" lIns="0" tIns="0" rIns="0" bIns="0" rtlCol="0" anchor="t"/>
          <a:lstStyle/>
          <a:p>
            <a:pPr indent="0" marL="0">
              <a:buNone/>
            </a:pPr>
            <a:r>
              <a:rPr lang="en-US" sz="1400" b="1" dirty="0">
                <a:solidFill>
                  <a:schemeClr val="tx1"/>
                </a:solidFill>
              </a:rPr>
              <a:t>Synthetic dataset</a:t>
            </a:r>
            <a:endParaRPr lang="en-US" sz="1400" dirty="0"/>
          </a:p>
          <a:p>
            <a:pPr indent="0" marL="0">
              <a:buNone/>
            </a:pPr>
            <a:r>
              <a:rPr lang="en-US" sz="1400" dirty="0">
                <a:solidFill>
                  <a:schemeClr val="tx1"/>
                </a:solidFill>
              </a:rPr>
              <a:t>data/clinic_visits.csv was generated for this quickstart (regenerate with scripts/make_dataset.py). It contains no real patients. Realistic problems were planted on purpose: inconsistent labels, a unit mismatch, duplicate records, impossible values and structured missingness.</a:t>
            </a:r>
            <a:endParaRPr lang="en-US" sz="1400" dirty="0"/>
          </a:p>
        </p:txBody>
      </p:sp>
      <p:sp>
        <p:nvSpPr>
          <p:cNvPr id="41" name="Text 39"/>
          <p:cNvSpPr txBox="1"/>
          <p:nvPr/>
        </p:nvSpPr>
        <p:spPr>
          <a:xfrm>
            <a:off x="7680960" y="4709160"/>
            <a:ext cx="4023360" cy="1097280"/>
          </a:xfrm>
          <a:prstGeom prst="rect">
            <a:avLst/>
          </a:prstGeom>
          <a:noFill/>
          <a:ln/>
        </p:spPr>
        <p:txBody>
          <a:bodyPr wrap="square" lIns="0" tIns="0" rIns="0" bIns="0" rtlCol="0" anchor="t"/>
          <a:lstStyle/>
          <a:p>
            <a:pPr indent="0" marL="0">
              <a:buNone/>
            </a:pPr>
            <a:r>
              <a:rPr lang="en-US" sz="1400" i="1" dirty="0">
                <a:solidFill>
                  <a:schemeClr val="accent1"/>
                </a:solidFill>
              </a:rPr>
              <a:t>A written question decides which rows, variables and comparisons matter, and keeps exploration from turning into a search for significant results.</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Data dictionary</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Question"/>
          <p:cNvSpPr/>
          <p:nvPr/>
        </p:nvSpPr>
        <p:spPr>
          <a:xfrm>
            <a:off x="3749040" y="6291072"/>
            <a:ext cx="182880" cy="182880"/>
          </a:xfrm>
          <a:prstGeom prst="ellipse">
            <a:avLst/>
          </a:prstGeom>
          <a:solidFill>
            <a:schemeClr val="accent1"/>
          </a:solidFill>
          <a:ln w="12700">
            <a:solidFill>
              <a:schemeClr val="accent1"/>
            </a:solidFill>
            <a:prstDash val="solid"/>
          </a:ln>
        </p:spPr>
      </p:sp>
      <p:sp>
        <p:nvSpPr>
          <p:cNvPr id="5"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Question</a:t>
            </a:r>
            <a:endParaRPr lang="en-US" sz="1000" dirty="0"/>
          </a:p>
        </p:txBody>
      </p:sp>
      <p:sp>
        <p:nvSpPr>
          <p:cNvPr id="6" name="tracker Load"/>
          <p:cNvSpPr/>
          <p:nvPr/>
        </p:nvSpPr>
        <p:spPr>
          <a:xfrm>
            <a:off x="4717161" y="6327648"/>
            <a:ext cx="109728" cy="109728"/>
          </a:xfrm>
          <a:prstGeom prst="ellipse">
            <a:avLst/>
          </a:prstGeom>
          <a:solidFill>
            <a:schemeClr val="bg1"/>
          </a:solidFill>
          <a:ln w="12700">
            <a:solidFill>
              <a:schemeClr val="accent5"/>
            </a:solidFill>
            <a:prstDash val="solid"/>
          </a:ln>
        </p:spPr>
      </p:sp>
      <p:sp>
        <p:nvSpPr>
          <p:cNvPr id="7"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8" name="tracker Clean"/>
          <p:cNvSpPr/>
          <p:nvPr/>
        </p:nvSpPr>
        <p:spPr>
          <a:xfrm>
            <a:off x="5648706" y="6327648"/>
            <a:ext cx="109728" cy="109728"/>
          </a:xfrm>
          <a:prstGeom prst="ellipse">
            <a:avLst/>
          </a:prstGeom>
          <a:solidFill>
            <a:schemeClr val="bg1"/>
          </a:solidFill>
          <a:ln w="12700">
            <a:solidFill>
              <a:schemeClr val="accent5"/>
            </a:solidFill>
            <a:prstDash val="solid"/>
          </a:ln>
        </p:spPr>
      </p:sp>
      <p:sp>
        <p:nvSpPr>
          <p:cNvPr id="9"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0"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1"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2"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3"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4"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5"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6"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7"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8"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19"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0"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1"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321040" cy="914400"/>
        </p:xfrm>
        <a:graphic>
          <a:graphicData uri="http://schemas.openxmlformats.org/drawingml/2006/table">
            <a:tbl>
              <a:tblPr/>
              <a:tblGrid>
                <a:gridCol w="2514600"/>
                <a:gridCol w="1508760"/>
                <a:gridCol w="822960"/>
                <a:gridCol w="3474720"/>
              </a:tblGrid>
              <a:tr h="329184">
                <a:tc>
                  <a:txBody>
                    <a:bodyPr/>
                    <a:lstStyle/>
                    <a:p>
                      <a:pPr indent="0" marL="0">
                        <a:buNone/>
                      </a:pPr>
                      <a:r>
                        <a:rPr lang="en-US" sz="1200" b="1" dirty="0">
                          <a:solidFill>
                            <a:schemeClr val="bg1"/>
                          </a:solidFill>
                        </a:rPr>
                        <a:t>Variable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Type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Unit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Coding and notes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patient_id</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Identifier</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P0001 to P0420. Never a model input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visit</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Discrete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1 = baseline, 2 = follow-up</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visit_date</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Date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YYYY-MM-DD</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site</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Nominal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A, B, C</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age</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Continuous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years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At the visit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sex</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Binary (nominal)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female, male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height_cm, weight_kg</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Continuous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cm, kg</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Measured at the visit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systolic_bp, diastolic_bp</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Continuous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mmHg</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Seated, clinic measurement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cholesterol_total, hdl</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Continuous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mg/dL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Fasting lipid panel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crp</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Continuous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mg/L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"&lt;0.3" = below the assay detection limit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smoking_status</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Nominal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never, former, current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diabetes, statin</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Binary</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0 = no, 1 = yes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ccs_class</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Ordinal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Angina class: 0 = none, 1 to 4 = CCS class I to IV</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3" name="card"/>
          <p:cNvSpPr/>
          <p:nvPr/>
        </p:nvSpPr>
        <p:spPr>
          <a:xfrm>
            <a:off x="9052560" y="1188720"/>
            <a:ext cx="2679192" cy="4663440"/>
          </a:xfrm>
          <a:prstGeom prst="roundRect">
            <a:avLst>
              <a:gd name="adj" fmla="val 3413"/>
            </a:avLst>
          </a:prstGeom>
          <a:solidFill>
            <a:schemeClr val="accent4"/>
          </a:solidFill>
          <a:ln w="12700">
            <a:solidFill>
              <a:schemeClr val="accent4"/>
            </a:solidFill>
            <a:prstDash val="solid"/>
          </a:ln>
        </p:spPr>
      </p:sp>
      <p:sp>
        <p:nvSpPr>
          <p:cNvPr id="24" name="Text 21"/>
          <p:cNvSpPr txBox="1"/>
          <p:nvPr/>
        </p:nvSpPr>
        <p:spPr>
          <a:xfrm>
            <a:off x="9235440" y="1371600"/>
            <a:ext cx="2331720" cy="4297680"/>
          </a:xfrm>
          <a:prstGeom prst="rect">
            <a:avLst/>
          </a:prstGeom>
          <a:noFill/>
          <a:ln/>
        </p:spPr>
        <p:txBody>
          <a:bodyPr wrap="square" lIns="0" tIns="0" rIns="0" bIns="0" rtlCol="0" anchor="t"/>
          <a:lstStyle/>
          <a:p>
            <a:pPr indent="0" marL="0">
              <a:buNone/>
            </a:pPr>
            <a:r>
              <a:rPr lang="en-US" sz="1400" b="1" dirty="0">
                <a:solidFill>
                  <a:schemeClr val="accent1"/>
                </a:solidFill>
              </a:rPr>
              <a:t>Missing-value codes</a:t>
            </a:r>
            <a:endParaRPr lang="en-US" sz="1400" dirty="0"/>
          </a:p>
          <a:p>
            <a:pPr indent="0" marL="0">
              <a:buNone/>
            </a:pPr>
            <a:r>
              <a:rPr lang="en-US" sz="1400" dirty="0">
                <a:solidFill>
                  <a:schemeClr val="tx1"/>
                </a:solidFill>
              </a:rPr>
              <a:t>Blank or -99 = not recorded.</a:t>
            </a:r>
            <a:endParaRPr lang="en-US" sz="1400" dirty="0"/>
          </a:p>
          <a:p>
            <a:pPr indent="0" marL="0">
              <a:buNone/>
            </a:pPr>
            <a:r>
              <a:rPr lang="en-US" sz="800" dirty="0">
                <a:solidFill>
                  <a:schemeClr val="tx1"/>
                </a:solidFill>
              </a:rPr>
              <a:t> </a:t>
            </a:r>
            <a:endParaRPr lang="en-US" sz="1400" dirty="0"/>
          </a:p>
          <a:p>
            <a:pPr indent="0" marL="0">
              <a:buNone/>
            </a:pPr>
            <a:r>
              <a:rPr lang="en-US" sz="1400" b="1" dirty="0">
                <a:solidFill>
                  <a:schemeClr val="accent1"/>
                </a:solidFill>
              </a:rPr>
              <a:t>Write down before analysis</a:t>
            </a:r>
            <a:endParaRPr lang="en-US" sz="1400" dirty="0"/>
          </a:p>
          <a:p>
            <a:pPr indent="0" marL="0">
              <a:buNone/>
            </a:pPr>
            <a:r>
              <a:rPr lang="en-US" sz="1400" dirty="0">
                <a:solidFill>
                  <a:schemeClr val="tx1"/>
                </a:solidFill>
              </a:rPr>
              <a:t>Units for every measurement, the meaning of each category code, how missing values are coded, and whether a row is a patient, a visit or a specimen.</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What the raw data look like</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Question"/>
          <p:cNvSpPr/>
          <p:nvPr/>
        </p:nvSpPr>
        <p:spPr>
          <a:xfrm>
            <a:off x="3749040" y="6291072"/>
            <a:ext cx="182880" cy="182880"/>
          </a:xfrm>
          <a:prstGeom prst="ellipse">
            <a:avLst/>
          </a:prstGeom>
          <a:solidFill>
            <a:schemeClr val="accent1"/>
          </a:solidFill>
          <a:ln w="12700">
            <a:solidFill>
              <a:schemeClr val="accent1"/>
            </a:solidFill>
            <a:prstDash val="solid"/>
          </a:ln>
        </p:spPr>
      </p:sp>
      <p:sp>
        <p:nvSpPr>
          <p:cNvPr id="5"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Question</a:t>
            </a:r>
            <a:endParaRPr lang="en-US" sz="1000" dirty="0"/>
          </a:p>
        </p:txBody>
      </p:sp>
      <p:sp>
        <p:nvSpPr>
          <p:cNvPr id="6" name="tracker Load"/>
          <p:cNvSpPr/>
          <p:nvPr/>
        </p:nvSpPr>
        <p:spPr>
          <a:xfrm>
            <a:off x="4717161" y="6327648"/>
            <a:ext cx="109728" cy="109728"/>
          </a:xfrm>
          <a:prstGeom prst="ellipse">
            <a:avLst/>
          </a:prstGeom>
          <a:solidFill>
            <a:schemeClr val="bg1"/>
          </a:solidFill>
          <a:ln w="12700">
            <a:solidFill>
              <a:schemeClr val="accent5"/>
            </a:solidFill>
            <a:prstDash val="solid"/>
          </a:ln>
        </p:spPr>
      </p:sp>
      <p:sp>
        <p:nvSpPr>
          <p:cNvPr id="7"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8" name="tracker Clean"/>
          <p:cNvSpPr/>
          <p:nvPr/>
        </p:nvSpPr>
        <p:spPr>
          <a:xfrm>
            <a:off x="5648706" y="6327648"/>
            <a:ext cx="109728" cy="109728"/>
          </a:xfrm>
          <a:prstGeom prst="ellipse">
            <a:avLst/>
          </a:prstGeom>
          <a:solidFill>
            <a:schemeClr val="bg1"/>
          </a:solidFill>
          <a:ln w="12700">
            <a:solidFill>
              <a:schemeClr val="accent5"/>
            </a:solidFill>
            <a:prstDash val="solid"/>
          </a:ln>
        </p:spPr>
      </p:sp>
      <p:sp>
        <p:nvSpPr>
          <p:cNvPr id="9"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0"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1"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2"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3"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4"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5"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6"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7"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8"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19"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0"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1"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4552" cy="914400"/>
        </p:xfrm>
        <a:graphic>
          <a:graphicData uri="http://schemas.openxmlformats.org/drawingml/2006/table">
            <a:tbl>
              <a:tblPr/>
              <a:tblGrid>
                <a:gridCol w="845840"/>
                <a:gridCol w="497553"/>
                <a:gridCol w="945351"/>
                <a:gridCol w="447798"/>
                <a:gridCol w="497553"/>
                <a:gridCol w="646819"/>
                <a:gridCol w="845840"/>
                <a:gridCol w="845840"/>
                <a:gridCol w="845840"/>
                <a:gridCol w="845840"/>
                <a:gridCol w="1114519"/>
                <a:gridCol w="497553"/>
                <a:gridCol w="597064"/>
                <a:gridCol w="1094617"/>
                <a:gridCol w="706525"/>
              </a:tblGrid>
              <a:tr h="310896">
                <a:tc>
                  <a:txBody>
                    <a:bodyPr/>
                    <a:lstStyle/>
                    <a:p>
                      <a:pPr algn="ctr" indent="0" marL="0">
                        <a:buNone/>
                      </a:pPr>
                      <a:r>
                        <a:rPr lang="en-US" sz="950" b="1" dirty="0">
                          <a:solidFill>
                            <a:schemeClr val="bg1"/>
                          </a:solidFill>
                        </a:rPr>
                        <a:t>patient_id</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950" b="1" dirty="0">
                          <a:solidFill>
                            <a:schemeClr val="bg1"/>
                          </a:solidFill>
                        </a:rPr>
                        <a:t>visit</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visit_date</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950" b="1" dirty="0">
                          <a:solidFill>
                            <a:schemeClr val="bg1"/>
                          </a:solidFill>
                        </a:rPr>
                        <a:t>site</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950" b="1" dirty="0">
                          <a:solidFill>
                            <a:schemeClr val="bg1"/>
                          </a:solidFill>
                        </a:rPr>
                        <a:t>age</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sex</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950" b="1" dirty="0">
                          <a:solidFill>
                            <a:schemeClr val="bg1"/>
                          </a:solidFill>
                        </a:rPr>
                        <a:t>height_cm</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weight_kg</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systolic_bp</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diastolic_bp</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cholesterol_total</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hdl</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crp</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950" b="1" dirty="0">
                          <a:solidFill>
                            <a:schemeClr val="bg1"/>
                          </a:solidFill>
                        </a:rPr>
                        <a:t>smoking_status</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c>
                  <a:txBody>
                    <a:bodyPr/>
                    <a:lstStyle/>
                    <a:p>
                      <a:pPr algn="ctr" indent="0" marL="0">
                        <a:buNone/>
                      </a:pPr>
                      <a:r>
                        <a:rPr lang="en-US" sz="950" b="1" dirty="0">
                          <a:solidFill>
                            <a:schemeClr val="bg1"/>
                          </a:solidFill>
                        </a:rPr>
                        <a:t>diabetes</a:t>
                      </a:r>
                      <a:endParaRPr lang="en-US" sz="95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2"/>
                    </a:solidFill>
                  </a:tcPr>
                </a:tc>
              </a:tr>
              <a:tr h="310896">
                <a:tc>
                  <a:txBody>
                    <a:bodyPr/>
                    <a:lstStyle/>
                    <a:p>
                      <a:pPr algn="ctr" indent="0" marL="0">
                        <a:buNone/>
                      </a:pPr>
                      <a:r>
                        <a:rPr lang="en-US" sz="1000" dirty="0">
                          <a:solidFill>
                            <a:schemeClr val="tx1"/>
                          </a:solidFill>
                        </a:rPr>
                        <a:t>P0001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2023-10-26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A</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59</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female</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165.9</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89</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132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63</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256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56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15.81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former</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algn="ctr" indent="0" marL="0">
                        <a:buNone/>
                      </a:pPr>
                      <a:r>
                        <a:rPr lang="en-US" sz="1000" dirty="0">
                          <a:solidFill>
                            <a:schemeClr val="tx1"/>
                          </a:solidFill>
                        </a:rPr>
                        <a:t>P0002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2022-08-13</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B</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64</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female</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171.0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96.9</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135</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82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&lt;0.3</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former</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algn="ctr" indent="0" marL="0">
                        <a:buNone/>
                      </a:pPr>
                      <a:r>
                        <a:rPr lang="en-US" sz="1000" dirty="0">
                          <a:solidFill>
                            <a:schemeClr val="tx1"/>
                          </a:solidFill>
                        </a:rPr>
                        <a:t>P0003</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2023-11-14</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B</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75</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male</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179.6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74.7</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115</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220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42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4.68</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current</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algn="ctr" indent="0" marL="0">
                        <a:buNone/>
                      </a:pPr>
                      <a:r>
                        <a:rPr lang="en-US" sz="1000" dirty="0">
                          <a:solidFill>
                            <a:schemeClr val="tx1"/>
                          </a:solidFill>
                        </a:rPr>
                        <a:t>P0003</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2024-08-06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B</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75</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male</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179.6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76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132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198</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38</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6.75</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current</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algn="ctr" indent="0" marL="0">
                        <a:buNone/>
                      </a:pPr>
                      <a:r>
                        <a:rPr lang="en-US" sz="1000" dirty="0">
                          <a:solidFill>
                            <a:schemeClr val="tx1"/>
                          </a:solidFill>
                        </a:rPr>
                        <a:t>P0004</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2022-06-26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A</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female</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166.4</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70.3</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132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56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281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45</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0.34</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current</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algn="ctr" indent="0" marL="0">
                        <a:buNone/>
                      </a:pPr>
                      <a:r>
                        <a:rPr lang="en-US" sz="1000" dirty="0">
                          <a:solidFill>
                            <a:schemeClr val="tx1"/>
                          </a:solidFill>
                        </a:rPr>
                        <a:t>P0004</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2023-04-10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A</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female</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166.4</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66.7</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134</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58</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262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42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0.47</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current</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10896">
                <a:tc>
                  <a:txBody>
                    <a:bodyPr/>
                    <a:lstStyle/>
                    <a:p>
                      <a:pPr algn="ctr" indent="0" marL="0">
                        <a:buNone/>
                      </a:pPr>
                      <a:r>
                        <a:rPr lang="en-US" sz="1000" dirty="0">
                          <a:solidFill>
                            <a:schemeClr val="tx1"/>
                          </a:solidFill>
                        </a:rPr>
                        <a:t>P0005</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2022-12-20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A</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63</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female</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149.6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59.2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116</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62</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198</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59</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4.78</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former</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00" dirty="0">
                          <a:solidFill>
                            <a:schemeClr val="tx1"/>
                          </a:solidFill>
                        </a:rPr>
                        <a:t>0</a:t>
                      </a:r>
                      <a:endParaRPr lang="en-US" sz="1000" dirty="0"/>
                    </a:p>
                  </a:txBody>
                  <a:tcPr marL="38100" marR="38100" marT="25400" marB="254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3" name="Shape 20"/>
          <p:cNvSpPr/>
          <p:nvPr/>
        </p:nvSpPr>
        <p:spPr>
          <a:xfrm>
            <a:off x="457200" y="4023360"/>
            <a:ext cx="274320" cy="201168"/>
          </a:xfrm>
          <a:prstGeom prst="rect">
            <a:avLst/>
          </a:prstGeom>
          <a:solidFill>
            <a:schemeClr val="accent1"/>
          </a:solidFill>
          <a:ln w="12700">
            <a:solidFill>
              <a:schemeClr val="accent1"/>
            </a:solidFill>
            <a:prstDash val="solid"/>
          </a:ln>
        </p:spPr>
      </p:sp>
      <p:sp>
        <p:nvSpPr>
          <p:cNvPr id="24" name="Text 21"/>
          <p:cNvSpPr txBox="1"/>
          <p:nvPr/>
        </p:nvSpPr>
        <p:spPr>
          <a:xfrm>
            <a:off x="822960" y="3986784"/>
            <a:ext cx="2286000" cy="274320"/>
          </a:xfrm>
          <a:prstGeom prst="rect">
            <a:avLst/>
          </a:prstGeom>
          <a:noFill/>
          <a:ln/>
        </p:spPr>
        <p:txBody>
          <a:bodyPr wrap="square" lIns="0" tIns="0" rIns="0" bIns="0" rtlCol="0" anchor="ctr"/>
          <a:lstStyle/>
          <a:p>
            <a:pPr indent="0" marL="0">
              <a:buNone/>
            </a:pPr>
            <a:r>
              <a:rPr lang="en-US" sz="1300" dirty="0">
                <a:solidFill>
                  <a:srgbClr val="000000"/>
                </a:solidFill>
              </a:rPr>
              <a:t>Numerical variables</a:t>
            </a:r>
            <a:endParaRPr lang="en-US" sz="1300" dirty="0"/>
          </a:p>
        </p:txBody>
      </p:sp>
      <p:sp>
        <p:nvSpPr>
          <p:cNvPr id="25" name="Shape 22"/>
          <p:cNvSpPr/>
          <p:nvPr/>
        </p:nvSpPr>
        <p:spPr>
          <a:xfrm>
            <a:off x="3108960" y="4023360"/>
            <a:ext cx="274320" cy="201168"/>
          </a:xfrm>
          <a:prstGeom prst="rect">
            <a:avLst/>
          </a:prstGeom>
          <a:solidFill>
            <a:schemeClr val="accent2"/>
          </a:solidFill>
          <a:ln w="12700">
            <a:solidFill>
              <a:schemeClr val="accent2"/>
            </a:solidFill>
            <a:prstDash val="solid"/>
          </a:ln>
        </p:spPr>
      </p:sp>
      <p:sp>
        <p:nvSpPr>
          <p:cNvPr id="26" name="Text 23"/>
          <p:cNvSpPr txBox="1"/>
          <p:nvPr/>
        </p:nvSpPr>
        <p:spPr>
          <a:xfrm>
            <a:off x="3474720" y="3986784"/>
            <a:ext cx="4114800" cy="274320"/>
          </a:xfrm>
          <a:prstGeom prst="rect">
            <a:avLst/>
          </a:prstGeom>
          <a:noFill/>
          <a:ln/>
        </p:spPr>
        <p:txBody>
          <a:bodyPr wrap="square" lIns="0" tIns="0" rIns="0" bIns="0" rtlCol="0" anchor="ctr"/>
          <a:lstStyle/>
          <a:p>
            <a:pPr indent="0" marL="0">
              <a:buNone/>
            </a:pPr>
            <a:r>
              <a:rPr lang="en-US" sz="1300" dirty="0">
                <a:solidFill>
                  <a:srgbClr val="000000"/>
                </a:solidFill>
              </a:rPr>
              <a:t>Categorical, identifier and date variables</a:t>
            </a:r>
            <a:endParaRPr lang="en-US" sz="1300" dirty="0"/>
          </a:p>
        </p:txBody>
      </p:sp>
      <p:sp>
        <p:nvSpPr>
          <p:cNvPr id="27" name="Text 24"/>
          <p:cNvSpPr txBox="1"/>
          <p:nvPr/>
        </p:nvSpPr>
        <p:spPr>
          <a:xfrm>
            <a:off x="457200" y="4526280"/>
            <a:ext cx="11247120" cy="1463040"/>
          </a:xfrm>
          <a:prstGeom prst="rect">
            <a:avLst/>
          </a:prstGeom>
          <a:noFill/>
          <a:ln/>
        </p:spPr>
        <p:txBody>
          <a:bodyPr wrap="square" lIns="0" tIns="0" rIns="0" bIns="0" rtlCol="0" anchor="t"/>
          <a:lstStyle/>
          <a:p>
            <a:pPr marL="190500" indent="-190500">
              <a:spcAft>
                <a:spcPts val="400"/>
              </a:spcAft>
              <a:buSzPct val="100000"/>
              <a:buChar char="•"/>
            </a:pPr>
            <a:r>
              <a:rPr lang="en-US" sz="1400" b="1" dirty="0">
                <a:solidFill>
                  <a:schemeClr val="tx1"/>
                </a:solidFill>
              </a:rPr>
              <a:t>Rows 3 and 4 share a patient_id: </a:t>
            </a:r>
            <a:pPr indent="0" marL="0">
              <a:buNone/>
            </a:pPr>
            <a:r>
              <a:rPr lang="en-US" sz="1400" dirty="0">
                <a:solidFill>
                  <a:schemeClr val="tx1"/>
                </a:solidFill>
              </a:rPr>
              <a:t>a baseline and a follow-up visit. Repeated measurements are legitimate, not duplicates.</a:t>
            </a:r>
            <a:endParaRPr lang="en-US" sz="1400" dirty="0"/>
          </a:p>
          <a:p>
            <a:pPr marL="190500" indent="-190500">
              <a:spcAft>
                <a:spcPts val="400"/>
              </a:spcAft>
              <a:buSzPct val="100000"/>
              <a:buChar char="•"/>
            </a:pPr>
            <a:r>
              <a:rPr lang="en-US" sz="1400" b="1" dirty="0">
                <a:solidFill>
                  <a:schemeClr val="tx1"/>
                </a:solidFill>
              </a:rPr>
              <a:t>crp contains text ("&lt;0.3") </a:t>
            </a:r>
            <a:pPr indent="0" marL="0">
              <a:buNone/>
            </a:pPr>
            <a:r>
              <a:rPr lang="en-US" sz="1400" dirty="0">
                <a:solidFill>
                  <a:schemeClr val="tx1"/>
                </a:solidFill>
              </a:rPr>
              <a:t>so it is read as a text column until it is cleaned.</a:t>
            </a:r>
            <a:endParaRPr lang="en-US" sz="1400" dirty="0"/>
          </a:p>
          <a:p>
            <a:pPr marL="190500" indent="-190500">
              <a:spcAft>
                <a:spcPts val="400"/>
              </a:spcAft>
              <a:buSzPct val="100000"/>
              <a:buChar char="•"/>
            </a:pPr>
            <a:r>
              <a:rPr lang="en-US" sz="1400" b="1" dirty="0">
                <a:solidFill>
                  <a:schemeClr val="tx1"/>
                </a:solidFill>
              </a:rPr>
              <a:t>Blank cells </a:t>
            </a:r>
            <a:pPr indent="0" marL="0">
              <a:buNone/>
            </a:pPr>
            <a:r>
              <a:rPr lang="en-US" sz="1400" dirty="0">
                <a:solidFill>
                  <a:schemeClr val="tx1"/>
                </a:solidFill>
              </a:rPr>
              <a:t>are missing values; their pattern is explored in step 5, not filled in here.</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Variable types, with examples from this dataset</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Question"/>
          <p:cNvSpPr/>
          <p:nvPr/>
        </p:nvSpPr>
        <p:spPr>
          <a:xfrm>
            <a:off x="3749040" y="6291072"/>
            <a:ext cx="182880" cy="182880"/>
          </a:xfrm>
          <a:prstGeom prst="ellipse">
            <a:avLst/>
          </a:prstGeom>
          <a:solidFill>
            <a:schemeClr val="accent1"/>
          </a:solidFill>
          <a:ln w="12700">
            <a:solidFill>
              <a:schemeClr val="accent1"/>
            </a:solidFill>
            <a:prstDash val="solid"/>
          </a:ln>
        </p:spPr>
      </p:sp>
      <p:sp>
        <p:nvSpPr>
          <p:cNvPr id="5"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Question</a:t>
            </a:r>
            <a:endParaRPr lang="en-US" sz="1000" dirty="0"/>
          </a:p>
        </p:txBody>
      </p:sp>
      <p:sp>
        <p:nvSpPr>
          <p:cNvPr id="6" name="tracker Load"/>
          <p:cNvSpPr/>
          <p:nvPr/>
        </p:nvSpPr>
        <p:spPr>
          <a:xfrm>
            <a:off x="4717161" y="6327648"/>
            <a:ext cx="109728" cy="109728"/>
          </a:xfrm>
          <a:prstGeom prst="ellipse">
            <a:avLst/>
          </a:prstGeom>
          <a:solidFill>
            <a:schemeClr val="bg1"/>
          </a:solidFill>
          <a:ln w="12700">
            <a:solidFill>
              <a:schemeClr val="accent5"/>
            </a:solidFill>
            <a:prstDash val="solid"/>
          </a:ln>
        </p:spPr>
      </p:sp>
      <p:sp>
        <p:nvSpPr>
          <p:cNvPr id="7"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8" name="tracker Clean"/>
          <p:cNvSpPr/>
          <p:nvPr/>
        </p:nvSpPr>
        <p:spPr>
          <a:xfrm>
            <a:off x="5648706" y="6327648"/>
            <a:ext cx="109728" cy="109728"/>
          </a:xfrm>
          <a:prstGeom prst="ellipse">
            <a:avLst/>
          </a:prstGeom>
          <a:solidFill>
            <a:schemeClr val="bg1"/>
          </a:solidFill>
          <a:ln w="12700">
            <a:solidFill>
              <a:schemeClr val="accent5"/>
            </a:solidFill>
            <a:prstDash val="solid"/>
          </a:ln>
        </p:spPr>
      </p:sp>
      <p:sp>
        <p:nvSpPr>
          <p:cNvPr id="9"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0"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1"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2"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3"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4"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5"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6"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7"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8"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19"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0"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1"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2" name="Shape 20"/>
          <p:cNvSpPr/>
          <p:nvPr/>
        </p:nvSpPr>
        <p:spPr>
          <a:xfrm>
            <a:off x="4937760" y="1234440"/>
            <a:ext cx="2286000" cy="594360"/>
          </a:xfrm>
          <a:prstGeom prst="roundRect">
            <a:avLst>
              <a:gd name="adj" fmla="val 12308"/>
            </a:avLst>
          </a:prstGeom>
          <a:solidFill>
            <a:schemeClr val="tx1"/>
          </a:solidFill>
          <a:ln w="12700">
            <a:solidFill>
              <a:schemeClr val="tx1"/>
            </a:solidFill>
            <a:prstDash val="solid"/>
          </a:ln>
        </p:spPr>
      </p:sp>
      <p:sp>
        <p:nvSpPr>
          <p:cNvPr id="23" name="Text 21"/>
          <p:cNvSpPr txBox="1"/>
          <p:nvPr/>
        </p:nvSpPr>
        <p:spPr>
          <a:xfrm>
            <a:off x="5029200" y="1234440"/>
            <a:ext cx="2103120" cy="594360"/>
          </a:xfrm>
          <a:prstGeom prst="rect">
            <a:avLst/>
          </a:prstGeom>
          <a:noFill/>
          <a:ln/>
        </p:spPr>
        <p:txBody>
          <a:bodyPr wrap="square" lIns="0" tIns="0" rIns="0" bIns="0" rtlCol="0" anchor="ctr"/>
          <a:lstStyle/>
          <a:p>
            <a:pPr algn="ctr" indent="0" marL="0">
              <a:buNone/>
            </a:pPr>
            <a:r>
              <a:rPr lang="en-US" sz="1600" b="1" dirty="0">
                <a:solidFill>
                  <a:schemeClr val="bg1"/>
                </a:solidFill>
              </a:rPr>
              <a:t>Variable</a:t>
            </a:r>
            <a:endParaRPr lang="en-US" sz="1600" dirty="0"/>
          </a:p>
        </p:txBody>
      </p:sp>
      <p:sp>
        <p:nvSpPr>
          <p:cNvPr id="24" name="Shape 22"/>
          <p:cNvSpPr/>
          <p:nvPr/>
        </p:nvSpPr>
        <p:spPr>
          <a:xfrm>
            <a:off x="6080760" y="1828800"/>
            <a:ext cx="0" cy="274320"/>
          </a:xfrm>
          <a:prstGeom prst="line">
            <a:avLst/>
          </a:prstGeom>
          <a:noFill/>
          <a:ln w="15875">
            <a:solidFill>
              <a:schemeClr val="tx2"/>
            </a:solidFill>
            <a:prstDash val="solid"/>
          </a:ln>
        </p:spPr>
      </p:sp>
      <p:sp>
        <p:nvSpPr>
          <p:cNvPr id="25" name="Shape 23"/>
          <p:cNvSpPr/>
          <p:nvPr/>
        </p:nvSpPr>
        <p:spPr>
          <a:xfrm>
            <a:off x="3017520" y="2103120"/>
            <a:ext cx="6217920" cy="0"/>
          </a:xfrm>
          <a:prstGeom prst="line">
            <a:avLst/>
          </a:prstGeom>
          <a:noFill/>
          <a:ln w="15875">
            <a:solidFill>
              <a:schemeClr val="tx2"/>
            </a:solidFill>
            <a:prstDash val="solid"/>
          </a:ln>
        </p:spPr>
      </p:sp>
      <p:sp>
        <p:nvSpPr>
          <p:cNvPr id="26" name="Shape 24"/>
          <p:cNvSpPr/>
          <p:nvPr/>
        </p:nvSpPr>
        <p:spPr>
          <a:xfrm>
            <a:off x="3017520" y="2103120"/>
            <a:ext cx="0" cy="274320"/>
          </a:xfrm>
          <a:prstGeom prst="line">
            <a:avLst/>
          </a:prstGeom>
          <a:noFill/>
          <a:ln w="15875">
            <a:solidFill>
              <a:schemeClr val="tx2"/>
            </a:solidFill>
            <a:prstDash val="solid"/>
          </a:ln>
        </p:spPr>
      </p:sp>
      <p:sp>
        <p:nvSpPr>
          <p:cNvPr id="27" name="Shape 25"/>
          <p:cNvSpPr/>
          <p:nvPr/>
        </p:nvSpPr>
        <p:spPr>
          <a:xfrm>
            <a:off x="9235440" y="2103120"/>
            <a:ext cx="0" cy="274320"/>
          </a:xfrm>
          <a:prstGeom prst="line">
            <a:avLst/>
          </a:prstGeom>
          <a:noFill/>
          <a:ln w="15875">
            <a:solidFill>
              <a:schemeClr val="tx2"/>
            </a:solidFill>
            <a:prstDash val="solid"/>
          </a:ln>
        </p:spPr>
      </p:sp>
      <p:sp>
        <p:nvSpPr>
          <p:cNvPr id="28" name="Shape 26"/>
          <p:cNvSpPr/>
          <p:nvPr/>
        </p:nvSpPr>
        <p:spPr>
          <a:xfrm>
            <a:off x="1737360" y="2377440"/>
            <a:ext cx="2560320" cy="731520"/>
          </a:xfrm>
          <a:prstGeom prst="roundRect">
            <a:avLst>
              <a:gd name="adj" fmla="val 10000"/>
            </a:avLst>
          </a:prstGeom>
          <a:solidFill>
            <a:schemeClr val="accent1"/>
          </a:solidFill>
          <a:ln w="12700">
            <a:solidFill>
              <a:schemeClr val="accent1"/>
            </a:solidFill>
            <a:prstDash val="solid"/>
          </a:ln>
        </p:spPr>
      </p:sp>
      <p:sp>
        <p:nvSpPr>
          <p:cNvPr id="29" name="Text 27"/>
          <p:cNvSpPr txBox="1"/>
          <p:nvPr/>
        </p:nvSpPr>
        <p:spPr>
          <a:xfrm>
            <a:off x="1828800" y="2377440"/>
            <a:ext cx="2377440" cy="731520"/>
          </a:xfrm>
          <a:prstGeom prst="rect">
            <a:avLst/>
          </a:prstGeom>
          <a:noFill/>
          <a:ln/>
        </p:spPr>
        <p:txBody>
          <a:bodyPr wrap="square" lIns="0" tIns="0" rIns="0" bIns="0" rtlCol="0" anchor="ctr"/>
          <a:lstStyle/>
          <a:p>
            <a:pPr algn="ctr" indent="0" marL="0">
              <a:buNone/>
            </a:pPr>
            <a:r>
              <a:rPr lang="en-US" sz="1600" b="1" dirty="0">
                <a:solidFill>
                  <a:schemeClr val="bg1"/>
                </a:solidFill>
              </a:rPr>
              <a:t>Numerical</a:t>
            </a:r>
            <a:endParaRPr lang="en-US" sz="1600" dirty="0"/>
          </a:p>
          <a:p>
            <a:pPr algn="ctr" indent="0" marL="0">
              <a:buNone/>
            </a:pPr>
            <a:r>
              <a:rPr lang="en-US" sz="1200" dirty="0">
                <a:solidFill>
                  <a:schemeClr val="bg1"/>
                </a:solidFill>
              </a:rPr>
              <a:t>quantitative</a:t>
            </a:r>
            <a:endParaRPr lang="en-US" sz="1600" dirty="0"/>
          </a:p>
        </p:txBody>
      </p:sp>
      <p:sp>
        <p:nvSpPr>
          <p:cNvPr id="30" name="Shape 28"/>
          <p:cNvSpPr/>
          <p:nvPr/>
        </p:nvSpPr>
        <p:spPr>
          <a:xfrm>
            <a:off x="7955280" y="2377440"/>
            <a:ext cx="2560320" cy="731520"/>
          </a:xfrm>
          <a:prstGeom prst="roundRect">
            <a:avLst>
              <a:gd name="adj" fmla="val 10000"/>
            </a:avLst>
          </a:prstGeom>
          <a:solidFill>
            <a:schemeClr val="accent2"/>
          </a:solidFill>
          <a:ln w="12700">
            <a:solidFill>
              <a:schemeClr val="accent2"/>
            </a:solidFill>
            <a:prstDash val="solid"/>
          </a:ln>
        </p:spPr>
      </p:sp>
      <p:sp>
        <p:nvSpPr>
          <p:cNvPr id="31" name="Text 29"/>
          <p:cNvSpPr txBox="1"/>
          <p:nvPr/>
        </p:nvSpPr>
        <p:spPr>
          <a:xfrm>
            <a:off x="8046720" y="2377440"/>
            <a:ext cx="2377440" cy="731520"/>
          </a:xfrm>
          <a:prstGeom prst="rect">
            <a:avLst/>
          </a:prstGeom>
          <a:noFill/>
          <a:ln/>
        </p:spPr>
        <p:txBody>
          <a:bodyPr wrap="square" lIns="0" tIns="0" rIns="0" bIns="0" rtlCol="0" anchor="ctr"/>
          <a:lstStyle/>
          <a:p>
            <a:pPr algn="ctr" indent="0" marL="0">
              <a:buNone/>
            </a:pPr>
            <a:r>
              <a:rPr lang="en-US" sz="1600" b="1" dirty="0">
                <a:solidFill>
                  <a:schemeClr val="bg1"/>
                </a:solidFill>
              </a:rPr>
              <a:t>Categorical</a:t>
            </a:r>
            <a:endParaRPr lang="en-US" sz="1600" dirty="0"/>
          </a:p>
          <a:p>
            <a:pPr algn="ctr" indent="0" marL="0">
              <a:buNone/>
            </a:pPr>
            <a:r>
              <a:rPr lang="en-US" sz="1200" dirty="0">
                <a:solidFill>
                  <a:schemeClr val="bg1"/>
                </a:solidFill>
              </a:rPr>
              <a:t>qualitative</a:t>
            </a:r>
            <a:endParaRPr lang="en-US" sz="1600" dirty="0"/>
          </a:p>
        </p:txBody>
      </p:sp>
      <p:sp>
        <p:nvSpPr>
          <p:cNvPr id="32" name="Shape 30"/>
          <p:cNvSpPr/>
          <p:nvPr/>
        </p:nvSpPr>
        <p:spPr>
          <a:xfrm>
            <a:off x="3017520" y="3108960"/>
            <a:ext cx="0" cy="274320"/>
          </a:xfrm>
          <a:prstGeom prst="line">
            <a:avLst/>
          </a:prstGeom>
          <a:noFill/>
          <a:ln w="15875">
            <a:solidFill>
              <a:schemeClr val="tx2"/>
            </a:solidFill>
            <a:prstDash val="solid"/>
          </a:ln>
        </p:spPr>
      </p:sp>
      <p:sp>
        <p:nvSpPr>
          <p:cNvPr id="33" name="Shape 31"/>
          <p:cNvSpPr/>
          <p:nvPr/>
        </p:nvSpPr>
        <p:spPr>
          <a:xfrm>
            <a:off x="1463040" y="3383280"/>
            <a:ext cx="3108960" cy="0"/>
          </a:xfrm>
          <a:prstGeom prst="line">
            <a:avLst/>
          </a:prstGeom>
          <a:noFill/>
          <a:ln w="15875">
            <a:solidFill>
              <a:schemeClr val="tx2"/>
            </a:solidFill>
            <a:prstDash val="solid"/>
          </a:ln>
        </p:spPr>
      </p:sp>
      <p:sp>
        <p:nvSpPr>
          <p:cNvPr id="34" name="Shape 32"/>
          <p:cNvSpPr/>
          <p:nvPr/>
        </p:nvSpPr>
        <p:spPr>
          <a:xfrm>
            <a:off x="1463040" y="3383280"/>
            <a:ext cx="0" cy="274320"/>
          </a:xfrm>
          <a:prstGeom prst="line">
            <a:avLst/>
          </a:prstGeom>
          <a:noFill/>
          <a:ln w="15875">
            <a:solidFill>
              <a:schemeClr val="tx2"/>
            </a:solidFill>
            <a:prstDash val="solid"/>
          </a:ln>
        </p:spPr>
      </p:sp>
      <p:sp>
        <p:nvSpPr>
          <p:cNvPr id="35" name="Shape 33"/>
          <p:cNvSpPr/>
          <p:nvPr/>
        </p:nvSpPr>
        <p:spPr>
          <a:xfrm>
            <a:off x="4572000" y="3383280"/>
            <a:ext cx="0" cy="274320"/>
          </a:xfrm>
          <a:prstGeom prst="line">
            <a:avLst/>
          </a:prstGeom>
          <a:noFill/>
          <a:ln w="15875">
            <a:solidFill>
              <a:schemeClr val="tx2"/>
            </a:solidFill>
            <a:prstDash val="solid"/>
          </a:ln>
        </p:spPr>
      </p:sp>
      <p:sp>
        <p:nvSpPr>
          <p:cNvPr id="36" name="Shape 34"/>
          <p:cNvSpPr/>
          <p:nvPr/>
        </p:nvSpPr>
        <p:spPr>
          <a:xfrm>
            <a:off x="9235440" y="3108960"/>
            <a:ext cx="0" cy="274320"/>
          </a:xfrm>
          <a:prstGeom prst="line">
            <a:avLst/>
          </a:prstGeom>
          <a:noFill/>
          <a:ln w="15875">
            <a:solidFill>
              <a:schemeClr val="tx2"/>
            </a:solidFill>
            <a:prstDash val="solid"/>
          </a:ln>
        </p:spPr>
      </p:sp>
      <p:sp>
        <p:nvSpPr>
          <p:cNvPr id="37" name="Shape 35"/>
          <p:cNvSpPr/>
          <p:nvPr/>
        </p:nvSpPr>
        <p:spPr>
          <a:xfrm>
            <a:off x="7589520" y="3383280"/>
            <a:ext cx="3291840" cy="0"/>
          </a:xfrm>
          <a:prstGeom prst="line">
            <a:avLst/>
          </a:prstGeom>
          <a:noFill/>
          <a:ln w="15875">
            <a:solidFill>
              <a:schemeClr val="tx2"/>
            </a:solidFill>
            <a:prstDash val="solid"/>
          </a:ln>
        </p:spPr>
      </p:sp>
      <p:sp>
        <p:nvSpPr>
          <p:cNvPr id="38" name="Shape 36"/>
          <p:cNvSpPr/>
          <p:nvPr/>
        </p:nvSpPr>
        <p:spPr>
          <a:xfrm>
            <a:off x="7589520" y="3383280"/>
            <a:ext cx="0" cy="274320"/>
          </a:xfrm>
          <a:prstGeom prst="line">
            <a:avLst/>
          </a:prstGeom>
          <a:noFill/>
          <a:ln w="15875">
            <a:solidFill>
              <a:schemeClr val="tx2"/>
            </a:solidFill>
            <a:prstDash val="solid"/>
          </a:ln>
        </p:spPr>
      </p:sp>
      <p:sp>
        <p:nvSpPr>
          <p:cNvPr id="39" name="Shape 37"/>
          <p:cNvSpPr/>
          <p:nvPr/>
        </p:nvSpPr>
        <p:spPr>
          <a:xfrm>
            <a:off x="10881360" y="3383280"/>
            <a:ext cx="0" cy="274320"/>
          </a:xfrm>
          <a:prstGeom prst="line">
            <a:avLst/>
          </a:prstGeom>
          <a:noFill/>
          <a:ln w="15875">
            <a:solidFill>
              <a:schemeClr val="tx2"/>
            </a:solidFill>
            <a:prstDash val="solid"/>
          </a:ln>
        </p:spPr>
      </p:sp>
      <p:sp>
        <p:nvSpPr>
          <p:cNvPr id="40" name="Shape 38"/>
          <p:cNvSpPr/>
          <p:nvPr/>
        </p:nvSpPr>
        <p:spPr>
          <a:xfrm>
            <a:off x="457200" y="3657600"/>
            <a:ext cx="2011680" cy="1691640"/>
          </a:xfrm>
          <a:prstGeom prst="roundRect">
            <a:avLst>
              <a:gd name="adj" fmla="val 4324"/>
            </a:avLst>
          </a:prstGeom>
          <a:solidFill>
            <a:schemeClr val="accent4"/>
          </a:solidFill>
          <a:ln w="12700">
            <a:solidFill>
              <a:schemeClr val="accent4"/>
            </a:solidFill>
            <a:prstDash val="solid"/>
          </a:ln>
        </p:spPr>
      </p:sp>
      <p:sp>
        <p:nvSpPr>
          <p:cNvPr id="41" name="Text 39"/>
          <p:cNvSpPr txBox="1"/>
          <p:nvPr/>
        </p:nvSpPr>
        <p:spPr>
          <a:xfrm>
            <a:off x="566928" y="3749040"/>
            <a:ext cx="1792224" cy="1554480"/>
          </a:xfrm>
          <a:prstGeom prst="rect">
            <a:avLst/>
          </a:prstGeom>
          <a:noFill/>
          <a:ln/>
        </p:spPr>
        <p:txBody>
          <a:bodyPr wrap="square" lIns="0" tIns="0" rIns="0" bIns="0" rtlCol="0" anchor="t"/>
          <a:lstStyle/>
          <a:p>
            <a:pPr indent="0" marL="0">
              <a:buNone/>
            </a:pPr>
            <a:r>
              <a:rPr lang="en-US" sz="1600" b="1" dirty="0">
                <a:solidFill>
                  <a:schemeClr val="tx1"/>
                </a:solidFill>
              </a:rPr>
              <a:t>Continuous</a:t>
            </a:r>
            <a:endParaRPr lang="en-US" sz="1600" dirty="0"/>
          </a:p>
          <a:p>
            <a:pPr indent="0" marL="0">
              <a:buNone/>
            </a:pPr>
            <a:r>
              <a:rPr lang="en-US" sz="1200" i="1" dirty="0">
                <a:solidFill>
                  <a:schemeClr val="tx2"/>
                </a:solidFill>
              </a:rPr>
              <a:t>measured on a scale</a:t>
            </a:r>
            <a:endParaRPr lang="en-US" sz="1600" dirty="0"/>
          </a:p>
          <a:p>
            <a:pPr indent="0" marL="0">
              <a:buNone/>
            </a:pPr>
            <a:r>
              <a:rPr lang="en-US" sz="600" dirty="0">
                <a:solidFill>
                  <a:schemeClr val="tx1"/>
                </a:solidFill>
              </a:rPr>
              <a:t> </a:t>
            </a:r>
            <a:endParaRPr lang="en-US" sz="1600" dirty="0"/>
          </a:p>
          <a:p>
            <a:pPr indent="0" marL="0">
              <a:buNone/>
            </a:pPr>
            <a:r>
              <a:rPr lang="en-US" sz="1200" dirty="0">
                <a:solidFill>
                  <a:schemeClr val="tx1"/>
                </a:solidFill>
                <a:latin typeface="Courier New" pitchFamily="34" charset="0"/>
                <a:ea typeface="Courier New" pitchFamily="34" charset="-122"/>
                <a:cs typeface="Courier New" pitchFamily="34" charset="-120"/>
              </a:rPr>
              <a:t>age, systolic_bp, crp, hdl</a:t>
            </a:r>
            <a:endParaRPr lang="en-US" sz="1600" dirty="0"/>
          </a:p>
        </p:txBody>
      </p:sp>
      <p:sp>
        <p:nvSpPr>
          <p:cNvPr id="42" name="Shape 40"/>
          <p:cNvSpPr/>
          <p:nvPr/>
        </p:nvSpPr>
        <p:spPr>
          <a:xfrm>
            <a:off x="3566160" y="3657600"/>
            <a:ext cx="2011680" cy="1691640"/>
          </a:xfrm>
          <a:prstGeom prst="roundRect">
            <a:avLst>
              <a:gd name="adj" fmla="val 4324"/>
            </a:avLst>
          </a:prstGeom>
          <a:solidFill>
            <a:schemeClr val="accent4"/>
          </a:solidFill>
          <a:ln w="12700">
            <a:solidFill>
              <a:schemeClr val="accent4"/>
            </a:solidFill>
            <a:prstDash val="solid"/>
          </a:ln>
        </p:spPr>
      </p:sp>
      <p:sp>
        <p:nvSpPr>
          <p:cNvPr id="43" name="Text 41"/>
          <p:cNvSpPr txBox="1"/>
          <p:nvPr/>
        </p:nvSpPr>
        <p:spPr>
          <a:xfrm>
            <a:off x="3675888" y="3749040"/>
            <a:ext cx="1792224" cy="1554480"/>
          </a:xfrm>
          <a:prstGeom prst="rect">
            <a:avLst/>
          </a:prstGeom>
          <a:noFill/>
          <a:ln/>
        </p:spPr>
        <p:txBody>
          <a:bodyPr wrap="square" lIns="0" tIns="0" rIns="0" bIns="0" rtlCol="0" anchor="t"/>
          <a:lstStyle/>
          <a:p>
            <a:pPr indent="0" marL="0">
              <a:buNone/>
            </a:pPr>
            <a:r>
              <a:rPr lang="en-US" sz="1600" b="1" dirty="0">
                <a:solidFill>
                  <a:schemeClr val="tx1"/>
                </a:solidFill>
              </a:rPr>
              <a:t>Discrete</a:t>
            </a:r>
            <a:endParaRPr lang="en-US" sz="1600" dirty="0"/>
          </a:p>
          <a:p>
            <a:pPr indent="0" marL="0">
              <a:buNone/>
            </a:pPr>
            <a:r>
              <a:rPr lang="en-US" sz="1200" i="1" dirty="0">
                <a:solidFill>
                  <a:schemeClr val="tx2"/>
                </a:solidFill>
              </a:rPr>
              <a:t>counted</a:t>
            </a:r>
            <a:endParaRPr lang="en-US" sz="1600" dirty="0"/>
          </a:p>
          <a:p>
            <a:pPr indent="0" marL="0">
              <a:buNone/>
            </a:pPr>
            <a:r>
              <a:rPr lang="en-US" sz="600" dirty="0">
                <a:solidFill>
                  <a:schemeClr val="tx1"/>
                </a:solidFill>
              </a:rPr>
              <a:t> </a:t>
            </a:r>
            <a:endParaRPr lang="en-US" sz="1600" dirty="0"/>
          </a:p>
          <a:p>
            <a:pPr indent="0" marL="0">
              <a:buNone/>
            </a:pPr>
            <a:r>
              <a:rPr lang="en-US" sz="1200" dirty="0">
                <a:solidFill>
                  <a:schemeClr val="tx1"/>
                </a:solidFill>
                <a:latin typeface="Courier New" pitchFamily="34" charset="0"/>
                <a:ea typeface="Courier New" pitchFamily="34" charset="-122"/>
                <a:cs typeface="Courier New" pitchFamily="34" charset="-120"/>
              </a:rPr>
              <a:t>visit (1, 2), number of visits</a:t>
            </a:r>
            <a:endParaRPr lang="en-US" sz="1600" dirty="0"/>
          </a:p>
        </p:txBody>
      </p:sp>
      <p:sp>
        <p:nvSpPr>
          <p:cNvPr id="44" name="Shape 42"/>
          <p:cNvSpPr/>
          <p:nvPr/>
        </p:nvSpPr>
        <p:spPr>
          <a:xfrm>
            <a:off x="6583680" y="3657600"/>
            <a:ext cx="2011680" cy="1691640"/>
          </a:xfrm>
          <a:prstGeom prst="roundRect">
            <a:avLst>
              <a:gd name="adj" fmla="val 4324"/>
            </a:avLst>
          </a:prstGeom>
          <a:solidFill>
            <a:schemeClr val="accent5"/>
          </a:solidFill>
          <a:ln w="12700">
            <a:solidFill>
              <a:schemeClr val="accent5"/>
            </a:solidFill>
            <a:prstDash val="solid"/>
          </a:ln>
        </p:spPr>
      </p:sp>
      <p:sp>
        <p:nvSpPr>
          <p:cNvPr id="45" name="Text 43"/>
          <p:cNvSpPr txBox="1"/>
          <p:nvPr/>
        </p:nvSpPr>
        <p:spPr>
          <a:xfrm>
            <a:off x="6693408" y="3749040"/>
            <a:ext cx="1792224" cy="1554480"/>
          </a:xfrm>
          <a:prstGeom prst="rect">
            <a:avLst/>
          </a:prstGeom>
          <a:noFill/>
          <a:ln/>
        </p:spPr>
        <p:txBody>
          <a:bodyPr wrap="square" lIns="0" tIns="0" rIns="0" bIns="0" rtlCol="0" anchor="t"/>
          <a:lstStyle/>
          <a:p>
            <a:pPr indent="0" marL="0">
              <a:buNone/>
            </a:pPr>
            <a:r>
              <a:rPr lang="en-US" sz="1600" b="1" dirty="0">
                <a:solidFill>
                  <a:schemeClr val="tx1"/>
                </a:solidFill>
              </a:rPr>
              <a:t>Ordinal</a:t>
            </a:r>
            <a:endParaRPr lang="en-US" sz="1600" dirty="0"/>
          </a:p>
          <a:p>
            <a:pPr indent="0" marL="0">
              <a:buNone/>
            </a:pPr>
            <a:r>
              <a:rPr lang="en-US" sz="1200" i="1" dirty="0">
                <a:solidFill>
                  <a:schemeClr val="tx2"/>
                </a:solidFill>
              </a:rPr>
              <a:t>ordered categories</a:t>
            </a:r>
            <a:endParaRPr lang="en-US" sz="1600" dirty="0"/>
          </a:p>
          <a:p>
            <a:pPr indent="0" marL="0">
              <a:buNone/>
            </a:pPr>
            <a:r>
              <a:rPr lang="en-US" sz="600" dirty="0">
                <a:solidFill>
                  <a:schemeClr val="tx1"/>
                </a:solidFill>
              </a:rPr>
              <a:t> </a:t>
            </a:r>
            <a:endParaRPr lang="en-US" sz="1600" dirty="0"/>
          </a:p>
          <a:p>
            <a:pPr indent="0" marL="0">
              <a:buNone/>
            </a:pPr>
            <a:r>
              <a:rPr lang="en-US" sz="1200" dirty="0">
                <a:solidFill>
                  <a:schemeClr val="tx1"/>
                </a:solidFill>
                <a:latin typeface="Courier New" pitchFamily="34" charset="0"/>
                <a:ea typeface="Courier New" pitchFamily="34" charset="-122"/>
                <a:cs typeface="Courier New" pitchFamily="34" charset="-120"/>
              </a:rPr>
              <a:t>ccs_class (0 to IV)</a:t>
            </a:r>
            <a:endParaRPr lang="en-US" sz="1600" dirty="0"/>
          </a:p>
        </p:txBody>
      </p:sp>
      <p:sp>
        <p:nvSpPr>
          <p:cNvPr id="46" name="Shape 44"/>
          <p:cNvSpPr/>
          <p:nvPr/>
        </p:nvSpPr>
        <p:spPr>
          <a:xfrm>
            <a:off x="9875520" y="3657600"/>
            <a:ext cx="2011680" cy="1691640"/>
          </a:xfrm>
          <a:prstGeom prst="roundRect">
            <a:avLst>
              <a:gd name="adj" fmla="val 4324"/>
            </a:avLst>
          </a:prstGeom>
          <a:solidFill>
            <a:schemeClr val="accent5"/>
          </a:solidFill>
          <a:ln w="12700">
            <a:solidFill>
              <a:schemeClr val="accent5"/>
            </a:solidFill>
            <a:prstDash val="solid"/>
          </a:ln>
        </p:spPr>
      </p:sp>
      <p:sp>
        <p:nvSpPr>
          <p:cNvPr id="47" name="Text 45"/>
          <p:cNvSpPr txBox="1"/>
          <p:nvPr/>
        </p:nvSpPr>
        <p:spPr>
          <a:xfrm>
            <a:off x="9985248" y="3749040"/>
            <a:ext cx="1792224" cy="1554480"/>
          </a:xfrm>
          <a:prstGeom prst="rect">
            <a:avLst/>
          </a:prstGeom>
          <a:noFill/>
          <a:ln/>
        </p:spPr>
        <p:txBody>
          <a:bodyPr wrap="square" lIns="0" tIns="0" rIns="0" bIns="0" rtlCol="0" anchor="t"/>
          <a:lstStyle/>
          <a:p>
            <a:pPr indent="0" marL="0">
              <a:buNone/>
            </a:pPr>
            <a:r>
              <a:rPr lang="en-US" sz="1600" b="1" dirty="0">
                <a:solidFill>
                  <a:schemeClr val="tx1"/>
                </a:solidFill>
              </a:rPr>
              <a:t>Nominal</a:t>
            </a:r>
            <a:endParaRPr lang="en-US" sz="1600" dirty="0"/>
          </a:p>
          <a:p>
            <a:pPr indent="0" marL="0">
              <a:buNone/>
            </a:pPr>
            <a:r>
              <a:rPr lang="en-US" sz="1200" i="1" dirty="0">
                <a:solidFill>
                  <a:schemeClr val="tx2"/>
                </a:solidFill>
              </a:rPr>
              <a:t>no natural order</a:t>
            </a:r>
            <a:endParaRPr lang="en-US" sz="1600" dirty="0"/>
          </a:p>
          <a:p>
            <a:pPr indent="0" marL="0">
              <a:buNone/>
            </a:pPr>
            <a:r>
              <a:rPr lang="en-US" sz="600" dirty="0">
                <a:solidFill>
                  <a:schemeClr val="tx1"/>
                </a:solidFill>
              </a:rPr>
              <a:t> </a:t>
            </a:r>
            <a:endParaRPr lang="en-US" sz="1600" dirty="0"/>
          </a:p>
          <a:p>
            <a:pPr indent="0" marL="0">
              <a:buNone/>
            </a:pPr>
            <a:r>
              <a:rPr lang="en-US" sz="1200" dirty="0">
                <a:solidFill>
                  <a:schemeClr val="tx1"/>
                </a:solidFill>
                <a:latin typeface="Courier New" pitchFamily="34" charset="0"/>
                <a:ea typeface="Courier New" pitchFamily="34" charset="-122"/>
                <a:cs typeface="Courier New" pitchFamily="34" charset="-120"/>
              </a:rPr>
              <a:t>sex, site, smoking_status; binary: diabetes, statin</a:t>
            </a:r>
            <a:endParaRPr lang="en-US" sz="16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Set up and load the data</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93154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680585" y="6291072"/>
            <a:ext cx="182880" cy="182880"/>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Load</a:t>
            </a:r>
            <a:endParaRPr lang="en-US" sz="1000" dirty="0"/>
          </a:p>
        </p:txBody>
      </p:sp>
      <p:sp>
        <p:nvSpPr>
          <p:cNvPr id="9" name="tracker Clean"/>
          <p:cNvSpPr/>
          <p:nvPr/>
        </p:nvSpPr>
        <p:spPr>
          <a:xfrm>
            <a:off x="5648706" y="6327648"/>
            <a:ext cx="109728" cy="109728"/>
          </a:xfrm>
          <a:prstGeom prst="ellipse">
            <a:avLst/>
          </a:prstGeom>
          <a:solidFill>
            <a:schemeClr val="bg1"/>
          </a:solidFill>
          <a:ln w="12700">
            <a:solidFill>
              <a:schemeClr val="accent5"/>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Python code panel"/>
          <p:cNvSpPr/>
          <p:nvPr/>
        </p:nvSpPr>
        <p:spPr>
          <a:xfrm>
            <a:off x="457200" y="1234440"/>
            <a:ext cx="5486400" cy="2331720"/>
          </a:xfrm>
          <a:prstGeom prst="roundRect">
            <a:avLst>
              <a:gd name="adj" fmla="val 3137"/>
            </a:avLst>
          </a:prstGeom>
          <a:solidFill>
            <a:schemeClr val="bg2"/>
          </a:solidFill>
          <a:ln w="12700">
            <a:solidFill>
              <a:schemeClr val="bg2"/>
            </a:solidFill>
            <a:prstDash val="solid"/>
          </a:ln>
        </p:spPr>
      </p:sp>
      <p:sp>
        <p:nvSpPr>
          <p:cNvPr id="24" name="Python label"/>
          <p:cNvSpPr txBox="1"/>
          <p:nvPr/>
        </p:nvSpPr>
        <p:spPr>
          <a:xfrm>
            <a:off x="594360" y="13075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5" name="Python code"/>
          <p:cNvSpPr txBox="1"/>
          <p:nvPr/>
        </p:nvSpPr>
        <p:spPr>
          <a:xfrm>
            <a:off x="594360" y="1545336"/>
            <a:ext cx="5212080" cy="1947672"/>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 pip install pandas matplotlib seaborn scipy</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import pandas as pd</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df = pd.read_csv(</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"data/clinic_visits.csv",</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na_values=["", "NA", -99],   # -99 = not recorded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parse_dates=["visit_date"],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26" name="R code panel"/>
          <p:cNvSpPr/>
          <p:nvPr/>
        </p:nvSpPr>
        <p:spPr>
          <a:xfrm>
            <a:off x="6245352" y="1234440"/>
            <a:ext cx="5486400" cy="2331720"/>
          </a:xfrm>
          <a:prstGeom prst="roundRect">
            <a:avLst>
              <a:gd name="adj" fmla="val 3137"/>
            </a:avLst>
          </a:prstGeom>
          <a:solidFill>
            <a:schemeClr val="bg2"/>
          </a:solidFill>
          <a:ln w="12700">
            <a:solidFill>
              <a:schemeClr val="bg2"/>
            </a:solidFill>
            <a:prstDash val="solid"/>
          </a:ln>
        </p:spPr>
      </p:sp>
      <p:sp>
        <p:nvSpPr>
          <p:cNvPr id="27" name="R label"/>
          <p:cNvSpPr txBox="1"/>
          <p:nvPr/>
        </p:nvSpPr>
        <p:spPr>
          <a:xfrm>
            <a:off x="6382512" y="13075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28" name="R code"/>
          <p:cNvSpPr txBox="1"/>
          <p:nvPr/>
        </p:nvSpPr>
        <p:spPr>
          <a:xfrm>
            <a:off x="6382512" y="1545336"/>
            <a:ext cx="5212080" cy="1947672"/>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 install.packages("tidyverse")</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library(tidyverse)</a:t>
            </a:r>
            <a:endParaRPr lang="en-US" sz="1250" dirty="0"/>
          </a:p>
          <a:p>
            <a:pPr indent="0" marL="0">
              <a:buNone/>
            </a:pP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df &lt;- read_csv(</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"data/clinic_visits.csv",</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na = c("", "NA", "-99")      # -99 = not recorded</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 dates parsed</a:t>
            </a:r>
            <a:endParaRPr lang="en-US" sz="1250" dirty="0"/>
          </a:p>
        </p:txBody>
      </p:sp>
      <p:sp>
        <p:nvSpPr>
          <p:cNvPr id="29" name="Text 27"/>
          <p:cNvSpPr txBox="1"/>
          <p:nvPr/>
        </p:nvSpPr>
        <p:spPr>
          <a:xfrm>
            <a:off x="457200" y="3840480"/>
            <a:ext cx="7498080" cy="1828800"/>
          </a:xfrm>
          <a:prstGeom prst="rect">
            <a:avLst/>
          </a:prstGeom>
          <a:noFill/>
          <a:ln/>
        </p:spPr>
        <p:txBody>
          <a:bodyPr wrap="square" lIns="0" tIns="0" rIns="0" bIns="0" rtlCol="0" anchor="t"/>
          <a:lstStyle/>
          <a:p>
            <a:pPr marL="190500" indent="-190500">
              <a:spcAft>
                <a:spcPts val="800"/>
              </a:spcAft>
              <a:buSzPct val="100000"/>
              <a:buChar char="•"/>
            </a:pPr>
            <a:r>
              <a:rPr lang="en-US" sz="1600" b="1" dirty="0">
                <a:solidFill>
                  <a:schemeClr val="tx1"/>
                </a:solidFill>
              </a:rPr>
              <a:t>Declare missing-value codes at load time, </a:t>
            </a:r>
            <a:pPr indent="0" marL="0">
              <a:buNone/>
            </a:pPr>
            <a:r>
              <a:rPr lang="en-US" sz="1600" dirty="0">
                <a:solidFill>
                  <a:schemeClr val="tx1"/>
                </a:solidFill>
              </a:rPr>
              <a:t>so -99 never enters a mean.</a:t>
            </a:r>
            <a:endParaRPr lang="en-US" sz="1600" dirty="0"/>
          </a:p>
          <a:p>
            <a:pPr marL="190500" indent="-190500">
              <a:spcAft>
                <a:spcPts val="800"/>
              </a:spcAft>
              <a:buSzPct val="100000"/>
              <a:buChar char="•"/>
            </a:pPr>
            <a:r>
              <a:rPr lang="en-US" sz="1600" b="1" dirty="0">
                <a:solidFill>
                  <a:schemeClr val="tx1"/>
                </a:solidFill>
              </a:rPr>
              <a:t>Parse dates on import </a:t>
            </a:r>
            <a:pPr indent="0" marL="0">
              <a:buNone/>
            </a:pPr>
            <a:r>
              <a:rPr lang="en-US" sz="1600" dirty="0">
                <a:solidFill>
                  <a:schemeClr val="tx1"/>
                </a:solidFill>
              </a:rPr>
              <a:t>to allow date checks and follow-up intervals.</a:t>
            </a:r>
            <a:endParaRPr lang="en-US" sz="1600" dirty="0"/>
          </a:p>
          <a:p>
            <a:pPr marL="190500" indent="-190500">
              <a:spcAft>
                <a:spcPts val="800"/>
              </a:spcAft>
              <a:buSzPct val="100000"/>
              <a:buChar char="•"/>
            </a:pPr>
            <a:r>
              <a:rPr lang="en-US" sz="1600" b="1" dirty="0">
                <a:solidFill>
                  <a:schemeClr val="tx1"/>
                </a:solidFill>
              </a:rPr>
              <a:t>pandas and matplotlib </a:t>
            </a:r>
            <a:pPr indent="0" marL="0">
              <a:buNone/>
            </a:pPr>
            <a:r>
              <a:rPr lang="en-US" sz="1600" dirty="0">
                <a:solidFill>
                  <a:schemeClr val="tx1"/>
                </a:solidFill>
              </a:rPr>
              <a:t>handle tables and plots; seaborn adds statistical plots; ggplot2, dplyr and tidyr (in tidyverse) do the same in R.</a:t>
            </a:r>
            <a:endParaRPr lang="en-US" sz="1600" dirty="0"/>
          </a:p>
        </p:txBody>
      </p:sp>
      <p:sp>
        <p:nvSpPr>
          <p:cNvPr id="30" name="resource chip"/>
          <p:cNvSpPr/>
          <p:nvPr/>
        </p:nvSpPr>
        <p:spPr>
          <a:xfrm>
            <a:off x="8229600" y="3886200"/>
            <a:ext cx="3502152" cy="310896"/>
          </a:xfrm>
          <a:prstGeom prst="roundRect">
            <a:avLst>
              <a:gd name="adj" fmla="val 50000"/>
            </a:avLst>
          </a:prstGeom>
          <a:solidFill>
            <a:schemeClr val="accent4"/>
          </a:solidFill>
          <a:ln w="12700">
            <a:solidFill>
              <a:schemeClr val="accent4"/>
            </a:solidFill>
            <a:prstDash val="solid"/>
          </a:ln>
        </p:spPr>
      </p:sp>
      <p:sp>
        <p:nvSpPr>
          <p:cNvPr id="31" name="resource link"/>
          <p:cNvSpPr txBox="1"/>
          <p:nvPr/>
        </p:nvSpPr>
        <p:spPr>
          <a:xfrm>
            <a:off x="8366760" y="3886200"/>
            <a:ext cx="3227832"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1" invalidUrl="" action="" tgtFrame="" tooltip="https://pandas.pydata.org/docs/getting_started/intro_tutorials/index.html" history="1" highlightClick="0" endSnd="0">
                  <a:extLst>
                    <a:ext uri="{A12FA001-AC4F-418D-AE19-62706E023703}">
                      <ahyp:hlinkClr xmlns:ahyp="http://schemas.microsoft.com/office/drawing/2018/hyperlinkcolor" val="tx"/>
                    </a:ext>
                  </a:extLst>
                </a:hlinkClick>
              </a:rPr>
              <a:t>pandas intro tutorials</a:t>
            </a:r>
            <a:endParaRPr lang="en-US" sz="1100" dirty="0"/>
          </a:p>
        </p:txBody>
      </p:sp>
      <p:sp>
        <p:nvSpPr>
          <p:cNvPr id="32" name="resource chip"/>
          <p:cNvSpPr/>
          <p:nvPr/>
        </p:nvSpPr>
        <p:spPr>
          <a:xfrm>
            <a:off x="8229600" y="4343400"/>
            <a:ext cx="3502152" cy="310896"/>
          </a:xfrm>
          <a:prstGeom prst="roundRect">
            <a:avLst>
              <a:gd name="adj" fmla="val 50000"/>
            </a:avLst>
          </a:prstGeom>
          <a:solidFill>
            <a:schemeClr val="accent4"/>
          </a:solidFill>
          <a:ln w="12700">
            <a:solidFill>
              <a:schemeClr val="accent4"/>
            </a:solidFill>
            <a:prstDash val="solid"/>
          </a:ln>
        </p:spPr>
      </p:sp>
      <p:sp>
        <p:nvSpPr>
          <p:cNvPr id="33" name="resource link"/>
          <p:cNvSpPr txBox="1"/>
          <p:nvPr/>
        </p:nvSpPr>
        <p:spPr>
          <a:xfrm>
            <a:off x="8366760" y="4343400"/>
            <a:ext cx="3227832"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2" invalidUrl="" action="" tgtFrame="" tooltip="https://swcarpentry.github.io/python-novice-inflammation/" history="1" highlightClick="0" endSnd="0">
                  <a:extLst>
                    <a:ext uri="{A12FA001-AC4F-418D-AE19-62706E023703}">
                      <ahyp:hlinkClr xmlns:ahyp="http://schemas.microsoft.com/office/drawing/2018/hyperlinkcolor" val="tx"/>
                    </a:ext>
                  </a:extLst>
                </a:hlinkClick>
              </a:rPr>
              <a:t>Software Carpentry Python</a:t>
            </a:r>
            <a:endParaRPr lang="en-US" sz="1100" dirty="0"/>
          </a:p>
        </p:txBody>
      </p:sp>
      <p:sp>
        <p:nvSpPr>
          <p:cNvPr id="34" name="resource chip"/>
          <p:cNvSpPr/>
          <p:nvPr/>
        </p:nvSpPr>
        <p:spPr>
          <a:xfrm>
            <a:off x="8229600" y="4800600"/>
            <a:ext cx="3502152" cy="310896"/>
          </a:xfrm>
          <a:prstGeom prst="roundRect">
            <a:avLst>
              <a:gd name="adj" fmla="val 50000"/>
            </a:avLst>
          </a:prstGeom>
          <a:solidFill>
            <a:schemeClr val="accent4"/>
          </a:solidFill>
          <a:ln w="12700">
            <a:solidFill>
              <a:schemeClr val="accent4"/>
            </a:solidFill>
            <a:prstDash val="solid"/>
          </a:ln>
        </p:spPr>
      </p:sp>
      <p:sp>
        <p:nvSpPr>
          <p:cNvPr id="35" name="resource link"/>
          <p:cNvSpPr txBox="1"/>
          <p:nvPr/>
        </p:nvSpPr>
        <p:spPr>
          <a:xfrm>
            <a:off x="8366760" y="4800600"/>
            <a:ext cx="3227832"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3" invalidUrl="" action="" tgtFrame="" tooltip="https://r4ds.hadley.nz/" history="1" highlightClick="0" endSnd="0">
                  <a:extLst>
                    <a:ext uri="{A12FA001-AC4F-418D-AE19-62706E023703}">
                      <ahyp:hlinkClr xmlns:ahyp="http://schemas.microsoft.com/office/drawing/2018/hyperlinkcolor" val="tx"/>
                    </a:ext>
                  </a:extLst>
                </a:hlinkClick>
              </a:rPr>
              <a:t>R for Data Science (2e)</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First look: structure before statistics</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93154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680585" y="6291072"/>
            <a:ext cx="182880" cy="182880"/>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Load</a:t>
            </a:r>
            <a:endParaRPr lang="en-US" sz="1000" dirty="0"/>
          </a:p>
        </p:txBody>
      </p:sp>
      <p:sp>
        <p:nvSpPr>
          <p:cNvPr id="9" name="tracker Clean"/>
          <p:cNvSpPr/>
          <p:nvPr/>
        </p:nvSpPr>
        <p:spPr>
          <a:xfrm>
            <a:off x="5648706" y="6327648"/>
            <a:ext cx="109728" cy="109728"/>
          </a:xfrm>
          <a:prstGeom prst="ellipse">
            <a:avLst/>
          </a:prstGeom>
          <a:solidFill>
            <a:schemeClr val="bg1"/>
          </a:solidFill>
          <a:ln w="12700">
            <a:solidFill>
              <a:schemeClr val="accent5"/>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Python code panel"/>
          <p:cNvSpPr/>
          <p:nvPr/>
        </p:nvSpPr>
        <p:spPr>
          <a:xfrm>
            <a:off x="457200" y="1737360"/>
            <a:ext cx="5486400" cy="1965960"/>
          </a:xfrm>
          <a:prstGeom prst="roundRect">
            <a:avLst>
              <a:gd name="adj" fmla="val 3721"/>
            </a:avLst>
          </a:prstGeom>
          <a:solidFill>
            <a:schemeClr val="bg2"/>
          </a:solidFill>
          <a:ln w="12700">
            <a:solidFill>
              <a:schemeClr val="bg2"/>
            </a:solidFill>
            <a:prstDash val="solid"/>
          </a:ln>
        </p:spPr>
      </p:sp>
      <p:sp>
        <p:nvSpPr>
          <p:cNvPr id="24" name="Python label"/>
          <p:cNvSpPr txBox="1"/>
          <p:nvPr/>
        </p:nvSpPr>
        <p:spPr>
          <a:xfrm>
            <a:off x="594360" y="181051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5" name="Python code"/>
          <p:cNvSpPr txBox="1"/>
          <p:nvPr/>
        </p:nvSpPr>
        <p:spPr>
          <a:xfrm>
            <a:off x="594360" y="2048256"/>
            <a:ext cx="5212080" cy="1581912"/>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df.shape                      # rows = visits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df["patient_id"].nunique()    # patients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df.info()                     # column types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df.describe()                 # numeric summaries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df["sex"].value_counts(dropna=False)</a:t>
            </a:r>
            <a:endParaRPr lang="en-US" sz="1300" dirty="0"/>
          </a:p>
        </p:txBody>
      </p:sp>
      <p:sp>
        <p:nvSpPr>
          <p:cNvPr id="26" name="R code panel"/>
          <p:cNvSpPr/>
          <p:nvPr/>
        </p:nvSpPr>
        <p:spPr>
          <a:xfrm>
            <a:off x="457200" y="3886200"/>
            <a:ext cx="5486400" cy="1783080"/>
          </a:xfrm>
          <a:prstGeom prst="roundRect">
            <a:avLst>
              <a:gd name="adj" fmla="val 4103"/>
            </a:avLst>
          </a:prstGeom>
          <a:solidFill>
            <a:schemeClr val="bg2"/>
          </a:solidFill>
          <a:ln w="12700">
            <a:solidFill>
              <a:schemeClr val="bg2"/>
            </a:solidFill>
            <a:prstDash val="solid"/>
          </a:ln>
        </p:spPr>
      </p:sp>
      <p:sp>
        <p:nvSpPr>
          <p:cNvPr id="27" name="R label"/>
          <p:cNvSpPr txBox="1"/>
          <p:nvPr/>
        </p:nvSpPr>
        <p:spPr>
          <a:xfrm>
            <a:off x="594360" y="395935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28" name="R code"/>
          <p:cNvSpPr txBox="1"/>
          <p:nvPr/>
        </p:nvSpPr>
        <p:spPr>
          <a:xfrm>
            <a:off x="594360" y="4197096"/>
            <a:ext cx="5212080" cy="1399032"/>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glimpse(df)                   # types and first values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summary(df)</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n_distinct(df$patient_id)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count(df, sex)</a:t>
            </a:r>
            <a:endParaRPr lang="en-US" sz="1200" dirty="0"/>
          </a:p>
        </p:txBody>
      </p:sp>
      <p:sp>
        <p:nvSpPr>
          <p:cNvPr id="29" name="Text 27"/>
          <p:cNvSpPr txBox="1"/>
          <p:nvPr/>
        </p:nvSpPr>
        <p:spPr>
          <a:xfrm>
            <a:off x="6309360" y="1234440"/>
            <a:ext cx="5394960" cy="365760"/>
          </a:xfrm>
          <a:prstGeom prst="rect">
            <a:avLst/>
          </a:prstGeom>
          <a:noFill/>
          <a:ln/>
        </p:spPr>
        <p:txBody>
          <a:bodyPr wrap="square" lIns="0" tIns="0" rIns="0" bIns="0" rtlCol="0" anchor="ctr"/>
          <a:lstStyle/>
          <a:p>
            <a:pPr indent="0" marL="0">
              <a:buNone/>
            </a:pPr>
            <a:r>
              <a:rPr lang="en-US" sz="1700" b="1" dirty="0">
                <a:solidFill>
                  <a:schemeClr val="tx1"/>
                </a:solidFill>
              </a:rPr>
              <a:t>What the first look shows in this dataset</a:t>
            </a:r>
            <a:endParaRPr lang="en-US" sz="1700" dirty="0"/>
          </a:p>
        </p:txBody>
      </p:sp>
      <p:sp>
        <p:nvSpPr>
          <p:cNvPr id="30" name="card"/>
          <p:cNvSpPr/>
          <p:nvPr/>
        </p:nvSpPr>
        <p:spPr>
          <a:xfrm>
            <a:off x="6309360" y="1737360"/>
            <a:ext cx="5422392" cy="896112"/>
          </a:xfrm>
          <a:prstGeom prst="roundRect">
            <a:avLst>
              <a:gd name="adj" fmla="val 10204"/>
            </a:avLst>
          </a:prstGeom>
          <a:solidFill>
            <a:schemeClr val="bg2"/>
          </a:solidFill>
          <a:ln w="12700">
            <a:solidFill>
              <a:schemeClr val="bg2"/>
            </a:solidFill>
            <a:prstDash val="solid"/>
          </a:ln>
        </p:spPr>
      </p:sp>
      <p:sp>
        <p:nvSpPr>
          <p:cNvPr id="31" name="Text 29"/>
          <p:cNvSpPr txBox="1"/>
          <p:nvPr/>
        </p:nvSpPr>
        <p:spPr>
          <a:xfrm>
            <a:off x="6492240" y="1810512"/>
            <a:ext cx="5029200" cy="320040"/>
          </a:xfrm>
          <a:prstGeom prst="rect">
            <a:avLst/>
          </a:prstGeom>
          <a:noFill/>
          <a:ln/>
        </p:spPr>
        <p:txBody>
          <a:bodyPr wrap="square" lIns="0" tIns="0" rIns="0" bIns="0" rtlCol="0" anchor="ctr"/>
          <a:lstStyle/>
          <a:p>
            <a:pPr indent="0" marL="0">
              <a:buNone/>
            </a:pPr>
            <a:r>
              <a:rPr lang="en-US" sz="1500" b="1" dirty="0">
                <a:solidFill>
                  <a:schemeClr val="accent1"/>
                </a:solidFill>
              </a:rPr>
              <a:t>550 rows, 420 patients</a:t>
            </a:r>
            <a:endParaRPr lang="en-US" sz="1500" dirty="0"/>
          </a:p>
        </p:txBody>
      </p:sp>
      <p:sp>
        <p:nvSpPr>
          <p:cNvPr id="32" name="Text 30"/>
          <p:cNvSpPr txBox="1"/>
          <p:nvPr/>
        </p:nvSpPr>
        <p:spPr>
          <a:xfrm>
            <a:off x="6492240" y="2130552"/>
            <a:ext cx="5029200" cy="457200"/>
          </a:xfrm>
          <a:prstGeom prst="rect">
            <a:avLst/>
          </a:prstGeom>
          <a:noFill/>
          <a:ln/>
        </p:spPr>
        <p:txBody>
          <a:bodyPr wrap="square" lIns="0" tIns="0" rIns="0" bIns="0" rtlCol="0" anchor="t"/>
          <a:lstStyle/>
          <a:p>
            <a:pPr indent="0" marL="0">
              <a:buNone/>
            </a:pPr>
            <a:r>
              <a:rPr lang="en-US" sz="1300" dirty="0">
                <a:solidFill>
                  <a:schemeClr val="tx1"/>
                </a:solidFill>
              </a:rPr>
              <a:t>Some patients have two visits. Decide the unit of analysis before summarising.</a:t>
            </a:r>
            <a:endParaRPr lang="en-US" sz="1300" dirty="0"/>
          </a:p>
        </p:txBody>
      </p:sp>
      <p:sp>
        <p:nvSpPr>
          <p:cNvPr id="33" name="card"/>
          <p:cNvSpPr/>
          <p:nvPr/>
        </p:nvSpPr>
        <p:spPr>
          <a:xfrm>
            <a:off x="6309360" y="2761488"/>
            <a:ext cx="5422392" cy="896112"/>
          </a:xfrm>
          <a:prstGeom prst="roundRect">
            <a:avLst>
              <a:gd name="adj" fmla="val 10204"/>
            </a:avLst>
          </a:prstGeom>
          <a:solidFill>
            <a:schemeClr val="bg2"/>
          </a:solidFill>
          <a:ln w="12700">
            <a:solidFill>
              <a:schemeClr val="bg2"/>
            </a:solidFill>
            <a:prstDash val="solid"/>
          </a:ln>
        </p:spPr>
      </p:sp>
      <p:sp>
        <p:nvSpPr>
          <p:cNvPr id="34" name="Text 32"/>
          <p:cNvSpPr txBox="1"/>
          <p:nvPr/>
        </p:nvSpPr>
        <p:spPr>
          <a:xfrm>
            <a:off x="6492240" y="2834640"/>
            <a:ext cx="5029200" cy="320040"/>
          </a:xfrm>
          <a:prstGeom prst="rect">
            <a:avLst/>
          </a:prstGeom>
          <a:noFill/>
          <a:ln/>
        </p:spPr>
        <p:txBody>
          <a:bodyPr wrap="square" lIns="0" tIns="0" rIns="0" bIns="0" rtlCol="0" anchor="ctr"/>
          <a:lstStyle/>
          <a:p>
            <a:pPr indent="0" marL="0">
              <a:buNone/>
            </a:pPr>
            <a:r>
              <a:rPr lang="en-US" sz="1500" b="1" dirty="0">
                <a:solidFill>
                  <a:schemeClr val="accent1"/>
                </a:solidFill>
              </a:rPr>
              <a:t>crp has a text type</a:t>
            </a:r>
            <a:endParaRPr lang="en-US" sz="1500" dirty="0"/>
          </a:p>
        </p:txBody>
      </p:sp>
      <p:sp>
        <p:nvSpPr>
          <p:cNvPr id="35" name="Text 33"/>
          <p:cNvSpPr txBox="1"/>
          <p:nvPr/>
        </p:nvSpPr>
        <p:spPr>
          <a:xfrm>
            <a:off x="6492240" y="3154680"/>
            <a:ext cx="5029200" cy="457200"/>
          </a:xfrm>
          <a:prstGeom prst="rect">
            <a:avLst/>
          </a:prstGeom>
          <a:noFill/>
          <a:ln/>
        </p:spPr>
        <p:txBody>
          <a:bodyPr wrap="square" lIns="0" tIns="0" rIns="0" bIns="0" rtlCol="0" anchor="t"/>
          <a:lstStyle/>
          <a:p>
            <a:pPr indent="0" marL="0">
              <a:buNone/>
            </a:pPr>
            <a:r>
              <a:rPr lang="en-US" sz="1300" dirty="0">
                <a:solidFill>
                  <a:schemeClr val="tx1"/>
                </a:solidFill>
              </a:rPr>
              <a:t>"&lt;0.3" values block numeric conversion.</a:t>
            </a:r>
            <a:endParaRPr lang="en-US" sz="1300" dirty="0"/>
          </a:p>
        </p:txBody>
      </p:sp>
      <p:sp>
        <p:nvSpPr>
          <p:cNvPr id="36" name="card"/>
          <p:cNvSpPr/>
          <p:nvPr/>
        </p:nvSpPr>
        <p:spPr>
          <a:xfrm>
            <a:off x="6309360" y="3785616"/>
            <a:ext cx="5422392" cy="896112"/>
          </a:xfrm>
          <a:prstGeom prst="roundRect">
            <a:avLst>
              <a:gd name="adj" fmla="val 10204"/>
            </a:avLst>
          </a:prstGeom>
          <a:solidFill>
            <a:schemeClr val="bg2"/>
          </a:solidFill>
          <a:ln w="12700">
            <a:solidFill>
              <a:schemeClr val="bg2"/>
            </a:solidFill>
            <a:prstDash val="solid"/>
          </a:ln>
        </p:spPr>
      </p:sp>
      <p:sp>
        <p:nvSpPr>
          <p:cNvPr id="37" name="Text 35"/>
          <p:cNvSpPr txBox="1"/>
          <p:nvPr/>
        </p:nvSpPr>
        <p:spPr>
          <a:xfrm>
            <a:off x="6492240" y="3858768"/>
            <a:ext cx="5029200" cy="320040"/>
          </a:xfrm>
          <a:prstGeom prst="rect">
            <a:avLst/>
          </a:prstGeom>
          <a:noFill/>
          <a:ln/>
        </p:spPr>
        <p:txBody>
          <a:bodyPr wrap="square" lIns="0" tIns="0" rIns="0" bIns="0" rtlCol="0" anchor="ctr"/>
          <a:lstStyle/>
          <a:p>
            <a:pPr indent="0" marL="0">
              <a:buNone/>
            </a:pPr>
            <a:r>
              <a:rPr lang="en-US" sz="1500" b="1" dirty="0">
                <a:solidFill>
                  <a:schemeClr val="accent1"/>
                </a:solidFill>
              </a:rPr>
              <a:t>sex has 5 spellings</a:t>
            </a:r>
            <a:endParaRPr lang="en-US" sz="1500" dirty="0"/>
          </a:p>
        </p:txBody>
      </p:sp>
      <p:sp>
        <p:nvSpPr>
          <p:cNvPr id="38" name="Text 36"/>
          <p:cNvSpPr txBox="1"/>
          <p:nvPr/>
        </p:nvSpPr>
        <p:spPr>
          <a:xfrm>
            <a:off x="6492240" y="4178808"/>
            <a:ext cx="5029200" cy="457200"/>
          </a:xfrm>
          <a:prstGeom prst="rect">
            <a:avLst/>
          </a:prstGeom>
          <a:noFill/>
          <a:ln/>
        </p:spPr>
        <p:txBody>
          <a:bodyPr wrap="square" lIns="0" tIns="0" rIns="0" bIns="0" rtlCol="0" anchor="t"/>
          <a:lstStyle/>
          <a:p>
            <a:pPr indent="0" marL="0">
              <a:buNone/>
            </a:pPr>
            <a:r>
              <a:rPr lang="en-US" sz="1300" dirty="0">
                <a:solidFill>
                  <a:schemeClr val="tx1"/>
                </a:solidFill>
              </a:rPr>
              <a:t>female, male, F, Female and "Male " (trailing space).</a:t>
            </a:r>
            <a:endParaRPr lang="en-US" sz="1300" dirty="0"/>
          </a:p>
        </p:txBody>
      </p:sp>
      <p:sp>
        <p:nvSpPr>
          <p:cNvPr id="39" name="card"/>
          <p:cNvSpPr/>
          <p:nvPr/>
        </p:nvSpPr>
        <p:spPr>
          <a:xfrm>
            <a:off x="6309360" y="4809744"/>
            <a:ext cx="5422392" cy="896112"/>
          </a:xfrm>
          <a:prstGeom prst="roundRect">
            <a:avLst>
              <a:gd name="adj" fmla="val 10204"/>
            </a:avLst>
          </a:prstGeom>
          <a:solidFill>
            <a:schemeClr val="bg2"/>
          </a:solidFill>
          <a:ln w="12700">
            <a:solidFill>
              <a:schemeClr val="bg2"/>
            </a:solidFill>
            <a:prstDash val="solid"/>
          </a:ln>
        </p:spPr>
      </p:sp>
      <p:sp>
        <p:nvSpPr>
          <p:cNvPr id="40" name="Text 38"/>
          <p:cNvSpPr txBox="1"/>
          <p:nvPr/>
        </p:nvSpPr>
        <p:spPr>
          <a:xfrm>
            <a:off x="6492240" y="4882896"/>
            <a:ext cx="5029200" cy="320040"/>
          </a:xfrm>
          <a:prstGeom prst="rect">
            <a:avLst/>
          </a:prstGeom>
          <a:noFill/>
          <a:ln/>
        </p:spPr>
        <p:txBody>
          <a:bodyPr wrap="square" lIns="0" tIns="0" rIns="0" bIns="0" rtlCol="0" anchor="ctr"/>
          <a:lstStyle/>
          <a:p>
            <a:pPr indent="0" marL="0">
              <a:buNone/>
            </a:pPr>
            <a:r>
              <a:rPr lang="en-US" sz="1500" b="1" dirty="0">
                <a:solidFill>
                  <a:schemeClr val="accent1"/>
                </a:solidFill>
              </a:rPr>
              <a:t>describe() ranges</a:t>
            </a:r>
            <a:endParaRPr lang="en-US" sz="1500" dirty="0"/>
          </a:p>
        </p:txBody>
      </p:sp>
      <p:sp>
        <p:nvSpPr>
          <p:cNvPr id="41" name="Text 39"/>
          <p:cNvSpPr txBox="1"/>
          <p:nvPr/>
        </p:nvSpPr>
        <p:spPr>
          <a:xfrm>
            <a:off x="6492240" y="5202936"/>
            <a:ext cx="5029200" cy="457200"/>
          </a:xfrm>
          <a:prstGeom prst="rect">
            <a:avLst/>
          </a:prstGeom>
          <a:noFill/>
          <a:ln/>
        </p:spPr>
        <p:txBody>
          <a:bodyPr wrap="square" lIns="0" tIns="0" rIns="0" bIns="0" rtlCol="0" anchor="t"/>
          <a:lstStyle/>
          <a:p>
            <a:pPr indent="0" marL="0">
              <a:buNone/>
            </a:pPr>
            <a:r>
              <a:rPr lang="en-US" sz="1300" dirty="0">
                <a:solidFill>
                  <a:schemeClr val="tx1"/>
                </a:solidFill>
              </a:rPr>
              <a:t>Minimum height of 17.2 cm and cholesterol values near 5 point to entry and unit problems.</a:t>
            </a:r>
            <a:endParaRPr lang="en-US" sz="13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Optional: an automated profile report</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93154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680585" y="6291072"/>
            <a:ext cx="182880" cy="182880"/>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Load</a:t>
            </a:r>
            <a:endParaRPr lang="en-US" sz="1000" dirty="0"/>
          </a:p>
        </p:txBody>
      </p:sp>
      <p:sp>
        <p:nvSpPr>
          <p:cNvPr id="9" name="tracker Clean"/>
          <p:cNvSpPr/>
          <p:nvPr/>
        </p:nvSpPr>
        <p:spPr>
          <a:xfrm>
            <a:off x="5648706" y="6327648"/>
            <a:ext cx="109728" cy="109728"/>
          </a:xfrm>
          <a:prstGeom prst="ellipse">
            <a:avLst/>
          </a:prstGeom>
          <a:solidFill>
            <a:schemeClr val="bg1"/>
          </a:solidFill>
          <a:ln w="12700">
            <a:solidFill>
              <a:schemeClr val="accent5"/>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Python code panel"/>
          <p:cNvSpPr/>
          <p:nvPr/>
        </p:nvSpPr>
        <p:spPr>
          <a:xfrm>
            <a:off x="457200" y="1691640"/>
            <a:ext cx="5669280" cy="2103120"/>
          </a:xfrm>
          <a:prstGeom prst="roundRect">
            <a:avLst>
              <a:gd name="adj" fmla="val 3478"/>
            </a:avLst>
          </a:prstGeom>
          <a:solidFill>
            <a:schemeClr val="bg2"/>
          </a:solidFill>
          <a:ln w="12700">
            <a:solidFill>
              <a:schemeClr val="bg2"/>
            </a:solidFill>
            <a:prstDash val="solid"/>
          </a:ln>
        </p:spPr>
      </p:sp>
      <p:sp>
        <p:nvSpPr>
          <p:cNvPr id="24" name="Python label"/>
          <p:cNvSpPr txBox="1"/>
          <p:nvPr/>
        </p:nvSpPr>
        <p:spPr>
          <a:xfrm>
            <a:off x="594360" y="17647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5" name="Python code"/>
          <p:cNvSpPr txBox="1"/>
          <p:nvPr/>
        </p:nvSpPr>
        <p:spPr>
          <a:xfrm>
            <a:off x="594360" y="2002536"/>
            <a:ext cx="5394960" cy="1719072"/>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 in a terminal (prefix with % in a notebook)</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pip install fg-data-profiling</a:t>
            </a:r>
            <a:endParaRPr lang="en-US" sz="1300" dirty="0"/>
          </a:p>
          <a:p>
            <a:pPr indent="0" marL="0">
              <a:buNone/>
            </a:pP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from data_profiling import ProfileReport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profile = ProfileReport(df, title="Clinic visits")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profile.to_file("outputs/eda_report.html")</a:t>
            </a:r>
            <a:endParaRPr lang="en-US" sz="1300" dirty="0"/>
          </a:p>
        </p:txBody>
      </p:sp>
      <p:sp>
        <p:nvSpPr>
          <p:cNvPr id="26" name="Text 24"/>
          <p:cNvSpPr txBox="1"/>
          <p:nvPr/>
        </p:nvSpPr>
        <p:spPr>
          <a:xfrm>
            <a:off x="457200" y="3840480"/>
            <a:ext cx="5669280" cy="594360"/>
          </a:xfrm>
          <a:prstGeom prst="rect">
            <a:avLst/>
          </a:prstGeom>
          <a:noFill/>
          <a:ln/>
        </p:spPr>
        <p:txBody>
          <a:bodyPr wrap="square" lIns="0" tIns="0" rIns="0" bIns="0" rtlCol="0" anchor="t"/>
          <a:lstStyle/>
          <a:p>
            <a:pPr indent="0" marL="0">
              <a:buNone/>
            </a:pPr>
            <a:r>
              <a:rPr lang="en-US" sz="1200" i="1" dirty="0">
                <a:solidFill>
                  <a:schemeClr val="tx2"/>
                </a:solidFill>
              </a:rPr>
              <a:t>Formerly ydata-profiling: the old package name no longer receives updates. Older tutorials use from ydata_profiling import ProfileReport.</a:t>
            </a:r>
            <a:endParaRPr lang="en-US" sz="1200" dirty="0"/>
          </a:p>
        </p:txBody>
      </p:sp>
      <p:sp>
        <p:nvSpPr>
          <p:cNvPr id="27" name="Text 25"/>
          <p:cNvSpPr txBox="1"/>
          <p:nvPr/>
        </p:nvSpPr>
        <p:spPr>
          <a:xfrm>
            <a:off x="457200" y="4526280"/>
            <a:ext cx="5669280" cy="1005840"/>
          </a:xfrm>
          <a:prstGeom prst="rect">
            <a:avLst/>
          </a:prstGeom>
          <a:noFill/>
          <a:ln/>
        </p:spPr>
        <p:txBody>
          <a:bodyPr wrap="square" lIns="0" tIns="0" rIns="0" bIns="0" rtlCol="0" anchor="t"/>
          <a:lstStyle/>
          <a:p>
            <a:pPr marL="190500" indent="-190500">
              <a:spcAft>
                <a:spcPts val="600"/>
              </a:spcAft>
              <a:buSzPct val="100000"/>
              <a:buChar char="•"/>
            </a:pPr>
            <a:r>
              <a:rPr lang="en-US" sz="1400" b="1" dirty="0">
                <a:solidFill>
                  <a:schemeClr val="tx1"/>
                </a:solidFill>
              </a:rPr>
              <a:t>Useful for: </a:t>
            </a:r>
            <a:pPr indent="0" marL="0">
              <a:buNone/>
            </a:pPr>
            <a:r>
              <a:rPr lang="en-US" sz="1400" dirty="0">
                <a:solidFill>
                  <a:schemeClr val="tx1"/>
                </a:solidFill>
              </a:rPr>
              <a:t>a fast overview of types, distributions, missingness and correlations.</a:t>
            </a:r>
            <a:endParaRPr lang="en-US" sz="1400" dirty="0"/>
          </a:p>
          <a:p>
            <a:pPr marL="190500" indent="-190500">
              <a:spcAft>
                <a:spcPts val="600"/>
              </a:spcAft>
              <a:buSzPct val="100000"/>
              <a:buChar char="•"/>
            </a:pPr>
            <a:r>
              <a:rPr lang="en-US" sz="1400" b="1" dirty="0">
                <a:solidFill>
                  <a:schemeClr val="tx1"/>
                </a:solidFill>
              </a:rPr>
              <a:t>The report flags; it does not decide. </a:t>
            </a:r>
            <a:pPr indent="0" marL="0">
              <a:buNone/>
            </a:pPr>
            <a:r>
              <a:rPr lang="en-US" sz="1400" dirty="0">
                <a:solidFill>
                  <a:schemeClr val="tx1"/>
                </a:solidFill>
              </a:rPr>
              <a:t>Clinical checks come next.</a:t>
            </a:r>
            <a:endParaRPr lang="en-US" sz="1400" dirty="0"/>
          </a:p>
        </p:txBody>
      </p:sp>
      <p:sp>
        <p:nvSpPr>
          <p:cNvPr id="28" name="resource chip"/>
          <p:cNvSpPr/>
          <p:nvPr/>
        </p:nvSpPr>
        <p:spPr>
          <a:xfrm>
            <a:off x="457200" y="5623560"/>
            <a:ext cx="3840480" cy="310896"/>
          </a:xfrm>
          <a:prstGeom prst="roundRect">
            <a:avLst>
              <a:gd name="adj" fmla="val 50000"/>
            </a:avLst>
          </a:prstGeom>
          <a:solidFill>
            <a:schemeClr val="accent4"/>
          </a:solidFill>
          <a:ln w="12700">
            <a:solidFill>
              <a:schemeClr val="accent4"/>
            </a:solidFill>
            <a:prstDash val="solid"/>
          </a:ln>
        </p:spPr>
      </p:sp>
      <p:sp>
        <p:nvSpPr>
          <p:cNvPr id="29" name="resource link"/>
          <p:cNvSpPr txBox="1"/>
          <p:nvPr/>
        </p:nvSpPr>
        <p:spPr>
          <a:xfrm>
            <a:off x="594360" y="5623560"/>
            <a:ext cx="3566160"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1" invalidUrl="" action="" tgtFrame="" tooltip="https://docs.profiling.ydata.ai/latest/getting-started/quickstart/" history="1" highlightClick="0" endSnd="0">
                  <a:extLst>
                    <a:ext uri="{A12FA001-AC4F-418D-AE19-62706E023703}">
                      <ahyp:hlinkClr xmlns:ahyp="http://schemas.microsoft.com/office/drawing/2018/hyperlinkcolor" val="tx"/>
                    </a:ext>
                  </a:extLst>
                </a:hlinkClick>
              </a:rPr>
              <a:t>YData Profiling quickstart</a:t>
            </a:r>
            <a:endParaRPr lang="en-US" sz="1100" dirty="0"/>
          </a:p>
        </p:txBody>
      </p:sp>
      <p:sp>
        <p:nvSpPr>
          <p:cNvPr id="30" name="Text 28"/>
          <p:cNvSpPr txBox="1"/>
          <p:nvPr/>
        </p:nvSpPr>
        <p:spPr>
          <a:xfrm>
            <a:off x="6400800" y="1234440"/>
            <a:ext cx="5330952" cy="365760"/>
          </a:xfrm>
          <a:prstGeom prst="rect">
            <a:avLst/>
          </a:prstGeom>
          <a:noFill/>
          <a:ln/>
        </p:spPr>
        <p:txBody>
          <a:bodyPr wrap="square" lIns="0" tIns="0" rIns="0" bIns="0" rtlCol="0" anchor="ctr"/>
          <a:lstStyle/>
          <a:p>
            <a:pPr indent="0" marL="0">
              <a:buNone/>
            </a:pPr>
            <a:r>
              <a:rPr lang="en-US" sz="1700" b="1" dirty="0">
                <a:solidFill>
                  <a:schemeClr val="tx1"/>
                </a:solidFill>
              </a:rPr>
              <a:t>Run on clinic_visits.csv</a:t>
            </a:r>
            <a:endParaRPr lang="en-US" sz="1700" dirty="0"/>
          </a:p>
        </p:txBody>
      </p:sp>
      <p:sp>
        <p:nvSpPr>
          <p:cNvPr id="31" name="card"/>
          <p:cNvSpPr/>
          <p:nvPr/>
        </p:nvSpPr>
        <p:spPr>
          <a:xfrm>
            <a:off x="6400800" y="1691640"/>
            <a:ext cx="5330952" cy="1965960"/>
          </a:xfrm>
          <a:prstGeom prst="roundRect">
            <a:avLst>
              <a:gd name="adj" fmla="val 4651"/>
            </a:avLst>
          </a:prstGeom>
          <a:solidFill>
            <a:schemeClr val="bg2"/>
          </a:solidFill>
          <a:ln w="12700">
            <a:solidFill>
              <a:schemeClr val="bg2"/>
            </a:solidFill>
            <a:prstDash val="solid"/>
          </a:ln>
        </p:spPr>
      </p:sp>
      <p:sp>
        <p:nvSpPr>
          <p:cNvPr id="32" name="Text 30"/>
          <p:cNvSpPr txBox="1"/>
          <p:nvPr/>
        </p:nvSpPr>
        <p:spPr>
          <a:xfrm>
            <a:off x="6629400" y="1801368"/>
            <a:ext cx="4937760" cy="347472"/>
          </a:xfrm>
          <a:prstGeom prst="rect">
            <a:avLst/>
          </a:prstGeom>
          <a:noFill/>
          <a:ln/>
        </p:spPr>
        <p:txBody>
          <a:bodyPr wrap="square" lIns="0" tIns="0" rIns="0" bIns="0" rtlCol="0" anchor="ctr"/>
          <a:lstStyle/>
          <a:p>
            <a:pPr indent="0" marL="0">
              <a:buNone/>
            </a:pPr>
            <a:r>
              <a:rPr lang="en-US" sz="1500" b="1" dirty="0">
                <a:solidFill>
                  <a:schemeClr val="accent1"/>
                </a:solidFill>
              </a:rPr>
              <a:t>Flagged by the report</a:t>
            </a:r>
            <a:endParaRPr lang="en-US" sz="1500" dirty="0"/>
          </a:p>
        </p:txBody>
      </p:sp>
      <p:sp>
        <p:nvSpPr>
          <p:cNvPr id="33" name="Text 31"/>
          <p:cNvSpPr txBox="1"/>
          <p:nvPr/>
        </p:nvSpPr>
        <p:spPr>
          <a:xfrm>
            <a:off x="6629400" y="2194560"/>
            <a:ext cx="4937760" cy="1417320"/>
          </a:xfrm>
          <a:prstGeom prst="rect">
            <a:avLst/>
          </a:prstGeom>
          <a:noFill/>
          <a:ln/>
        </p:spPr>
        <p:txBody>
          <a:bodyPr wrap="square" lIns="0" tIns="0" rIns="0" bIns="0" rtlCol="0" anchor="t"/>
          <a:lstStyle/>
          <a:p>
            <a:pPr lvl="1" marL="381000" indent="-190500">
              <a:spcAft>
                <a:spcPts val="300"/>
              </a:spcAft>
              <a:buSzPct val="100000"/>
              <a:buChar char="•"/>
            </a:pPr>
            <a:r>
              <a:rPr lang="en-US" sz="1400" dirty="0">
                <a:solidFill>
                  <a:schemeClr val="tx1"/>
                </a:solidFill>
              </a:rPr>
              <a:t>4 duplicate rows</a:t>
            </a:r>
            <a:endParaRPr lang="en-US" sz="1400" dirty="0"/>
          </a:p>
          <a:p>
            <a:pPr lvl="1" marL="381000" indent="-190500">
              <a:spcAft>
                <a:spcPts val="300"/>
              </a:spcAft>
              <a:buSzPct val="100000"/>
              <a:buChar char="•"/>
            </a:pPr>
            <a:r>
              <a:rPr lang="en-US" sz="1400" dirty="0">
                <a:solidFill>
                  <a:schemeClr val="tx1"/>
                </a:solidFill>
              </a:rPr>
              <a:t>crp: 30% missing; hdl, cholesterol, weight 7 to 9%</a:t>
            </a:r>
            <a:endParaRPr lang="en-US" sz="1400" dirty="0"/>
          </a:p>
          <a:p>
            <a:pPr lvl="1" marL="381000" indent="-190500">
              <a:spcAft>
                <a:spcPts val="300"/>
              </a:spcAft>
              <a:buSzPct val="100000"/>
              <a:buChar char="•"/>
            </a:pPr>
            <a:r>
              <a:rPr lang="en-US" sz="1400" dirty="0">
                <a:solidFill>
                  <a:schemeClr val="tx1"/>
                </a:solidFill>
              </a:rPr>
              <a:t>sex 'highly imbalanced' (really 5 spellings)</a:t>
            </a:r>
            <a:endParaRPr lang="en-US" sz="1400" dirty="0"/>
          </a:p>
          <a:p>
            <a:pPr lvl="1" marL="381000" indent="-190500">
              <a:spcAft>
                <a:spcPts val="300"/>
              </a:spcAft>
              <a:buSzPct val="100000"/>
              <a:buChar char="•"/>
            </a:pPr>
            <a:r>
              <a:rPr lang="en-US" sz="1400" dirty="0">
                <a:solidFill>
                  <a:schemeClr val="tx1"/>
                </a:solidFill>
              </a:rPr>
              <a:t>SBP and DBP highly correlated (expected)</a:t>
            </a:r>
            <a:endParaRPr lang="en-US" sz="1400" dirty="0"/>
          </a:p>
        </p:txBody>
      </p:sp>
      <p:sp>
        <p:nvSpPr>
          <p:cNvPr id="34" name="card"/>
          <p:cNvSpPr/>
          <p:nvPr/>
        </p:nvSpPr>
        <p:spPr>
          <a:xfrm>
            <a:off x="6400800" y="3794760"/>
            <a:ext cx="5330952" cy="1965960"/>
          </a:xfrm>
          <a:prstGeom prst="roundRect">
            <a:avLst>
              <a:gd name="adj" fmla="val 4651"/>
            </a:avLst>
          </a:prstGeom>
          <a:solidFill>
            <a:schemeClr val="accent4"/>
          </a:solidFill>
          <a:ln w="12700">
            <a:solidFill>
              <a:schemeClr val="accent4"/>
            </a:solidFill>
            <a:prstDash val="solid"/>
          </a:ln>
        </p:spPr>
      </p:sp>
      <p:sp>
        <p:nvSpPr>
          <p:cNvPr id="35" name="Text 33"/>
          <p:cNvSpPr txBox="1"/>
          <p:nvPr/>
        </p:nvSpPr>
        <p:spPr>
          <a:xfrm>
            <a:off x="6629400" y="3904488"/>
            <a:ext cx="4937760" cy="347472"/>
          </a:xfrm>
          <a:prstGeom prst="rect">
            <a:avLst/>
          </a:prstGeom>
          <a:noFill/>
          <a:ln/>
        </p:spPr>
        <p:txBody>
          <a:bodyPr wrap="square" lIns="0" tIns="0" rIns="0" bIns="0" rtlCol="0" anchor="ctr"/>
          <a:lstStyle/>
          <a:p>
            <a:pPr indent="0" marL="0">
              <a:buNone/>
            </a:pPr>
            <a:r>
              <a:rPr lang="en-US" sz="1500" b="1" dirty="0">
                <a:solidFill>
                  <a:schemeClr val="accent1"/>
                </a:solidFill>
              </a:rPr>
              <a:t>Not flagged: needs clinical checks</a:t>
            </a:r>
            <a:endParaRPr lang="en-US" sz="1500" dirty="0"/>
          </a:p>
        </p:txBody>
      </p:sp>
      <p:sp>
        <p:nvSpPr>
          <p:cNvPr id="36" name="Text 34"/>
          <p:cNvSpPr txBox="1"/>
          <p:nvPr/>
        </p:nvSpPr>
        <p:spPr>
          <a:xfrm>
            <a:off x="6629400" y="4297680"/>
            <a:ext cx="4937760" cy="1417320"/>
          </a:xfrm>
          <a:prstGeom prst="rect">
            <a:avLst/>
          </a:prstGeom>
          <a:noFill/>
          <a:ln/>
        </p:spPr>
        <p:txBody>
          <a:bodyPr wrap="square" lIns="0" tIns="0" rIns="0" bIns="0" rtlCol="0" anchor="t"/>
          <a:lstStyle/>
          <a:p>
            <a:pPr lvl="1" marL="381000" indent="-190500">
              <a:spcAft>
                <a:spcPts val="300"/>
              </a:spcAft>
              <a:buSzPct val="100000"/>
              <a:buChar char="•"/>
            </a:pPr>
            <a:r>
              <a:rPr lang="en-US" sz="1400" dirty="0">
                <a:solidFill>
                  <a:schemeClr val="tx1"/>
                </a:solidFill>
              </a:rPr>
              <a:t>Cholesterol in mmol/L at one site</a:t>
            </a:r>
            <a:endParaRPr lang="en-US" sz="1400" dirty="0"/>
          </a:p>
          <a:p>
            <a:pPr lvl="1" marL="381000" indent="-190500">
              <a:spcAft>
                <a:spcPts val="300"/>
              </a:spcAft>
              <a:buSzPct val="100000"/>
              <a:buChar char="•"/>
            </a:pPr>
            <a:r>
              <a:rPr lang="en-US" sz="1400" dirty="0">
                <a:solidFill>
                  <a:schemeClr val="tx1"/>
                </a:solidFill>
              </a:rPr>
              <a:t>Diastolic ≥ systolic in 2 visits</a:t>
            </a:r>
            <a:endParaRPr lang="en-US" sz="1400" dirty="0"/>
          </a:p>
          <a:p>
            <a:pPr lvl="1" marL="381000" indent="-190500">
              <a:spcAft>
                <a:spcPts val="300"/>
              </a:spcAft>
              <a:buSzPct val="100000"/>
              <a:buChar char="•"/>
            </a:pPr>
            <a:r>
              <a:rPr lang="en-US" sz="1400" dirty="0">
                <a:solidFill>
                  <a:schemeClr val="tx1"/>
                </a:solidFill>
              </a:rPr>
              <a:t>Follow-up dated before baseline</a:t>
            </a:r>
            <a:endParaRPr lang="en-US" sz="1400" dirty="0"/>
          </a:p>
          <a:p>
            <a:pPr lvl="1" marL="381000" indent="-190500">
              <a:spcAft>
                <a:spcPts val="300"/>
              </a:spcAft>
              <a:buSzPct val="100000"/>
              <a:buChar char="•"/>
            </a:pPr>
            <a:r>
              <a:rPr lang="en-US" sz="1400" dirty="0">
                <a:solidFill>
                  <a:schemeClr val="tx1"/>
                </a:solidFill>
              </a:rPr>
              <a:t>Repeat visits versus true duplicates</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Data cleaning: make the table consistent</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1863090"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12130" y="6291072"/>
            <a:ext cx="182880" cy="182880"/>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Clean</a:t>
            </a:r>
            <a:endParaRPr lang="en-US" sz="1000" dirty="0"/>
          </a:p>
        </p:txBody>
      </p:sp>
      <p:sp>
        <p:nvSpPr>
          <p:cNvPr id="11"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4552" cy="914400"/>
        </p:xfrm>
        <a:graphic>
          <a:graphicData uri="http://schemas.openxmlformats.org/drawingml/2006/table">
            <a:tbl>
              <a:tblPr/>
              <a:tblGrid>
                <a:gridCol w="2743200"/>
                <a:gridCol w="4389120"/>
                <a:gridCol w="4142232"/>
              </a:tblGrid>
              <a:tr h="457200">
                <a:tc>
                  <a:txBody>
                    <a:bodyPr/>
                    <a:lstStyle/>
                    <a:p>
                      <a:pPr indent="0" marL="0">
                        <a:buNone/>
                      </a:pPr>
                      <a:r>
                        <a:rPr lang="en-US" sz="1400" b="1" dirty="0">
                          <a:solidFill>
                            <a:schemeClr val="bg1"/>
                          </a:solidFill>
                        </a:rPr>
                        <a:t>Step</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In this dataset</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Why it matters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457200">
                <a:tc>
                  <a:txBody>
                    <a:bodyPr/>
                    <a:lstStyle/>
                    <a:p>
                      <a:pPr indent="0" marL="0">
                        <a:buNone/>
                      </a:pPr>
                      <a:r>
                        <a:rPr lang="en-US" sz="1400" dirty="0">
                          <a:solidFill>
                            <a:schemeClr val="tx1"/>
                          </a:solidFill>
                        </a:rPr>
                        <a:t>Fix column names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snake_case, no spaces or units in symbols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Clean names are easier to code and to read in output</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400" dirty="0">
                          <a:solidFill>
                            <a:schemeClr val="tx1"/>
                          </a:solidFill>
                        </a:rPr>
                        <a:t>Recode missing-value codes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-99 in hdl and weight_kg → missing</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A code treated as a number distorts every summary</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400" dirty="0">
                          <a:solidFill>
                            <a:schemeClr val="tx1"/>
                          </a:solidFill>
                        </a:rPr>
                        <a:t>Unify category labels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"F", "Female", "Male " → female, male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Inconsistent labels create false categories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400" dirty="0">
                          <a:solidFill>
                            <a:schemeClr val="tx1"/>
                          </a:solidFill>
                        </a:rPr>
                        <a:t>Convert data types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crp text → numeric, plus a below-LOD flag</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Numeric summaries and plots need numeric columns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400" dirty="0">
                          <a:solidFill>
                            <a:schemeClr val="tx1"/>
                          </a:solidFill>
                        </a:rPr>
                        <a:t>Remove exact duplicate records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4 rows that are copies of another row</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Double entry inflates n and biases estimates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4" name="Python code panel"/>
          <p:cNvSpPr/>
          <p:nvPr/>
        </p:nvSpPr>
        <p:spPr>
          <a:xfrm>
            <a:off x="457200" y="4206240"/>
            <a:ext cx="5486400" cy="1783080"/>
          </a:xfrm>
          <a:prstGeom prst="roundRect">
            <a:avLst>
              <a:gd name="adj" fmla="val 4103"/>
            </a:avLst>
          </a:prstGeom>
          <a:solidFill>
            <a:schemeClr val="bg2"/>
          </a:solidFill>
          <a:ln w="12700">
            <a:solidFill>
              <a:schemeClr val="bg2"/>
            </a:solidFill>
            <a:prstDash val="solid"/>
          </a:ln>
        </p:spPr>
      </p:sp>
      <p:sp>
        <p:nvSpPr>
          <p:cNvPr id="25" name="Python label"/>
          <p:cNvSpPr txBox="1"/>
          <p:nvPr/>
        </p:nvSpPr>
        <p:spPr>
          <a:xfrm>
            <a:off x="594360" y="42793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6" name="Python code"/>
          <p:cNvSpPr txBox="1"/>
          <p:nvPr/>
        </p:nvSpPr>
        <p:spPr>
          <a:xfrm>
            <a:off x="594360" y="4517136"/>
            <a:ext cx="5212080" cy="1399032"/>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df["sex"] = (df["sex"].str.strip().str.lower()</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.replace({"f": "female", "m": "male"}))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df = df.drop_duplicates()            # exact copies only</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df["crp_below_lod"] = df["crp"].eq("&lt;0.3")</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df["crp"] = pd.to_numeric(df["crp"].replace("&lt;0.3", 0.15))</a:t>
            </a:r>
            <a:endParaRPr lang="en-US" sz="1100" dirty="0"/>
          </a:p>
        </p:txBody>
      </p:sp>
      <p:sp>
        <p:nvSpPr>
          <p:cNvPr id="27" name="R code panel"/>
          <p:cNvSpPr/>
          <p:nvPr/>
        </p:nvSpPr>
        <p:spPr>
          <a:xfrm>
            <a:off x="6245352" y="4206240"/>
            <a:ext cx="5486400" cy="1783080"/>
          </a:xfrm>
          <a:prstGeom prst="roundRect">
            <a:avLst>
              <a:gd name="adj" fmla="val 4103"/>
            </a:avLst>
          </a:prstGeom>
          <a:solidFill>
            <a:schemeClr val="bg2"/>
          </a:solidFill>
          <a:ln w="12700">
            <a:solidFill>
              <a:schemeClr val="bg2"/>
            </a:solidFill>
            <a:prstDash val="solid"/>
          </a:ln>
        </p:spPr>
      </p:sp>
      <p:sp>
        <p:nvSpPr>
          <p:cNvPr id="28" name="R label"/>
          <p:cNvSpPr txBox="1"/>
          <p:nvPr/>
        </p:nvSpPr>
        <p:spPr>
          <a:xfrm>
            <a:off x="6382512" y="42793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29" name="R code"/>
          <p:cNvSpPr txBox="1"/>
          <p:nvPr/>
        </p:nvSpPr>
        <p:spPr>
          <a:xfrm>
            <a:off x="6382512" y="4517136"/>
            <a:ext cx="5212080" cy="1399032"/>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df &lt;- df |&gt;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mutate(sex = str_to_lower(str_trim(sex)),</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sex = case_match(sex, "f" ~ "female",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.default = sex),</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crp_below_lod = crp == "&lt;0.3",</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crp = as.numeric(if_else(crp_below_lod,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"0.15", crp))) |&gt;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distinct()</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Clinical data checks</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1863090"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12130" y="6291072"/>
            <a:ext cx="182880" cy="182880"/>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Clean</a:t>
            </a:r>
            <a:endParaRPr lang="en-US" sz="1000" dirty="0"/>
          </a:p>
        </p:txBody>
      </p:sp>
      <p:sp>
        <p:nvSpPr>
          <p:cNvPr id="11"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card"/>
          <p:cNvSpPr/>
          <p:nvPr/>
        </p:nvSpPr>
        <p:spPr>
          <a:xfrm>
            <a:off x="457200" y="1234440"/>
            <a:ext cx="5486400" cy="1417320"/>
          </a:xfrm>
          <a:prstGeom prst="roundRect">
            <a:avLst>
              <a:gd name="adj" fmla="val 6452"/>
            </a:avLst>
          </a:prstGeom>
          <a:solidFill>
            <a:schemeClr val="bg2"/>
          </a:solidFill>
          <a:ln w="12700">
            <a:solidFill>
              <a:schemeClr val="bg2"/>
            </a:solidFill>
            <a:prstDash val="solid"/>
          </a:ln>
        </p:spPr>
      </p:sp>
      <p:sp>
        <p:nvSpPr>
          <p:cNvPr id="24" name="icon circle"/>
          <p:cNvSpPr/>
          <p:nvPr/>
        </p:nvSpPr>
        <p:spPr>
          <a:xfrm>
            <a:off x="685800" y="1508760"/>
            <a:ext cx="640080" cy="640080"/>
          </a:xfrm>
          <a:prstGeom prst="ellipse">
            <a:avLst/>
          </a:prstGeom>
          <a:solidFill>
            <a:schemeClr val="accent1"/>
          </a:solidFill>
          <a:ln w="12700">
            <a:solidFill>
              <a:schemeClr val="accent1"/>
            </a:solidFill>
            <a:prstDash val="solid"/>
          </a:ln>
        </p:spPr>
      </p:sp>
      <p:pic>
        <p:nvPicPr>
          <p:cNvPr id="25" name="icon" descr="preencoded.png">    </p:cNvPr>
          <p:cNvPicPr>
            <a:picLocks noChangeAspect="1"/>
          </p:cNvPicPr>
          <p:nvPr/>
        </p:nvPicPr>
        <p:blipFill>
          <a:blip r:embed="rId1"/>
          <a:stretch>
            <a:fillRect/>
          </a:stretch>
        </p:blipFill>
        <p:spPr>
          <a:xfrm>
            <a:off x="845820" y="1668780"/>
            <a:ext cx="320040" cy="320040"/>
          </a:xfrm>
          <a:prstGeom prst="rect">
            <a:avLst/>
          </a:prstGeom>
        </p:spPr>
      </p:pic>
      <p:sp>
        <p:nvSpPr>
          <p:cNvPr id="26" name="Text 23"/>
          <p:cNvSpPr txBox="1"/>
          <p:nvPr/>
        </p:nvSpPr>
        <p:spPr>
          <a:xfrm>
            <a:off x="1508760" y="1344168"/>
            <a:ext cx="4297680" cy="320040"/>
          </a:xfrm>
          <a:prstGeom prst="rect">
            <a:avLst/>
          </a:prstGeom>
          <a:noFill/>
          <a:ln/>
        </p:spPr>
        <p:txBody>
          <a:bodyPr wrap="square" lIns="0" tIns="0" rIns="0" bIns="0" rtlCol="0" anchor="ctr"/>
          <a:lstStyle/>
          <a:p>
            <a:pPr indent="0" marL="0">
              <a:buNone/>
            </a:pPr>
            <a:r>
              <a:rPr lang="en-US" sz="1600" b="1" dirty="0">
                <a:solidFill>
                  <a:schemeClr val="tx1"/>
                </a:solidFill>
              </a:rPr>
              <a:t>Unit mismatches</a:t>
            </a:r>
            <a:endParaRPr lang="en-US" sz="1600" dirty="0"/>
          </a:p>
        </p:txBody>
      </p:sp>
      <p:sp>
        <p:nvSpPr>
          <p:cNvPr id="27" name="Text 24"/>
          <p:cNvSpPr txBox="1"/>
          <p:nvPr/>
        </p:nvSpPr>
        <p:spPr>
          <a:xfrm>
            <a:off x="1508760" y="1673352"/>
            <a:ext cx="4297680" cy="438912"/>
          </a:xfrm>
          <a:prstGeom prst="rect">
            <a:avLst/>
          </a:prstGeom>
          <a:noFill/>
          <a:ln/>
        </p:spPr>
        <p:txBody>
          <a:bodyPr wrap="square" lIns="0" tIns="0" rIns="0" bIns="0" rtlCol="0" anchor="t"/>
          <a:lstStyle/>
          <a:p>
            <a:pPr indent="0" marL="0">
              <a:buNone/>
            </a:pPr>
            <a:r>
              <a:rPr lang="en-US" sz="1300" dirty="0">
                <a:solidFill>
                  <a:schemeClr val="accent1"/>
                </a:solidFill>
              </a:rPr>
              <a:t>46 cholesterol values from site C in 2023 are in mmol/L, not mg/dL.</a:t>
            </a:r>
            <a:endParaRPr lang="en-US" sz="1300" dirty="0"/>
          </a:p>
        </p:txBody>
      </p:sp>
      <p:sp>
        <p:nvSpPr>
          <p:cNvPr id="28" name="Text 25"/>
          <p:cNvSpPr txBox="1"/>
          <p:nvPr/>
        </p:nvSpPr>
        <p:spPr>
          <a:xfrm>
            <a:off x="1508760" y="2103120"/>
            <a:ext cx="4297680" cy="502920"/>
          </a:xfrm>
          <a:prstGeom prst="rect">
            <a:avLst/>
          </a:prstGeom>
          <a:noFill/>
          <a:ln/>
        </p:spPr>
        <p:txBody>
          <a:bodyPr wrap="square" lIns="0" tIns="0" rIns="0" bIns="0" rtlCol="0" anchor="t"/>
          <a:lstStyle/>
          <a:p>
            <a:pPr indent="0" marL="0">
              <a:buNone/>
            </a:pPr>
            <a:r>
              <a:rPr lang="en-US" sz="1200" dirty="0">
                <a:solidFill>
                  <a:schemeClr val="tx2"/>
                </a:solidFill>
              </a:rPr>
              <a:t>Check ranges by site and period; convert (× 38.67) only after confirming with the site.</a:t>
            </a:r>
            <a:endParaRPr lang="en-US" sz="1200" dirty="0"/>
          </a:p>
        </p:txBody>
      </p:sp>
      <p:sp>
        <p:nvSpPr>
          <p:cNvPr id="29" name="card"/>
          <p:cNvSpPr/>
          <p:nvPr/>
        </p:nvSpPr>
        <p:spPr>
          <a:xfrm>
            <a:off x="457200" y="2807208"/>
            <a:ext cx="5486400" cy="1417320"/>
          </a:xfrm>
          <a:prstGeom prst="roundRect">
            <a:avLst>
              <a:gd name="adj" fmla="val 6452"/>
            </a:avLst>
          </a:prstGeom>
          <a:solidFill>
            <a:schemeClr val="bg2"/>
          </a:solidFill>
          <a:ln w="12700">
            <a:solidFill>
              <a:schemeClr val="bg2"/>
            </a:solidFill>
            <a:prstDash val="solid"/>
          </a:ln>
        </p:spPr>
      </p:sp>
      <p:sp>
        <p:nvSpPr>
          <p:cNvPr id="30" name="icon circle"/>
          <p:cNvSpPr/>
          <p:nvPr/>
        </p:nvSpPr>
        <p:spPr>
          <a:xfrm>
            <a:off x="685800" y="3081528"/>
            <a:ext cx="640080" cy="640080"/>
          </a:xfrm>
          <a:prstGeom prst="ellipse">
            <a:avLst/>
          </a:prstGeom>
          <a:solidFill>
            <a:schemeClr val="accent1"/>
          </a:solidFill>
          <a:ln w="12700">
            <a:solidFill>
              <a:schemeClr val="accent1"/>
            </a:solidFill>
            <a:prstDash val="solid"/>
          </a:ln>
        </p:spPr>
      </p:sp>
      <p:pic>
        <p:nvPicPr>
          <p:cNvPr id="31" name="icon" descr="preencoded.png">    </p:cNvPr>
          <p:cNvPicPr>
            <a:picLocks noChangeAspect="1"/>
          </p:cNvPicPr>
          <p:nvPr/>
        </p:nvPicPr>
        <p:blipFill>
          <a:blip r:embed="rId2"/>
          <a:stretch>
            <a:fillRect/>
          </a:stretch>
        </p:blipFill>
        <p:spPr>
          <a:xfrm>
            <a:off x="845820" y="3241548"/>
            <a:ext cx="320040" cy="320040"/>
          </a:xfrm>
          <a:prstGeom prst="rect">
            <a:avLst/>
          </a:prstGeom>
        </p:spPr>
      </p:pic>
      <p:sp>
        <p:nvSpPr>
          <p:cNvPr id="32" name="Text 28"/>
          <p:cNvSpPr txBox="1"/>
          <p:nvPr/>
        </p:nvSpPr>
        <p:spPr>
          <a:xfrm>
            <a:off x="1508760" y="2916936"/>
            <a:ext cx="4297680" cy="320040"/>
          </a:xfrm>
          <a:prstGeom prst="rect">
            <a:avLst/>
          </a:prstGeom>
          <a:noFill/>
          <a:ln/>
        </p:spPr>
        <p:txBody>
          <a:bodyPr wrap="square" lIns="0" tIns="0" rIns="0" bIns="0" rtlCol="0" anchor="ctr"/>
          <a:lstStyle/>
          <a:p>
            <a:pPr indent="0" marL="0">
              <a:buNone/>
            </a:pPr>
            <a:r>
              <a:rPr lang="en-US" sz="1600" b="1" dirty="0">
                <a:solidFill>
                  <a:schemeClr val="tx1"/>
                </a:solidFill>
              </a:rPr>
              <a:t>Repeat visits vs duplicates</a:t>
            </a:r>
            <a:endParaRPr lang="en-US" sz="1600" dirty="0"/>
          </a:p>
        </p:txBody>
      </p:sp>
      <p:sp>
        <p:nvSpPr>
          <p:cNvPr id="33" name="Text 29"/>
          <p:cNvSpPr txBox="1"/>
          <p:nvPr/>
        </p:nvSpPr>
        <p:spPr>
          <a:xfrm>
            <a:off x="1508760" y="3246120"/>
            <a:ext cx="4297680" cy="438912"/>
          </a:xfrm>
          <a:prstGeom prst="rect">
            <a:avLst/>
          </a:prstGeom>
          <a:noFill/>
          <a:ln/>
        </p:spPr>
        <p:txBody>
          <a:bodyPr wrap="square" lIns="0" tIns="0" rIns="0" bIns="0" rtlCol="0" anchor="t"/>
          <a:lstStyle/>
          <a:p>
            <a:pPr indent="0" marL="0">
              <a:buNone/>
            </a:pPr>
            <a:r>
              <a:rPr lang="en-US" sz="1300" dirty="0">
                <a:solidFill>
                  <a:schemeClr val="accent1"/>
                </a:solidFill>
              </a:rPr>
              <a:t>126 follow-up visits are legitimate repeat measurements. 4 rows are exact copies.</a:t>
            </a:r>
            <a:endParaRPr lang="en-US" sz="1300" dirty="0"/>
          </a:p>
        </p:txBody>
      </p:sp>
      <p:sp>
        <p:nvSpPr>
          <p:cNvPr id="34" name="Text 30"/>
          <p:cNvSpPr txBox="1"/>
          <p:nvPr/>
        </p:nvSpPr>
        <p:spPr>
          <a:xfrm>
            <a:off x="1508760" y="3675888"/>
            <a:ext cx="4297680" cy="502920"/>
          </a:xfrm>
          <a:prstGeom prst="rect">
            <a:avLst/>
          </a:prstGeom>
          <a:noFill/>
          <a:ln/>
        </p:spPr>
        <p:txBody>
          <a:bodyPr wrap="square" lIns="0" tIns="0" rIns="0" bIns="0" rtlCol="0" anchor="t"/>
          <a:lstStyle/>
          <a:p>
            <a:pPr indent="0" marL="0">
              <a:buNone/>
            </a:pPr>
            <a:r>
              <a:rPr lang="en-US" sz="1200" dirty="0">
                <a:solidFill>
                  <a:schemeClr val="tx2"/>
                </a:solidFill>
              </a:rPr>
              <a:t>A duplicate is the same patient and visit twice; a repeat is a new measurement.</a:t>
            </a:r>
            <a:endParaRPr lang="en-US" sz="1200" dirty="0"/>
          </a:p>
        </p:txBody>
      </p:sp>
      <p:sp>
        <p:nvSpPr>
          <p:cNvPr id="35" name="card"/>
          <p:cNvSpPr/>
          <p:nvPr/>
        </p:nvSpPr>
        <p:spPr>
          <a:xfrm>
            <a:off x="457200" y="4379976"/>
            <a:ext cx="5486400" cy="1417320"/>
          </a:xfrm>
          <a:prstGeom prst="roundRect">
            <a:avLst>
              <a:gd name="adj" fmla="val 6452"/>
            </a:avLst>
          </a:prstGeom>
          <a:solidFill>
            <a:schemeClr val="bg2"/>
          </a:solidFill>
          <a:ln w="12700">
            <a:solidFill>
              <a:schemeClr val="bg2"/>
            </a:solidFill>
            <a:prstDash val="solid"/>
          </a:ln>
        </p:spPr>
      </p:sp>
      <p:sp>
        <p:nvSpPr>
          <p:cNvPr id="36" name="icon circle"/>
          <p:cNvSpPr/>
          <p:nvPr/>
        </p:nvSpPr>
        <p:spPr>
          <a:xfrm>
            <a:off x="685800" y="4654296"/>
            <a:ext cx="640080" cy="640080"/>
          </a:xfrm>
          <a:prstGeom prst="ellipse">
            <a:avLst/>
          </a:prstGeom>
          <a:solidFill>
            <a:schemeClr val="accent1"/>
          </a:solidFill>
          <a:ln w="12700">
            <a:solidFill>
              <a:schemeClr val="accent1"/>
            </a:solidFill>
            <a:prstDash val="solid"/>
          </a:ln>
        </p:spPr>
      </p:sp>
      <p:pic>
        <p:nvPicPr>
          <p:cNvPr id="37" name="icon" descr="preencoded.png">    </p:cNvPr>
          <p:cNvPicPr>
            <a:picLocks noChangeAspect="1"/>
          </p:cNvPicPr>
          <p:nvPr/>
        </p:nvPicPr>
        <p:blipFill>
          <a:blip r:embed="rId3"/>
          <a:stretch>
            <a:fillRect/>
          </a:stretch>
        </p:blipFill>
        <p:spPr>
          <a:xfrm>
            <a:off x="845820" y="4814316"/>
            <a:ext cx="320040" cy="320040"/>
          </a:xfrm>
          <a:prstGeom prst="rect">
            <a:avLst/>
          </a:prstGeom>
        </p:spPr>
      </p:pic>
      <p:sp>
        <p:nvSpPr>
          <p:cNvPr id="38" name="Text 33"/>
          <p:cNvSpPr txBox="1"/>
          <p:nvPr/>
        </p:nvSpPr>
        <p:spPr>
          <a:xfrm>
            <a:off x="1508760" y="4489704"/>
            <a:ext cx="4297680" cy="320040"/>
          </a:xfrm>
          <a:prstGeom prst="rect">
            <a:avLst/>
          </a:prstGeom>
          <a:noFill/>
          <a:ln/>
        </p:spPr>
        <p:txBody>
          <a:bodyPr wrap="square" lIns="0" tIns="0" rIns="0" bIns="0" rtlCol="0" anchor="ctr"/>
          <a:lstStyle/>
          <a:p>
            <a:pPr indent="0" marL="0">
              <a:buNone/>
            </a:pPr>
            <a:r>
              <a:rPr lang="en-US" sz="1600" b="1" dirty="0">
                <a:solidFill>
                  <a:schemeClr val="tx1"/>
                </a:solidFill>
              </a:rPr>
              <a:t>Inconsistent dates</a:t>
            </a:r>
            <a:endParaRPr lang="en-US" sz="1600" dirty="0"/>
          </a:p>
        </p:txBody>
      </p:sp>
      <p:sp>
        <p:nvSpPr>
          <p:cNvPr id="39" name="Text 34"/>
          <p:cNvSpPr txBox="1"/>
          <p:nvPr/>
        </p:nvSpPr>
        <p:spPr>
          <a:xfrm>
            <a:off x="1508760" y="4818888"/>
            <a:ext cx="4297680" cy="438912"/>
          </a:xfrm>
          <a:prstGeom prst="rect">
            <a:avLst/>
          </a:prstGeom>
          <a:noFill/>
          <a:ln/>
        </p:spPr>
        <p:txBody>
          <a:bodyPr wrap="square" lIns="0" tIns="0" rIns="0" bIns="0" rtlCol="0" anchor="t"/>
          <a:lstStyle/>
          <a:p>
            <a:pPr indent="0" marL="0">
              <a:buNone/>
            </a:pPr>
            <a:r>
              <a:rPr lang="en-US" sz="1300" dirty="0">
                <a:solidFill>
                  <a:schemeClr val="accent1"/>
                </a:solidFill>
              </a:rPr>
              <a:t>1 follow-up visit is dated before the baseline visit.</a:t>
            </a:r>
            <a:endParaRPr lang="en-US" sz="1300" dirty="0"/>
          </a:p>
        </p:txBody>
      </p:sp>
      <p:sp>
        <p:nvSpPr>
          <p:cNvPr id="40" name="Text 35"/>
          <p:cNvSpPr txBox="1"/>
          <p:nvPr/>
        </p:nvSpPr>
        <p:spPr>
          <a:xfrm>
            <a:off x="1508760" y="5248656"/>
            <a:ext cx="4297680" cy="502920"/>
          </a:xfrm>
          <a:prstGeom prst="rect">
            <a:avLst/>
          </a:prstGeom>
          <a:noFill/>
          <a:ln/>
        </p:spPr>
        <p:txBody>
          <a:bodyPr wrap="square" lIns="0" tIns="0" rIns="0" bIns="0" rtlCol="0" anchor="t"/>
          <a:lstStyle/>
          <a:p>
            <a:pPr indent="0" marL="0">
              <a:buNone/>
            </a:pPr>
            <a:r>
              <a:rPr lang="en-US" sz="1200" dirty="0">
                <a:solidFill>
                  <a:schemeClr val="tx2"/>
                </a:solidFill>
              </a:rPr>
              <a:t>Check order of visits, dates in the future, and follow-up intervals.</a:t>
            </a:r>
            <a:endParaRPr lang="en-US" sz="1200" dirty="0"/>
          </a:p>
        </p:txBody>
      </p:sp>
      <p:sp>
        <p:nvSpPr>
          <p:cNvPr id="41" name="card"/>
          <p:cNvSpPr/>
          <p:nvPr/>
        </p:nvSpPr>
        <p:spPr>
          <a:xfrm>
            <a:off x="6245352" y="1234440"/>
            <a:ext cx="5486400" cy="1417320"/>
          </a:xfrm>
          <a:prstGeom prst="roundRect">
            <a:avLst>
              <a:gd name="adj" fmla="val 6452"/>
            </a:avLst>
          </a:prstGeom>
          <a:solidFill>
            <a:schemeClr val="bg2"/>
          </a:solidFill>
          <a:ln w="12700">
            <a:solidFill>
              <a:schemeClr val="bg2"/>
            </a:solidFill>
            <a:prstDash val="solid"/>
          </a:ln>
        </p:spPr>
      </p:sp>
      <p:sp>
        <p:nvSpPr>
          <p:cNvPr id="42" name="icon circle"/>
          <p:cNvSpPr/>
          <p:nvPr/>
        </p:nvSpPr>
        <p:spPr>
          <a:xfrm>
            <a:off x="6473952" y="1508760"/>
            <a:ext cx="640080" cy="640080"/>
          </a:xfrm>
          <a:prstGeom prst="ellipse">
            <a:avLst/>
          </a:prstGeom>
          <a:solidFill>
            <a:schemeClr val="accent1"/>
          </a:solidFill>
          <a:ln w="12700">
            <a:solidFill>
              <a:schemeClr val="accent1"/>
            </a:solidFill>
            <a:prstDash val="solid"/>
          </a:ln>
        </p:spPr>
      </p:sp>
      <p:pic>
        <p:nvPicPr>
          <p:cNvPr id="43" name="icon" descr="preencoded.png">    </p:cNvPr>
          <p:cNvPicPr>
            <a:picLocks noChangeAspect="1"/>
          </p:cNvPicPr>
          <p:nvPr/>
        </p:nvPicPr>
        <p:blipFill>
          <a:blip r:embed="rId4"/>
          <a:stretch>
            <a:fillRect/>
          </a:stretch>
        </p:blipFill>
        <p:spPr>
          <a:xfrm>
            <a:off x="6633972" y="1668780"/>
            <a:ext cx="320040" cy="320040"/>
          </a:xfrm>
          <a:prstGeom prst="rect">
            <a:avLst/>
          </a:prstGeom>
        </p:spPr>
      </p:pic>
      <p:sp>
        <p:nvSpPr>
          <p:cNvPr id="44" name="Text 38"/>
          <p:cNvSpPr txBox="1"/>
          <p:nvPr/>
        </p:nvSpPr>
        <p:spPr>
          <a:xfrm>
            <a:off x="7296912" y="1344168"/>
            <a:ext cx="4297680" cy="320040"/>
          </a:xfrm>
          <a:prstGeom prst="rect">
            <a:avLst/>
          </a:prstGeom>
          <a:noFill/>
          <a:ln/>
        </p:spPr>
        <p:txBody>
          <a:bodyPr wrap="square" lIns="0" tIns="0" rIns="0" bIns="0" rtlCol="0" anchor="ctr"/>
          <a:lstStyle/>
          <a:p>
            <a:pPr indent="0" marL="0">
              <a:buNone/>
            </a:pPr>
            <a:r>
              <a:rPr lang="en-US" sz="1600" b="1" dirty="0">
                <a:solidFill>
                  <a:schemeClr val="tx1"/>
                </a:solidFill>
              </a:rPr>
              <a:t>Impossible values and combinations</a:t>
            </a:r>
            <a:endParaRPr lang="en-US" sz="1600" dirty="0"/>
          </a:p>
        </p:txBody>
      </p:sp>
      <p:sp>
        <p:nvSpPr>
          <p:cNvPr id="45" name="Text 39"/>
          <p:cNvSpPr txBox="1"/>
          <p:nvPr/>
        </p:nvSpPr>
        <p:spPr>
          <a:xfrm>
            <a:off x="7296912" y="1673352"/>
            <a:ext cx="4297680" cy="438912"/>
          </a:xfrm>
          <a:prstGeom prst="rect">
            <a:avLst/>
          </a:prstGeom>
          <a:noFill/>
          <a:ln/>
        </p:spPr>
        <p:txBody>
          <a:bodyPr wrap="square" lIns="0" tIns="0" rIns="0" bIns="0" rtlCol="0" anchor="t"/>
          <a:lstStyle/>
          <a:p>
            <a:pPr indent="0" marL="0">
              <a:buNone/>
            </a:pPr>
            <a:r>
              <a:rPr lang="en-US" sz="1300" dirty="0">
                <a:solidFill>
                  <a:schemeClr val="accent1"/>
                </a:solidFill>
              </a:rPr>
              <a:t>2 visits with diastolic ≥ systolic BP; 1 height of 17.2 cm.</a:t>
            </a:r>
            <a:endParaRPr lang="en-US" sz="1300" dirty="0"/>
          </a:p>
        </p:txBody>
      </p:sp>
      <p:sp>
        <p:nvSpPr>
          <p:cNvPr id="46" name="Text 40"/>
          <p:cNvSpPr txBox="1"/>
          <p:nvPr/>
        </p:nvSpPr>
        <p:spPr>
          <a:xfrm>
            <a:off x="7296912" y="2103120"/>
            <a:ext cx="4297680" cy="502920"/>
          </a:xfrm>
          <a:prstGeom prst="rect">
            <a:avLst/>
          </a:prstGeom>
          <a:noFill/>
          <a:ln/>
        </p:spPr>
        <p:txBody>
          <a:bodyPr wrap="square" lIns="0" tIns="0" rIns="0" bIns="0" rtlCol="0" anchor="t"/>
          <a:lstStyle/>
          <a:p>
            <a:pPr indent="0" marL="0">
              <a:buNone/>
            </a:pPr>
            <a:r>
              <a:rPr lang="en-US" sz="1200" dirty="0">
                <a:solidFill>
                  <a:schemeClr val="tx2"/>
                </a:solidFill>
              </a:rPr>
              <a:t>Use clinical rules: DBP &lt; SBP, plausible height, no pregnancy in males.</a:t>
            </a:r>
            <a:endParaRPr lang="en-US" sz="1200" dirty="0"/>
          </a:p>
        </p:txBody>
      </p:sp>
      <p:sp>
        <p:nvSpPr>
          <p:cNvPr id="47" name="card"/>
          <p:cNvSpPr/>
          <p:nvPr/>
        </p:nvSpPr>
        <p:spPr>
          <a:xfrm>
            <a:off x="6245352" y="2807208"/>
            <a:ext cx="5486400" cy="1417320"/>
          </a:xfrm>
          <a:prstGeom prst="roundRect">
            <a:avLst>
              <a:gd name="adj" fmla="val 6452"/>
            </a:avLst>
          </a:prstGeom>
          <a:solidFill>
            <a:schemeClr val="bg2"/>
          </a:solidFill>
          <a:ln w="12700">
            <a:solidFill>
              <a:schemeClr val="bg2"/>
            </a:solidFill>
            <a:prstDash val="solid"/>
          </a:ln>
        </p:spPr>
      </p:sp>
      <p:sp>
        <p:nvSpPr>
          <p:cNvPr id="48" name="icon circle"/>
          <p:cNvSpPr/>
          <p:nvPr/>
        </p:nvSpPr>
        <p:spPr>
          <a:xfrm>
            <a:off x="6473952" y="3081528"/>
            <a:ext cx="640080" cy="640080"/>
          </a:xfrm>
          <a:prstGeom prst="ellipse">
            <a:avLst/>
          </a:prstGeom>
          <a:solidFill>
            <a:schemeClr val="accent1"/>
          </a:solidFill>
          <a:ln w="12700">
            <a:solidFill>
              <a:schemeClr val="accent1"/>
            </a:solidFill>
            <a:prstDash val="solid"/>
          </a:ln>
        </p:spPr>
      </p:sp>
      <p:pic>
        <p:nvPicPr>
          <p:cNvPr id="49" name="icon" descr="preencoded.png">    </p:cNvPr>
          <p:cNvPicPr>
            <a:picLocks noChangeAspect="1"/>
          </p:cNvPicPr>
          <p:nvPr/>
        </p:nvPicPr>
        <p:blipFill>
          <a:blip r:embed="rId5"/>
          <a:stretch>
            <a:fillRect/>
          </a:stretch>
        </p:blipFill>
        <p:spPr>
          <a:xfrm>
            <a:off x="6633972" y="3241548"/>
            <a:ext cx="320040" cy="320040"/>
          </a:xfrm>
          <a:prstGeom prst="rect">
            <a:avLst/>
          </a:prstGeom>
        </p:spPr>
      </p:pic>
      <p:sp>
        <p:nvSpPr>
          <p:cNvPr id="50" name="Text 43"/>
          <p:cNvSpPr txBox="1"/>
          <p:nvPr/>
        </p:nvSpPr>
        <p:spPr>
          <a:xfrm>
            <a:off x="7296912" y="2916936"/>
            <a:ext cx="4297680" cy="320040"/>
          </a:xfrm>
          <a:prstGeom prst="rect">
            <a:avLst/>
          </a:prstGeom>
          <a:noFill/>
          <a:ln/>
        </p:spPr>
        <p:txBody>
          <a:bodyPr wrap="square" lIns="0" tIns="0" rIns="0" bIns="0" rtlCol="0" anchor="ctr"/>
          <a:lstStyle/>
          <a:p>
            <a:pPr indent="0" marL="0">
              <a:buNone/>
            </a:pPr>
            <a:r>
              <a:rPr lang="en-US" sz="1600" b="1" dirty="0">
                <a:solidFill>
                  <a:schemeClr val="tx1"/>
                </a:solidFill>
              </a:rPr>
              <a:t>Below detection limits</a:t>
            </a:r>
            <a:endParaRPr lang="en-US" sz="1600" dirty="0"/>
          </a:p>
        </p:txBody>
      </p:sp>
      <p:sp>
        <p:nvSpPr>
          <p:cNvPr id="51" name="Text 44"/>
          <p:cNvSpPr txBox="1"/>
          <p:nvPr/>
        </p:nvSpPr>
        <p:spPr>
          <a:xfrm>
            <a:off x="7296912" y="3246120"/>
            <a:ext cx="4297680" cy="438912"/>
          </a:xfrm>
          <a:prstGeom prst="rect">
            <a:avLst/>
          </a:prstGeom>
          <a:noFill/>
          <a:ln/>
        </p:spPr>
        <p:txBody>
          <a:bodyPr wrap="square" lIns="0" tIns="0" rIns="0" bIns="0" rtlCol="0" anchor="t"/>
          <a:lstStyle/>
          <a:p>
            <a:pPr indent="0" marL="0">
              <a:buNone/>
            </a:pPr>
            <a:r>
              <a:rPr lang="en-US" sz="1300" dirty="0">
                <a:solidFill>
                  <a:schemeClr val="accent1"/>
                </a:solidFill>
              </a:rPr>
              <a:t>9 CRP results recorded as "&lt;0.3".</a:t>
            </a:r>
            <a:endParaRPr lang="en-US" sz="1300" dirty="0"/>
          </a:p>
        </p:txBody>
      </p:sp>
      <p:sp>
        <p:nvSpPr>
          <p:cNvPr id="52" name="Text 45"/>
          <p:cNvSpPr txBox="1"/>
          <p:nvPr/>
        </p:nvSpPr>
        <p:spPr>
          <a:xfrm>
            <a:off x="7296912" y="3675888"/>
            <a:ext cx="4297680" cy="502920"/>
          </a:xfrm>
          <a:prstGeom prst="rect">
            <a:avLst/>
          </a:prstGeom>
          <a:noFill/>
          <a:ln/>
        </p:spPr>
        <p:txBody>
          <a:bodyPr wrap="square" lIns="0" tIns="0" rIns="0" bIns="0" rtlCol="0" anchor="t"/>
          <a:lstStyle/>
          <a:p>
            <a:pPr indent="0" marL="0">
              <a:buNone/>
            </a:pPr>
            <a:r>
              <a:rPr lang="en-US" sz="1200" dirty="0">
                <a:solidFill>
                  <a:schemeClr val="tx2"/>
                </a:solidFill>
              </a:rPr>
              <a:t>Censored, not missing and not zero. Keep a flag and document the substituted value.</a:t>
            </a:r>
            <a:endParaRPr lang="en-US" sz="1200" dirty="0"/>
          </a:p>
        </p:txBody>
      </p:sp>
      <p:sp>
        <p:nvSpPr>
          <p:cNvPr id="53" name="card"/>
          <p:cNvSpPr/>
          <p:nvPr/>
        </p:nvSpPr>
        <p:spPr>
          <a:xfrm>
            <a:off x="6245352" y="4379976"/>
            <a:ext cx="5486400" cy="1417320"/>
          </a:xfrm>
          <a:prstGeom prst="roundRect">
            <a:avLst>
              <a:gd name="adj" fmla="val 6452"/>
            </a:avLst>
          </a:prstGeom>
          <a:solidFill>
            <a:schemeClr val="accent4"/>
          </a:solidFill>
          <a:ln w="12700">
            <a:solidFill>
              <a:schemeClr val="accent4"/>
            </a:solidFill>
            <a:prstDash val="solid"/>
          </a:ln>
        </p:spPr>
      </p:sp>
      <p:sp>
        <p:nvSpPr>
          <p:cNvPr id="54" name="Text 47"/>
          <p:cNvSpPr txBox="1"/>
          <p:nvPr/>
        </p:nvSpPr>
        <p:spPr>
          <a:xfrm>
            <a:off x="6473952" y="4480560"/>
            <a:ext cx="5029200" cy="1234440"/>
          </a:xfrm>
          <a:prstGeom prst="rect">
            <a:avLst/>
          </a:prstGeom>
          <a:noFill/>
          <a:ln/>
        </p:spPr>
        <p:txBody>
          <a:bodyPr wrap="square" lIns="0" tIns="0" rIns="0" bIns="0" rtlCol="0" anchor="t"/>
          <a:lstStyle/>
          <a:p>
            <a:pPr indent="0" marL="0">
              <a:buNone/>
            </a:pPr>
            <a:r>
              <a:rPr lang="en-US" sz="1400" b="1" dirty="0">
                <a:solidFill>
                  <a:schemeClr val="accent1"/>
                </a:solidFill>
              </a:rPr>
              <a:t>Rule for every check</a:t>
            </a:r>
            <a:endParaRPr lang="en-US" sz="1400" dirty="0"/>
          </a:p>
          <a:p>
            <a:pPr indent="0" marL="0">
              <a:buNone/>
            </a:pPr>
            <a:r>
              <a:rPr lang="en-US" sz="1400" dirty="0">
                <a:solidFill>
                  <a:schemeClr val="tx1"/>
                </a:solidFill>
              </a:rPr>
              <a:t>Query the source first. If a value cannot be resolved, set it to missing, and log the decision with the reason and the number of rows affected.</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Clinical data checks in code</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1863090"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12130" y="6291072"/>
            <a:ext cx="182880" cy="182880"/>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Clean</a:t>
            </a:r>
            <a:endParaRPr lang="en-US" sz="1000" dirty="0"/>
          </a:p>
        </p:txBody>
      </p:sp>
      <p:sp>
        <p:nvSpPr>
          <p:cNvPr id="11" name="tracker Explore"/>
          <p:cNvSpPr/>
          <p:nvPr/>
        </p:nvSpPr>
        <p:spPr>
          <a:xfrm>
            <a:off x="6580251" y="6327648"/>
            <a:ext cx="109728" cy="109728"/>
          </a:xfrm>
          <a:prstGeom prst="ellipse">
            <a:avLst/>
          </a:prstGeom>
          <a:solidFill>
            <a:schemeClr val="bg1"/>
          </a:solidFill>
          <a:ln w="12700">
            <a:solidFill>
              <a:schemeClr val="accent5"/>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Python code panel"/>
          <p:cNvSpPr/>
          <p:nvPr/>
        </p:nvSpPr>
        <p:spPr>
          <a:xfrm>
            <a:off x="457200" y="1234440"/>
            <a:ext cx="6400800" cy="4572000"/>
          </a:xfrm>
          <a:prstGeom prst="roundRect">
            <a:avLst>
              <a:gd name="adj" fmla="val 1600"/>
            </a:avLst>
          </a:prstGeom>
          <a:solidFill>
            <a:schemeClr val="bg2"/>
          </a:solidFill>
          <a:ln w="12700">
            <a:solidFill>
              <a:schemeClr val="bg2"/>
            </a:solidFill>
            <a:prstDash val="solid"/>
          </a:ln>
        </p:spPr>
      </p:sp>
      <p:sp>
        <p:nvSpPr>
          <p:cNvPr id="24" name="Python label"/>
          <p:cNvSpPr txBox="1"/>
          <p:nvPr/>
        </p:nvSpPr>
        <p:spPr>
          <a:xfrm>
            <a:off x="594360" y="13075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5" name="Python code"/>
          <p:cNvSpPr txBox="1"/>
          <p:nvPr/>
        </p:nvSpPr>
        <p:spPr>
          <a:xfrm>
            <a:off x="594360" y="1545336"/>
            <a:ext cx="6126480" cy="4187952"/>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df = df.sort_values(["patient_id", "visit"])</a:t>
            </a:r>
            <a:endParaRPr lang="en-US" sz="1150" dirty="0"/>
          </a:p>
          <a:p>
            <a:pPr indent="0" marL="0">
              <a:buNone/>
            </a:pP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(i) unit mismatch: cholesterol in mmol/L</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mmol = df["cholesterol_total"] &lt; 20</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df.loc[mmol, "cholesterol_total"] *= 38.67</a:t>
            </a:r>
            <a:endParaRPr lang="en-US" sz="1150" dirty="0"/>
          </a:p>
          <a:p>
            <a:pPr indent="0" marL="0">
              <a:buNone/>
            </a:pP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(ii) same patient-visit twice?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df.duplicated(["patient_id", "visit"]).sum()</a:t>
            </a:r>
            <a:endParaRPr lang="en-US" sz="1150" dirty="0"/>
          </a:p>
          <a:p>
            <a:pPr indent="0" marL="0">
              <a:buNone/>
            </a:pP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(iii) follow-up dated before baseline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first = df.groupby("patient_id")["visit_date"].transform("first")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bad_date = df["visit_date"] &lt; first</a:t>
            </a:r>
            <a:endParaRPr lang="en-US" sz="1150" dirty="0"/>
          </a:p>
          <a:p>
            <a:pPr indent="0" marL="0">
              <a:buNone/>
            </a:pP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(iv) impossible values and combinations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bad_bp = df["diastolic_bp"] &gt;= df["systolic_bp"]</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bad_height = (df["height_cm"].notna()</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&amp; ~df["height_cm"].between(120, 220))</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df.loc[bad_bp, ["systolic_bp", "diastolic_bp"]] = np.nan</a:t>
            </a:r>
            <a:endParaRPr lang="en-US" sz="1150" dirty="0"/>
          </a:p>
        </p:txBody>
      </p:sp>
      <p:pic>
        <p:nvPicPr>
          <p:cNvPr id="26" name="Systolic versus diastolic blood pressure, raw data" descr="Systolic versus diastolic blood pressure, raw data">    </p:cNvPr>
          <p:cNvPicPr>
            <a:picLocks noChangeAspect="1"/>
          </p:cNvPicPr>
          <p:nvPr/>
        </p:nvPicPr>
        <p:blipFill>
          <a:blip r:embed="rId1"/>
          <a:stretch>
            <a:fillRect/>
          </a:stretch>
        </p:blipFill>
        <p:spPr>
          <a:xfrm>
            <a:off x="7132320" y="1308580"/>
            <a:ext cx="4599432" cy="3417880"/>
          </a:xfrm>
          <a:prstGeom prst="rect">
            <a:avLst/>
          </a:prstGeom>
        </p:spPr>
      </p:pic>
      <p:sp>
        <p:nvSpPr>
          <p:cNvPr id="27" name="Text 24"/>
          <p:cNvSpPr txBox="1"/>
          <p:nvPr/>
        </p:nvSpPr>
        <p:spPr>
          <a:xfrm>
            <a:off x="7132320" y="4892040"/>
            <a:ext cx="4599432" cy="914400"/>
          </a:xfrm>
          <a:prstGeom prst="rect">
            <a:avLst/>
          </a:prstGeom>
          <a:noFill/>
          <a:ln/>
        </p:spPr>
        <p:txBody>
          <a:bodyPr wrap="square" lIns="0" tIns="0" rIns="0" bIns="0" rtlCol="0" anchor="t"/>
          <a:lstStyle/>
          <a:p>
            <a:pPr indent="0" marL="0">
              <a:buNone/>
            </a:pPr>
            <a:r>
              <a:rPr lang="en-US" sz="1300" dirty="0">
                <a:solidFill>
                  <a:schemeClr val="tx1"/>
                </a:solidFill>
              </a:rPr>
              <a:t>Two visits lie above the line of equality: diastolic ≥ systolic is impossible, most likely swapped at entry. The 212 mmHg reading is extreme but plausible, so it is verified rather than deleted.</a:t>
            </a:r>
            <a:endParaRPr lang="en-US" sz="13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Descriptive statistics: choose by type and shape</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279463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43675" y="6291072"/>
            <a:ext cx="182880" cy="182880"/>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4552" cy="914400"/>
        </p:xfrm>
        <a:graphic>
          <a:graphicData uri="http://schemas.openxmlformats.org/drawingml/2006/table">
            <a:tbl>
              <a:tblPr/>
              <a:tblGrid>
                <a:gridCol w="2560320"/>
                <a:gridCol w="1737360"/>
                <a:gridCol w="1554480"/>
                <a:gridCol w="2606040"/>
                <a:gridCol w="2816352"/>
              </a:tblGrid>
              <a:tr h="566928">
                <a:tc>
                  <a:txBody>
                    <a:bodyPr/>
                    <a:lstStyle/>
                    <a:p>
                      <a:pPr indent="0" marL="0">
                        <a:buNone/>
                      </a:pPr>
                      <a:r>
                        <a:rPr lang="en-US" sz="1400" b="1" dirty="0">
                          <a:solidFill>
                            <a:schemeClr val="bg1"/>
                          </a:solidFill>
                        </a:rPr>
                        <a:t>Data type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Central tendency</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Spread</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Report as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Plots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566928">
                <a:tc>
                  <a:txBody>
                    <a:bodyPr/>
                    <a:lstStyle/>
                    <a:p>
                      <a:pPr indent="0" marL="0">
                        <a:buNone/>
                      </a:pPr>
                      <a:r>
                        <a:rPr lang="en-US" sz="1400" dirty="0">
                          <a:solidFill>
                            <a:schemeClr val="tx1"/>
                          </a:solidFill>
                        </a:rPr>
                        <a:t>Nominal / binary</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Mode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Not applicable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n/N (%) per category</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Bar chart</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00" dirty="0">
                          <a:solidFill>
                            <a:schemeClr val="tx1"/>
                          </a:solidFill>
                        </a:rPr>
                        <a:t>Ordinal</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Median, mode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IQR, range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n/N (%) per level, or median (IQR)</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Ordered bar chart</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00" dirty="0">
                          <a:solidFill>
                            <a:schemeClr val="tx1"/>
                          </a:solidFill>
                        </a:rPr>
                        <a:t>Discrete counts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Median or mean</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IQR or SD</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Depends on shape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Bar or dot plot, histogram</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00" dirty="0">
                          <a:solidFill>
                            <a:schemeClr val="tx1"/>
                          </a:solidFill>
                        </a:rPr>
                        <a:t>Continuous, roughly symmetric</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Mean</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SD</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mean (SD)</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Histogram, Q-Q plot, box plot</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00" dirty="0">
                          <a:solidFill>
                            <a:schemeClr val="tx1"/>
                          </a:solidFill>
                        </a:rPr>
                        <a:t>Continuous, skewed</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Median</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IQR, range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median (IQR)</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Histogram, Q-Q plot, box or violin plot</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4" name="card"/>
          <p:cNvSpPr/>
          <p:nvPr/>
        </p:nvSpPr>
        <p:spPr>
          <a:xfrm>
            <a:off x="457200" y="4892040"/>
            <a:ext cx="11274552" cy="1005840"/>
          </a:xfrm>
          <a:prstGeom prst="roundRect">
            <a:avLst>
              <a:gd name="adj" fmla="val 9091"/>
            </a:avLst>
          </a:prstGeom>
          <a:solidFill>
            <a:schemeClr val="accent4"/>
          </a:solidFill>
          <a:ln w="12700">
            <a:solidFill>
              <a:schemeClr val="accent4"/>
            </a:solidFill>
            <a:prstDash val="solid"/>
          </a:ln>
        </p:spPr>
      </p:sp>
      <p:sp>
        <p:nvSpPr>
          <p:cNvPr id="25" name="Text 22"/>
          <p:cNvSpPr txBox="1"/>
          <p:nvPr/>
        </p:nvSpPr>
        <p:spPr>
          <a:xfrm>
            <a:off x="685800" y="4892040"/>
            <a:ext cx="10817352" cy="1005840"/>
          </a:xfrm>
          <a:prstGeom prst="rect">
            <a:avLst/>
          </a:prstGeom>
          <a:noFill/>
          <a:ln/>
        </p:spPr>
        <p:txBody>
          <a:bodyPr wrap="square" lIns="0" tIns="0" rIns="0" bIns="0" rtlCol="0" anchor="ctr"/>
          <a:lstStyle/>
          <a:p>
            <a:pPr indent="0" marL="0">
              <a:buNone/>
            </a:pPr>
            <a:r>
              <a:rPr lang="en-US" sz="1400" b="1" dirty="0">
                <a:solidFill>
                  <a:schemeClr val="accent1"/>
                </a:solidFill>
              </a:rPr>
              <a:t>Shape, not a test result, guides the summary. </a:t>
            </a:r>
            <a:pPr indent="0" marL="0">
              <a:buNone/>
            </a:pPr>
            <a:r>
              <a:rPr lang="en-US" sz="1400" dirty="0">
                <a:solidFill>
                  <a:schemeClr val="tx1"/>
                </a:solidFill>
              </a:rPr>
              <a:t>Look at the histogram and Q-Q plot, consider the sample size and the variable's clinical meaning. CRP is skewed, so it is reported as median (IQR) in mg/L; systolic BP is roughly symmetric, so mean (SD) in mmHg.</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Look at each distribution: histogram and Q-Q plot</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279463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43675" y="6291072"/>
            <a:ext cx="182880" cy="182880"/>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pic>
        <p:nvPicPr>
          <p:cNvPr id="23" name="Histograms and Q-Q plots for systolic BP and CRP" descr="Histograms and Q-Q plots for systolic BP and CRP">    </p:cNvPr>
          <p:cNvPicPr>
            <a:picLocks noChangeAspect="1"/>
          </p:cNvPicPr>
          <p:nvPr/>
        </p:nvPicPr>
        <p:blipFill>
          <a:blip r:embed="rId1"/>
          <a:stretch>
            <a:fillRect/>
          </a:stretch>
        </p:blipFill>
        <p:spPr>
          <a:xfrm>
            <a:off x="457200" y="1442733"/>
            <a:ext cx="6400800" cy="4018255"/>
          </a:xfrm>
          <a:prstGeom prst="rect">
            <a:avLst/>
          </a:prstGeom>
        </p:spPr>
      </p:pic>
      <p:sp>
        <p:nvSpPr>
          <p:cNvPr id="24" name="Python code panel"/>
          <p:cNvSpPr/>
          <p:nvPr/>
        </p:nvSpPr>
        <p:spPr>
          <a:xfrm>
            <a:off x="7132320" y="1188720"/>
            <a:ext cx="4599432" cy="2240280"/>
          </a:xfrm>
          <a:prstGeom prst="roundRect">
            <a:avLst>
              <a:gd name="adj" fmla="val 3265"/>
            </a:avLst>
          </a:prstGeom>
          <a:solidFill>
            <a:schemeClr val="bg2"/>
          </a:solidFill>
          <a:ln w="12700">
            <a:solidFill>
              <a:schemeClr val="bg2"/>
            </a:solidFill>
            <a:prstDash val="solid"/>
          </a:ln>
        </p:spPr>
      </p:sp>
      <p:sp>
        <p:nvSpPr>
          <p:cNvPr id="25" name="Python label"/>
          <p:cNvSpPr txBox="1"/>
          <p:nvPr/>
        </p:nvSpPr>
        <p:spPr>
          <a:xfrm>
            <a:off x="7269480" y="126187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6" name="Python code"/>
          <p:cNvSpPr txBox="1"/>
          <p:nvPr/>
        </p:nvSpPr>
        <p:spPr>
          <a:xfrm>
            <a:off x="7269480" y="1499616"/>
            <a:ext cx="4325112" cy="1856232"/>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import seaborn as sns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from scipy import stats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fig, ax = plt.subplots(1, 2, figsize=(9, 3.5))</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sns.histplot(data=base, x="crp", ax=ax[0])</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stats.probplot(base["crp"].dropna(),</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dist="norm", plot=ax[1])</a:t>
            </a:r>
            <a:endParaRPr lang="en-US" sz="1150" dirty="0"/>
          </a:p>
        </p:txBody>
      </p:sp>
      <p:sp>
        <p:nvSpPr>
          <p:cNvPr id="27" name="R code panel"/>
          <p:cNvSpPr/>
          <p:nvPr/>
        </p:nvSpPr>
        <p:spPr>
          <a:xfrm>
            <a:off x="7132320" y="3566160"/>
            <a:ext cx="4599432" cy="1417320"/>
          </a:xfrm>
          <a:prstGeom prst="roundRect">
            <a:avLst>
              <a:gd name="adj" fmla="val 5161"/>
            </a:avLst>
          </a:prstGeom>
          <a:solidFill>
            <a:schemeClr val="bg2"/>
          </a:solidFill>
          <a:ln w="12700">
            <a:solidFill>
              <a:schemeClr val="bg2"/>
            </a:solidFill>
            <a:prstDash val="solid"/>
          </a:ln>
        </p:spPr>
      </p:sp>
      <p:sp>
        <p:nvSpPr>
          <p:cNvPr id="28" name="R label"/>
          <p:cNvSpPr txBox="1"/>
          <p:nvPr/>
        </p:nvSpPr>
        <p:spPr>
          <a:xfrm>
            <a:off x="7269480" y="363931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29" name="R code"/>
          <p:cNvSpPr txBox="1"/>
          <p:nvPr/>
        </p:nvSpPr>
        <p:spPr>
          <a:xfrm>
            <a:off x="7269480" y="3877056"/>
            <a:ext cx="4325112" cy="1033272"/>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ggplot(base, aes(crp)) + geom_histogram(bins = 30)</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ggplot(base, aes(sample = crp)) +</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stat_qq() + stat_qq_line()</a:t>
            </a:r>
            <a:endParaRPr lang="en-US" sz="1050" dirty="0"/>
          </a:p>
        </p:txBody>
      </p:sp>
      <p:sp>
        <p:nvSpPr>
          <p:cNvPr id="30" name="Text 27"/>
          <p:cNvSpPr txBox="1"/>
          <p:nvPr/>
        </p:nvSpPr>
        <p:spPr>
          <a:xfrm>
            <a:off x="7132320" y="5074920"/>
            <a:ext cx="4599432" cy="502920"/>
          </a:xfrm>
          <a:prstGeom prst="rect">
            <a:avLst/>
          </a:prstGeom>
          <a:noFill/>
          <a:ln/>
        </p:spPr>
        <p:txBody>
          <a:bodyPr wrap="square" lIns="0" tIns="0" rIns="0" bIns="0" rtlCol="0" anchor="t"/>
          <a:lstStyle/>
          <a:p>
            <a:pPr indent="0" marL="0">
              <a:buNone/>
            </a:pPr>
            <a:r>
              <a:rPr lang="en-US" sz="1200" dirty="0">
                <a:solidFill>
                  <a:schemeClr val="tx2"/>
                </a:solidFill>
              </a:rPr>
              <a:t>base = one row per patient (visit 1). Seaborn histplot() and displot() replace the deprecated distplot().</a:t>
            </a:r>
            <a:endParaRPr lang="en-US" sz="1200" dirty="0"/>
          </a:p>
        </p:txBody>
      </p:sp>
      <p:sp>
        <p:nvSpPr>
          <p:cNvPr id="31" name="resource chip"/>
          <p:cNvSpPr/>
          <p:nvPr/>
        </p:nvSpPr>
        <p:spPr>
          <a:xfrm>
            <a:off x="7132320" y="5596128"/>
            <a:ext cx="4599432" cy="310896"/>
          </a:xfrm>
          <a:prstGeom prst="roundRect">
            <a:avLst>
              <a:gd name="adj" fmla="val 50000"/>
            </a:avLst>
          </a:prstGeom>
          <a:solidFill>
            <a:schemeClr val="accent4"/>
          </a:solidFill>
          <a:ln w="12700">
            <a:solidFill>
              <a:schemeClr val="accent4"/>
            </a:solidFill>
            <a:prstDash val="solid"/>
          </a:ln>
        </p:spPr>
      </p:sp>
      <p:sp>
        <p:nvSpPr>
          <p:cNvPr id="32" name="resource link"/>
          <p:cNvSpPr txBox="1"/>
          <p:nvPr/>
        </p:nvSpPr>
        <p:spPr>
          <a:xfrm>
            <a:off x="7269480" y="5596128"/>
            <a:ext cx="4325112"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2" invalidUrl="" action="" tgtFrame="" tooltip="https://seaborn.pydata.org/tutorial/distributions.html" history="1" highlightClick="0" endSnd="0">
                  <a:extLst>
                    <a:ext uri="{A12FA001-AC4F-418D-AE19-62706E023703}">
                      <ahyp:hlinkClr xmlns:ahyp="http://schemas.microsoft.com/office/drawing/2018/hyperlinkcolor" val="tx"/>
                    </a:ext>
                  </a:extLst>
                </a:hlinkClick>
              </a:rPr>
              <a:t>Seaborn: visualizing distributions</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Assessing normality: evidence, not a gate</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279463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43675" y="6291072"/>
            <a:ext cx="182880" cy="182880"/>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Text 21"/>
          <p:cNvSpPr txBox="1"/>
          <p:nvPr/>
        </p:nvSpPr>
        <p:spPr>
          <a:xfrm>
            <a:off x="457200" y="1188720"/>
            <a:ext cx="5669280" cy="365760"/>
          </a:xfrm>
          <a:prstGeom prst="rect">
            <a:avLst/>
          </a:prstGeom>
          <a:noFill/>
          <a:ln/>
        </p:spPr>
        <p:txBody>
          <a:bodyPr wrap="square" lIns="0" tIns="0" rIns="0" bIns="0" rtlCol="0" anchor="ctr"/>
          <a:lstStyle/>
          <a:p>
            <a:pPr indent="0" marL="0">
              <a:buNone/>
            </a:pPr>
            <a:r>
              <a:rPr lang="en-US" sz="1800" b="1" dirty="0">
                <a:solidFill>
                  <a:schemeClr val="tx1"/>
                </a:solidFill>
              </a:rPr>
              <a:t>What to consider</a:t>
            </a:r>
            <a:endParaRPr lang="en-US" sz="1800" dirty="0"/>
          </a:p>
        </p:txBody>
      </p:sp>
      <p:sp>
        <p:nvSpPr>
          <p:cNvPr id="24" name="Text 22"/>
          <p:cNvSpPr txBox="1"/>
          <p:nvPr/>
        </p:nvSpPr>
        <p:spPr>
          <a:xfrm>
            <a:off x="457200" y="1645920"/>
            <a:ext cx="5669280" cy="2194560"/>
          </a:xfrm>
          <a:prstGeom prst="rect">
            <a:avLst/>
          </a:prstGeom>
          <a:noFill/>
          <a:ln/>
        </p:spPr>
        <p:txBody>
          <a:bodyPr wrap="square" lIns="0" tIns="0" rIns="0" bIns="0" rtlCol="0" anchor="t"/>
          <a:lstStyle/>
          <a:p>
            <a:pPr marL="190500" indent="-190500">
              <a:spcAft>
                <a:spcPts val="600"/>
              </a:spcAft>
              <a:buSzPct val="100000"/>
              <a:buChar char="•"/>
            </a:pPr>
            <a:r>
              <a:rPr lang="en-US" sz="1400" b="1" dirty="0">
                <a:solidFill>
                  <a:schemeClr val="tx1"/>
                </a:solidFill>
              </a:rPr>
              <a:t>Sample size per group: </a:t>
            </a:r>
            <a:pPr indent="0" marL="0">
              <a:buNone/>
            </a:pPr>
            <a:r>
              <a:rPr lang="en-US" sz="1400" dirty="0">
                <a:solidFill>
                  <a:schemeClr val="tx1"/>
                </a:solidFill>
              </a:rPr>
              <a:t>here 337 without and 83 with diabetes. Means of large groups are approximately normal even when data are skewed; small groups are not protected.</a:t>
            </a:r>
            <a:endParaRPr lang="en-US" sz="1400" dirty="0"/>
          </a:p>
          <a:p>
            <a:pPr marL="190500" indent="-190500">
              <a:spcAft>
                <a:spcPts val="600"/>
              </a:spcAft>
              <a:buSzPct val="100000"/>
              <a:buChar char="•"/>
            </a:pPr>
            <a:r>
              <a:rPr lang="en-US" sz="1400" b="1" dirty="0">
                <a:solidFill>
                  <a:schemeClr val="tx1"/>
                </a:solidFill>
              </a:rPr>
              <a:t>Skewness and extreme observations: </a:t>
            </a:r>
            <a:pPr indent="0" marL="0">
              <a:buNone/>
            </a:pPr>
            <a:r>
              <a:rPr lang="en-US" sz="1400" dirty="0">
                <a:solidFill>
                  <a:schemeClr val="tx1"/>
                </a:solidFill>
              </a:rPr>
              <a:t>one 212 mmHg reading gives the diabetes group a skew of 1.2.</a:t>
            </a:r>
            <a:endParaRPr lang="en-US" sz="1400" dirty="0"/>
          </a:p>
          <a:p>
            <a:pPr marL="190500" indent="-190500">
              <a:spcAft>
                <a:spcPts val="600"/>
              </a:spcAft>
              <a:buSzPct val="100000"/>
              <a:buChar char="•"/>
            </a:pPr>
            <a:r>
              <a:rPr lang="en-US" sz="1400" b="1" dirty="0">
                <a:solidFill>
                  <a:schemeClr val="tx1"/>
                </a:solidFill>
              </a:rPr>
              <a:t>Study design: </a:t>
            </a:r>
            <a:pPr indent="0" marL="0">
              <a:buNone/>
            </a:pPr>
            <a:r>
              <a:rPr lang="en-US" sz="1400" dirty="0">
                <a:solidFill>
                  <a:schemeClr val="tx1"/>
                </a:solidFill>
              </a:rPr>
              <a:t>independent groups, paired measurements or repeated visits change what has to be checked.</a:t>
            </a:r>
            <a:endParaRPr lang="en-US" sz="1400" dirty="0"/>
          </a:p>
        </p:txBody>
      </p:sp>
      <p:sp>
        <p:nvSpPr>
          <p:cNvPr id="25" name="Text 23"/>
          <p:cNvSpPr txBox="1"/>
          <p:nvPr/>
        </p:nvSpPr>
        <p:spPr>
          <a:xfrm>
            <a:off x="457200" y="3931920"/>
            <a:ext cx="5669280" cy="365760"/>
          </a:xfrm>
          <a:prstGeom prst="rect">
            <a:avLst/>
          </a:prstGeom>
          <a:noFill/>
          <a:ln/>
        </p:spPr>
        <p:txBody>
          <a:bodyPr wrap="square" lIns="0" tIns="0" rIns="0" bIns="0" rtlCol="0" anchor="ctr"/>
          <a:lstStyle/>
          <a:p>
            <a:pPr indent="0" marL="0">
              <a:buNone/>
            </a:pPr>
            <a:r>
              <a:rPr lang="en-US" sz="1600" b="1" dirty="0">
                <a:solidFill>
                  <a:schemeClr val="tx1"/>
                </a:solidFill>
              </a:rPr>
              <a:t>Check the quantity the method assumes is normal</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4343400"/>
          <a:ext cx="5669280" cy="914400"/>
        </p:xfrm>
        <a:graphic>
          <a:graphicData uri="http://schemas.openxmlformats.org/drawingml/2006/table">
            <a:tbl>
              <a:tblPr/>
              <a:tblGrid>
                <a:gridCol w="2011680"/>
                <a:gridCol w="3657600"/>
              </a:tblGrid>
              <a:tr h="365760">
                <a:tc>
                  <a:txBody>
                    <a:bodyPr/>
                    <a:lstStyle/>
                    <a:p>
                      <a:pPr indent="0" marL="0">
                        <a:buNone/>
                      </a:pPr>
                      <a:r>
                        <a:rPr lang="en-US" sz="1300" b="1" dirty="0">
                          <a:solidFill>
                            <a:schemeClr val="bg1"/>
                          </a:solidFill>
                        </a:rPr>
                        <a:t>Method</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Check</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365760">
                <a:tc>
                  <a:txBody>
                    <a:bodyPr/>
                    <a:lstStyle/>
                    <a:p>
                      <a:pPr indent="0" marL="0">
                        <a:buNone/>
                      </a:pPr>
                      <a:r>
                        <a:rPr lang="en-US" sz="1300" dirty="0">
                          <a:solidFill>
                            <a:schemeClr val="tx1"/>
                          </a:solidFill>
                        </a:rPr>
                        <a:t>Two-sample t-test</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chemeClr val="tx1"/>
                          </a:solidFill>
                        </a:rPr>
                        <a:t>Each group (or the residuals)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dirty="0">
                          <a:solidFill>
                            <a:schemeClr val="tx1"/>
                          </a:solidFill>
                        </a:rPr>
                        <a:t>Paired t-test</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chemeClr val="tx1"/>
                          </a:solidFill>
                        </a:rPr>
                        <a:t>Within-patient differences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dirty="0">
                          <a:solidFill>
                            <a:schemeClr val="tx1"/>
                          </a:solidFill>
                        </a:rPr>
                        <a:t>Linear regression</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chemeClr val="tx1"/>
                          </a:solidFill>
                        </a:rPr>
                        <a:t>Residuals: shape, constant variance, linearity</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7" name="Python code panel"/>
          <p:cNvSpPr/>
          <p:nvPr/>
        </p:nvSpPr>
        <p:spPr>
          <a:xfrm>
            <a:off x="6400800" y="1188720"/>
            <a:ext cx="5330952" cy="2331720"/>
          </a:xfrm>
          <a:prstGeom prst="roundRect">
            <a:avLst>
              <a:gd name="adj" fmla="val 3137"/>
            </a:avLst>
          </a:prstGeom>
          <a:solidFill>
            <a:schemeClr val="bg2"/>
          </a:solidFill>
          <a:ln w="12700">
            <a:solidFill>
              <a:schemeClr val="bg2"/>
            </a:solidFill>
            <a:prstDash val="solid"/>
          </a:ln>
        </p:spPr>
      </p:sp>
      <p:sp>
        <p:nvSpPr>
          <p:cNvPr id="28" name="Python label"/>
          <p:cNvSpPr txBox="1"/>
          <p:nvPr/>
        </p:nvSpPr>
        <p:spPr>
          <a:xfrm>
            <a:off x="6537960" y="126187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9" name="Python code"/>
          <p:cNvSpPr txBox="1"/>
          <p:nvPr/>
        </p:nvSpPr>
        <p:spPr>
          <a:xfrm>
            <a:off x="6537960" y="1499616"/>
            <a:ext cx="5056632" cy="1947672"/>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from scipy.stats import shapiro</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x = base["systolic_bp"].dropna()   # all values,</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print(len(x), x.skew())            # no .sample()</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shapiro(x)          # read with the Q-Q plot</a:t>
            </a:r>
            <a:endParaRPr lang="en-US" sz="1250" dirty="0"/>
          </a:p>
          <a:p>
            <a:pPr indent="0" marL="0">
              <a:buNone/>
            </a:pP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R: shapiro.test(base$systolic_bp)</a:t>
            </a:r>
            <a:endParaRPr lang="en-US" sz="1250" dirty="0"/>
          </a:p>
        </p:txBody>
      </p:sp>
      <p:sp>
        <p:nvSpPr>
          <p:cNvPr id="30" name="card"/>
          <p:cNvSpPr/>
          <p:nvPr/>
        </p:nvSpPr>
        <p:spPr>
          <a:xfrm>
            <a:off x="6400800" y="3703320"/>
            <a:ext cx="5330952" cy="2148840"/>
          </a:xfrm>
          <a:prstGeom prst="roundRect">
            <a:avLst>
              <a:gd name="adj" fmla="val 4255"/>
            </a:avLst>
          </a:prstGeom>
          <a:solidFill>
            <a:schemeClr val="accent4"/>
          </a:solidFill>
          <a:ln w="12700">
            <a:solidFill>
              <a:schemeClr val="accent4"/>
            </a:solidFill>
            <a:prstDash val="solid"/>
          </a:ln>
        </p:spPr>
      </p:sp>
      <p:sp>
        <p:nvSpPr>
          <p:cNvPr id="31" name="Text 28"/>
          <p:cNvSpPr txBox="1"/>
          <p:nvPr/>
        </p:nvSpPr>
        <p:spPr>
          <a:xfrm>
            <a:off x="6629400" y="3794760"/>
            <a:ext cx="4892040" cy="1965960"/>
          </a:xfrm>
          <a:prstGeom prst="rect">
            <a:avLst/>
          </a:prstGeom>
          <a:noFill/>
          <a:ln/>
        </p:spPr>
        <p:txBody>
          <a:bodyPr wrap="square" lIns="0" tIns="0" rIns="0" bIns="0" rtlCol="0" anchor="t"/>
          <a:lstStyle/>
          <a:p>
            <a:pPr indent="0" marL="0">
              <a:buNone/>
            </a:pPr>
            <a:r>
              <a:rPr lang="en-US" sz="1400" b="1" dirty="0">
                <a:solidFill>
                  <a:schemeClr val="accent1"/>
                </a:solidFill>
              </a:rPr>
              <a:t>Result in this dataset</a:t>
            </a:r>
            <a:endParaRPr lang="en-US" sz="1400" dirty="0"/>
          </a:p>
          <a:p>
            <a:pPr indent="0" marL="0">
              <a:buNone/>
            </a:pPr>
            <a:r>
              <a:rPr lang="en-US" sz="1400" dirty="0">
                <a:solidFill>
                  <a:schemeClr val="tx1"/>
                </a:solidFill>
              </a:rPr>
              <a:t>n = 419, skew = 0.42, Shapiro-Wilk p &lt; 0.001. Yet the Q-Q plot is close to a straight line and a t-test is reliable here.</a:t>
            </a:r>
            <a:endParaRPr lang="en-US" sz="1400" dirty="0"/>
          </a:p>
          <a:p>
            <a:pPr indent="0" marL="0">
              <a:buNone/>
            </a:pPr>
            <a:r>
              <a:rPr lang="en-US" sz="600" dirty="0">
                <a:solidFill>
                  <a:schemeClr val="tx1"/>
                </a:solidFill>
              </a:rPr>
              <a:t> </a:t>
            </a:r>
            <a:endParaRPr lang="en-US" sz="1400" dirty="0"/>
          </a:p>
          <a:p>
            <a:pPr indent="0" marL="0">
              <a:buNone/>
            </a:pPr>
            <a:r>
              <a:rPr lang="en-US" sz="1400" i="1" dirty="0">
                <a:solidFill>
                  <a:schemeClr val="tx1"/>
                </a:solidFill>
              </a:rPr>
              <a:t>Large samples reject trivial departures; small samples miss important ones. A p-value alone should not choose the test.</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Compare groups visually before testing</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279463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43675" y="6291072"/>
            <a:ext cx="182880" cy="182880"/>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pic>
        <p:nvPicPr>
          <p:cNvPr id="23" name="Systolic BP by diabetes status, box plot with points" descr="Systolic BP by diabetes status, box plot with points">    </p:cNvPr>
          <p:cNvPicPr>
            <a:picLocks noChangeAspect="1"/>
          </p:cNvPicPr>
          <p:nvPr/>
        </p:nvPicPr>
        <p:blipFill>
          <a:blip r:embed="rId1"/>
          <a:stretch>
            <a:fillRect/>
          </a:stretch>
        </p:blipFill>
        <p:spPr>
          <a:xfrm>
            <a:off x="457200" y="1376776"/>
            <a:ext cx="5120640" cy="4287328"/>
          </a:xfrm>
          <a:prstGeom prst="rect">
            <a:avLst/>
          </a:prstGeom>
        </p:spPr>
      </p:pic>
      <p:sp>
        <p:nvSpPr>
          <p:cNvPr id="24" name="Text 21"/>
          <p:cNvSpPr txBox="1"/>
          <p:nvPr/>
        </p:nvSpPr>
        <p:spPr>
          <a:xfrm>
            <a:off x="5943600" y="1234440"/>
            <a:ext cx="5788152" cy="1828800"/>
          </a:xfrm>
          <a:prstGeom prst="rect">
            <a:avLst/>
          </a:prstGeom>
          <a:noFill/>
          <a:ln/>
        </p:spPr>
        <p:txBody>
          <a:bodyPr wrap="square" lIns="0" tIns="0" rIns="0" bIns="0" rtlCol="0" anchor="t"/>
          <a:lstStyle/>
          <a:p>
            <a:pPr marL="190500" indent="-190500">
              <a:spcAft>
                <a:spcPts val="600"/>
              </a:spcAft>
              <a:buSzPct val="100000"/>
              <a:buChar char="•"/>
            </a:pPr>
            <a:r>
              <a:rPr lang="en-US" sz="1400" b="1" dirty="0">
                <a:solidFill>
                  <a:schemeClr val="tx1"/>
                </a:solidFill>
              </a:rPr>
              <a:t>Show the individual points, </a:t>
            </a:r>
            <a:pPr indent="0" marL="0">
              <a:buNone/>
            </a:pPr>
            <a:r>
              <a:rPr lang="en-US" sz="1400" dirty="0">
                <a:solidFill>
                  <a:schemeClr val="tx1"/>
                </a:solidFill>
              </a:rPr>
              <a:t>not only boxes or bars: group sizes differ four-fold here.</a:t>
            </a:r>
            <a:endParaRPr lang="en-US" sz="1400" dirty="0"/>
          </a:p>
          <a:p>
            <a:pPr marL="190500" indent="-190500">
              <a:spcAft>
                <a:spcPts val="600"/>
              </a:spcAft>
              <a:buSzPct val="100000"/>
              <a:buChar char="•"/>
            </a:pPr>
            <a:r>
              <a:rPr lang="en-US" sz="1400" b="1" dirty="0">
                <a:solidFill>
                  <a:schemeClr val="tx1"/>
                </a:solidFill>
              </a:rPr>
              <a:t>Label n per group </a:t>
            </a:r>
            <a:pPr indent="0" marL="0">
              <a:buNone/>
            </a:pPr>
            <a:r>
              <a:rPr lang="en-US" sz="1400" dirty="0">
                <a:solidFill>
                  <a:schemeClr val="tx1"/>
                </a:solidFill>
              </a:rPr>
              <a:t>and the units on the axis.</a:t>
            </a:r>
            <a:endParaRPr lang="en-US" sz="1400" dirty="0"/>
          </a:p>
          <a:p>
            <a:pPr marL="190500" indent="-190500">
              <a:spcAft>
                <a:spcPts val="600"/>
              </a:spcAft>
              <a:buSzPct val="100000"/>
              <a:buChar char="•"/>
            </a:pPr>
            <a:r>
              <a:rPr lang="en-US" sz="1400" b="1" dirty="0">
                <a:solidFill>
                  <a:schemeClr val="tx1"/>
                </a:solidFill>
              </a:rPr>
              <a:t>Patients with diabetes have higher SBP, </a:t>
            </a:r>
            <a:pPr indent="0" marL="0">
              <a:buNone/>
            </a:pPr>
            <a:r>
              <a:rPr lang="en-US" sz="1400" dirty="0">
                <a:solidFill>
                  <a:schemeClr val="tx1"/>
                </a:solidFill>
              </a:rPr>
              <a:t>but the plot cannot say why. Age differs too (next slide).</a:t>
            </a:r>
            <a:endParaRPr lang="en-US" sz="1400" dirty="0"/>
          </a:p>
        </p:txBody>
      </p:sp>
      <p:sp>
        <p:nvSpPr>
          <p:cNvPr id="25" name="Python code panel"/>
          <p:cNvSpPr/>
          <p:nvPr/>
        </p:nvSpPr>
        <p:spPr>
          <a:xfrm>
            <a:off x="5943600" y="2880360"/>
            <a:ext cx="5788152" cy="1600200"/>
          </a:xfrm>
          <a:prstGeom prst="roundRect">
            <a:avLst>
              <a:gd name="adj" fmla="val 4571"/>
            </a:avLst>
          </a:prstGeom>
          <a:solidFill>
            <a:schemeClr val="bg2"/>
          </a:solidFill>
          <a:ln w="12700">
            <a:solidFill>
              <a:schemeClr val="bg2"/>
            </a:solidFill>
            <a:prstDash val="solid"/>
          </a:ln>
        </p:spPr>
      </p:sp>
      <p:sp>
        <p:nvSpPr>
          <p:cNvPr id="26" name="Python label"/>
          <p:cNvSpPr txBox="1"/>
          <p:nvPr/>
        </p:nvSpPr>
        <p:spPr>
          <a:xfrm>
            <a:off x="6080760" y="295351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7" name="Python code"/>
          <p:cNvSpPr txBox="1"/>
          <p:nvPr/>
        </p:nvSpPr>
        <p:spPr>
          <a:xfrm>
            <a:off x="6080760" y="3191256"/>
            <a:ext cx="5513832" cy="1216152"/>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sns.boxplot(data=base, x="diabetes", y="systolic_bp",</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showfliers=False)</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sns.stripplot(data=base, x="diabetes", y="systolic_bp",</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alpha=0.4)</a:t>
            </a:r>
            <a:endParaRPr lang="en-US" sz="1250" dirty="0"/>
          </a:p>
        </p:txBody>
      </p:sp>
      <p:sp>
        <p:nvSpPr>
          <p:cNvPr id="28" name="R code panel"/>
          <p:cNvSpPr/>
          <p:nvPr/>
        </p:nvSpPr>
        <p:spPr>
          <a:xfrm>
            <a:off x="5943600" y="4617720"/>
            <a:ext cx="5788152" cy="1280160"/>
          </a:xfrm>
          <a:prstGeom prst="roundRect">
            <a:avLst>
              <a:gd name="adj" fmla="val 5714"/>
            </a:avLst>
          </a:prstGeom>
          <a:solidFill>
            <a:schemeClr val="bg2"/>
          </a:solidFill>
          <a:ln w="12700">
            <a:solidFill>
              <a:schemeClr val="bg2"/>
            </a:solidFill>
            <a:prstDash val="solid"/>
          </a:ln>
        </p:spPr>
      </p:sp>
      <p:sp>
        <p:nvSpPr>
          <p:cNvPr id="29" name="R label"/>
          <p:cNvSpPr txBox="1"/>
          <p:nvPr/>
        </p:nvSpPr>
        <p:spPr>
          <a:xfrm>
            <a:off x="6080760" y="469087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30" name="R code"/>
          <p:cNvSpPr txBox="1"/>
          <p:nvPr/>
        </p:nvSpPr>
        <p:spPr>
          <a:xfrm>
            <a:off x="6080760" y="4928616"/>
            <a:ext cx="5513832" cy="896112"/>
          </a:xfrm>
          <a:prstGeom prst="rect">
            <a:avLst/>
          </a:prstGeom>
          <a:noFill/>
          <a:ln/>
        </p:spPr>
        <p:txBody>
          <a:bodyPr wrap="square" lIns="0" tIns="0" rIns="0" bIns="0" rtlCol="0" anchor="t"/>
          <a:lstStyle/>
          <a:p>
            <a:pPr indent="0" marL="0">
              <a:buNone/>
            </a:pPr>
            <a:r>
              <a:rPr lang="en-US" sz="1350" dirty="0">
                <a:solidFill>
                  <a:schemeClr val="tx1"/>
                </a:solidFill>
                <a:latin typeface="Courier New" pitchFamily="34" charset="0"/>
                <a:ea typeface="Courier New" pitchFamily="34" charset="-122"/>
                <a:cs typeface="Courier New" pitchFamily="34" charset="-120"/>
              </a:rPr>
              <a:t>ggplot(base, aes(factor(diabetes), systolic_bp)) +</a:t>
            </a:r>
            <a:endParaRPr lang="en-US" sz="1350" dirty="0"/>
          </a:p>
          <a:p>
            <a:pPr indent="0" marL="0">
              <a:buNone/>
            </a:pPr>
            <a:r>
              <a:rPr lang="en-US" sz="1350" dirty="0">
                <a:solidFill>
                  <a:schemeClr val="tx1"/>
                </a:solidFill>
                <a:latin typeface="Courier New" pitchFamily="34" charset="0"/>
                <a:ea typeface="Courier New" pitchFamily="34" charset="-122"/>
                <a:cs typeface="Courier New" pitchFamily="34" charset="-120"/>
              </a:rPr>
              <a:t>  geom_boxplot(outlier.shape = NA) +</a:t>
            </a:r>
            <a:endParaRPr lang="en-US" sz="1350" dirty="0"/>
          </a:p>
          <a:p>
            <a:pPr indent="0" marL="0">
              <a:buNone/>
            </a:pPr>
            <a:r>
              <a:rPr lang="en-US" sz="1350" dirty="0">
                <a:solidFill>
                  <a:schemeClr val="tx1"/>
                </a:solidFill>
                <a:latin typeface="Courier New" pitchFamily="34" charset="0"/>
                <a:ea typeface="Courier New" pitchFamily="34" charset="-122"/>
                <a:cs typeface="Courier New" pitchFamily="34" charset="-120"/>
              </a:rPr>
              <a:t>  geom_jitter(width = 0.15, alpha = 0.4)</a:t>
            </a:r>
            <a:endParaRPr lang="en-US" sz="135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Explore relationships between variables</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279463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43675" y="6291072"/>
            <a:ext cx="182880" cy="182880"/>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Explore</a:t>
            </a:r>
            <a:endParaRPr lang="en-US" sz="1000" dirty="0"/>
          </a:p>
        </p:txBody>
      </p:sp>
      <p:sp>
        <p:nvSpPr>
          <p:cNvPr id="13" name="tracker Outliers"/>
          <p:cNvSpPr/>
          <p:nvPr/>
        </p:nvSpPr>
        <p:spPr>
          <a:xfrm>
            <a:off x="7511796" y="6327648"/>
            <a:ext cx="109728" cy="109728"/>
          </a:xfrm>
          <a:prstGeom prst="ellipse">
            <a:avLst/>
          </a:prstGeom>
          <a:solidFill>
            <a:schemeClr val="bg1"/>
          </a:solidFill>
          <a:ln w="12700">
            <a:solidFill>
              <a:schemeClr val="accent5"/>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pic>
        <p:nvPicPr>
          <p:cNvPr id="23" name="Systolic BP versus age by diabetes status" descr="Systolic BP versus age by diabetes status">    </p:cNvPr>
          <p:cNvPicPr>
            <a:picLocks noChangeAspect="1"/>
          </p:cNvPicPr>
          <p:nvPr/>
        </p:nvPicPr>
        <p:blipFill>
          <a:blip r:embed="rId1"/>
          <a:stretch>
            <a:fillRect/>
          </a:stretch>
        </p:blipFill>
        <p:spPr>
          <a:xfrm>
            <a:off x="457200" y="1381535"/>
            <a:ext cx="5303520" cy="4277811"/>
          </a:xfrm>
          <a:prstGeom prst="rect">
            <a:avLst/>
          </a:prstGeom>
        </p:spPr>
      </p:pic>
      <p:sp>
        <p:nvSpPr>
          <p:cNvPr id="24" name="card"/>
          <p:cNvSpPr/>
          <p:nvPr/>
        </p:nvSpPr>
        <p:spPr>
          <a:xfrm>
            <a:off x="6035040" y="1234440"/>
            <a:ext cx="5696712" cy="1143000"/>
          </a:xfrm>
          <a:prstGeom prst="roundRect">
            <a:avLst>
              <a:gd name="adj" fmla="val 8000"/>
            </a:avLst>
          </a:prstGeom>
          <a:solidFill>
            <a:schemeClr val="accent4"/>
          </a:solidFill>
          <a:ln w="12700">
            <a:solidFill>
              <a:schemeClr val="accent4"/>
            </a:solidFill>
            <a:prstDash val="solid"/>
          </a:ln>
        </p:spPr>
      </p:sp>
      <p:sp>
        <p:nvSpPr>
          <p:cNvPr id="25" name="Text 22"/>
          <p:cNvSpPr txBox="1"/>
          <p:nvPr/>
        </p:nvSpPr>
        <p:spPr>
          <a:xfrm>
            <a:off x="6263640" y="1325880"/>
            <a:ext cx="5257800" cy="1143000"/>
          </a:xfrm>
          <a:prstGeom prst="rect">
            <a:avLst/>
          </a:prstGeom>
          <a:noFill/>
          <a:ln/>
        </p:spPr>
        <p:txBody>
          <a:bodyPr wrap="square" lIns="0" tIns="0" rIns="0" bIns="0" rtlCol="0" anchor="t"/>
          <a:lstStyle/>
          <a:p>
            <a:pPr indent="0" marL="0">
              <a:buNone/>
            </a:pPr>
            <a:r>
              <a:rPr lang="en-US" sz="1400" b="1" dirty="0">
                <a:solidFill>
                  <a:schemeClr val="accent1"/>
                </a:solidFill>
              </a:rPr>
              <a:t>A first hint of confounding</a:t>
            </a:r>
            <a:endParaRPr lang="en-US" sz="1400" dirty="0"/>
          </a:p>
          <a:p>
            <a:pPr indent="0" marL="0">
              <a:buNone/>
            </a:pPr>
            <a:r>
              <a:rPr lang="en-US" sz="1400" dirty="0">
                <a:solidFill>
                  <a:schemeClr val="tx1"/>
                </a:solidFill>
              </a:rPr>
              <a:t>SBP rises with age, and patients with diabetes are older (mean 63.1 vs 57.1 years). Part of the group difference may be an age difference.</a:t>
            </a:r>
            <a:endParaRPr lang="en-US" sz="1400" dirty="0"/>
          </a:p>
        </p:txBody>
      </p:sp>
      <p:sp>
        <p:nvSpPr>
          <p:cNvPr id="26" name="Python code panel"/>
          <p:cNvSpPr/>
          <p:nvPr/>
        </p:nvSpPr>
        <p:spPr>
          <a:xfrm>
            <a:off x="6035040" y="2697480"/>
            <a:ext cx="5696712" cy="1691640"/>
          </a:xfrm>
          <a:prstGeom prst="roundRect">
            <a:avLst>
              <a:gd name="adj" fmla="val 4324"/>
            </a:avLst>
          </a:prstGeom>
          <a:solidFill>
            <a:schemeClr val="bg2"/>
          </a:solidFill>
          <a:ln w="12700">
            <a:solidFill>
              <a:schemeClr val="bg2"/>
            </a:solidFill>
            <a:prstDash val="solid"/>
          </a:ln>
        </p:spPr>
      </p:sp>
      <p:sp>
        <p:nvSpPr>
          <p:cNvPr id="27" name="Python label"/>
          <p:cNvSpPr txBox="1"/>
          <p:nvPr/>
        </p:nvSpPr>
        <p:spPr>
          <a:xfrm>
            <a:off x="6172200" y="277063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8" name="Python code"/>
          <p:cNvSpPr txBox="1"/>
          <p:nvPr/>
        </p:nvSpPr>
        <p:spPr>
          <a:xfrm>
            <a:off x="6172200" y="3008376"/>
            <a:ext cx="5422392" cy="1307592"/>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sns.scatterplot(data=base, x="age", y="systolic_bp",</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hue="diabetes")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sns.pairplot(base[["age", "systolic_bp", "hdl",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"crp", "diabetes"]], hue="diabetes")</a:t>
            </a:r>
            <a:endParaRPr lang="en-US" sz="1200" dirty="0"/>
          </a:p>
        </p:txBody>
      </p:sp>
      <p:sp>
        <p:nvSpPr>
          <p:cNvPr id="29" name="R code panel"/>
          <p:cNvSpPr/>
          <p:nvPr/>
        </p:nvSpPr>
        <p:spPr>
          <a:xfrm>
            <a:off x="6035040" y="4526280"/>
            <a:ext cx="5696712" cy="1005840"/>
          </a:xfrm>
          <a:prstGeom prst="roundRect">
            <a:avLst>
              <a:gd name="adj" fmla="val 7273"/>
            </a:avLst>
          </a:prstGeom>
          <a:solidFill>
            <a:schemeClr val="bg2"/>
          </a:solidFill>
          <a:ln w="12700">
            <a:solidFill>
              <a:schemeClr val="bg2"/>
            </a:solidFill>
            <a:prstDash val="solid"/>
          </a:ln>
        </p:spPr>
      </p:sp>
      <p:sp>
        <p:nvSpPr>
          <p:cNvPr id="30" name="R label"/>
          <p:cNvSpPr txBox="1"/>
          <p:nvPr/>
        </p:nvSpPr>
        <p:spPr>
          <a:xfrm>
            <a:off x="6172200" y="459943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31" name="R code"/>
          <p:cNvSpPr txBox="1"/>
          <p:nvPr/>
        </p:nvSpPr>
        <p:spPr>
          <a:xfrm>
            <a:off x="6172200" y="4837176"/>
            <a:ext cx="5422392" cy="621792"/>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ggplot(base, aes(age, systolic_bp, colour = factor(diabetes))) +</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geom_point() + geom_smooth(method = "lm")</a:t>
            </a:r>
            <a:endParaRPr lang="en-US" sz="1050" dirty="0"/>
          </a:p>
        </p:txBody>
      </p:sp>
      <p:sp>
        <p:nvSpPr>
          <p:cNvPr id="32" name="resource chip"/>
          <p:cNvSpPr/>
          <p:nvPr/>
        </p:nvSpPr>
        <p:spPr>
          <a:xfrm>
            <a:off x="6035040" y="5623560"/>
            <a:ext cx="5696712" cy="310896"/>
          </a:xfrm>
          <a:prstGeom prst="roundRect">
            <a:avLst>
              <a:gd name="adj" fmla="val 50000"/>
            </a:avLst>
          </a:prstGeom>
          <a:solidFill>
            <a:schemeClr val="accent4"/>
          </a:solidFill>
          <a:ln w="12700">
            <a:solidFill>
              <a:schemeClr val="accent4"/>
            </a:solidFill>
            <a:prstDash val="solid"/>
          </a:ln>
        </p:spPr>
      </p:sp>
      <p:sp>
        <p:nvSpPr>
          <p:cNvPr id="33" name="resource link"/>
          <p:cNvSpPr txBox="1"/>
          <p:nvPr/>
        </p:nvSpPr>
        <p:spPr>
          <a:xfrm>
            <a:off x="6172200" y="5623560"/>
            <a:ext cx="5422392"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2" invalidUrl="" action="" tgtFrame="" tooltip="https://www.kaggle.com/learn/data-visualization" history="1" highlightClick="0" endSnd="0">
                  <a:extLst>
                    <a:ext uri="{A12FA001-AC4F-418D-AE19-62706E023703}">
                      <ahyp:hlinkClr xmlns:ahyp="http://schemas.microsoft.com/office/drawing/2018/hyperlinkcolor" val="tx"/>
                    </a:ext>
                  </a:extLst>
                </a:hlinkClick>
              </a:rPr>
              <a:t>Kaggle Data Visualization course</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Outliers: flag statistically, judge clinically</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3726180"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475220" y="6291072"/>
            <a:ext cx="182880" cy="182880"/>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Outliers</a:t>
            </a:r>
            <a:endParaRPr lang="en-US" sz="1000" dirty="0"/>
          </a:p>
        </p:txBody>
      </p:sp>
      <p:sp>
        <p:nvSpPr>
          <p:cNvPr id="15" name="tracker Missing"/>
          <p:cNvSpPr/>
          <p:nvPr/>
        </p:nvSpPr>
        <p:spPr>
          <a:xfrm>
            <a:off x="8443341" y="6327648"/>
            <a:ext cx="109728" cy="109728"/>
          </a:xfrm>
          <a:prstGeom prst="ellipse">
            <a:avLst/>
          </a:prstGeom>
          <a:solidFill>
            <a:schemeClr val="bg1"/>
          </a:solidFill>
          <a:ln w="12700">
            <a:solidFill>
              <a:schemeClr val="accent5"/>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Shape 21"/>
          <p:cNvSpPr/>
          <p:nvPr/>
        </p:nvSpPr>
        <p:spPr>
          <a:xfrm>
            <a:off x="457200" y="1325880"/>
            <a:ext cx="548640" cy="548640"/>
          </a:xfrm>
          <a:prstGeom prst="ellipse">
            <a:avLst/>
          </a:prstGeom>
          <a:solidFill>
            <a:schemeClr val="accent1"/>
          </a:solidFill>
          <a:ln w="12700">
            <a:solidFill>
              <a:schemeClr val="accent1"/>
            </a:solidFill>
            <a:prstDash val="solid"/>
          </a:ln>
        </p:spPr>
      </p:sp>
      <p:sp>
        <p:nvSpPr>
          <p:cNvPr id="24" name="Text 22"/>
          <p:cNvSpPr txBox="1"/>
          <p:nvPr/>
        </p:nvSpPr>
        <p:spPr>
          <a:xfrm>
            <a:off x="457200" y="1325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25" name="Text 23"/>
          <p:cNvSpPr txBox="1"/>
          <p:nvPr/>
        </p:nvSpPr>
        <p:spPr>
          <a:xfrm>
            <a:off x="1188720" y="1234440"/>
            <a:ext cx="4754880" cy="347472"/>
          </a:xfrm>
          <a:prstGeom prst="rect">
            <a:avLst/>
          </a:prstGeom>
          <a:noFill/>
          <a:ln/>
        </p:spPr>
        <p:txBody>
          <a:bodyPr wrap="square" lIns="0" tIns="0" rIns="0" bIns="0" rtlCol="0" anchor="ctr"/>
          <a:lstStyle/>
          <a:p>
            <a:pPr indent="0" marL="0">
              <a:buNone/>
            </a:pPr>
            <a:r>
              <a:rPr lang="en-US" sz="1600" b="1" dirty="0">
                <a:solidFill>
                  <a:schemeClr val="tx1"/>
                </a:solidFill>
              </a:rPr>
              <a:t>Clinical plausibility</a:t>
            </a:r>
            <a:endParaRPr lang="en-US" sz="1600" dirty="0"/>
          </a:p>
        </p:txBody>
      </p:sp>
      <p:sp>
        <p:nvSpPr>
          <p:cNvPr id="26" name="Text 24"/>
          <p:cNvSpPr txBox="1"/>
          <p:nvPr/>
        </p:nvSpPr>
        <p:spPr>
          <a:xfrm>
            <a:off x="1188720" y="1581912"/>
            <a:ext cx="4754880" cy="731520"/>
          </a:xfrm>
          <a:prstGeom prst="rect">
            <a:avLst/>
          </a:prstGeom>
          <a:noFill/>
          <a:ln/>
        </p:spPr>
        <p:txBody>
          <a:bodyPr wrap="square" lIns="0" tIns="0" rIns="0" bIns="0" rtlCol="0" anchor="t"/>
          <a:lstStyle/>
          <a:p>
            <a:pPr indent="0" marL="0">
              <a:buNone/>
            </a:pPr>
            <a:r>
              <a:rPr lang="en-US" sz="1300" dirty="0">
                <a:solidFill>
                  <a:schemeClr val="tx2"/>
                </a:solidFill>
              </a:rPr>
              <a:t>Is the value physically possible? Use clinical ranges (e.g. SBP 60 to 260 mmHg) and rules between variables.</a:t>
            </a:r>
            <a:endParaRPr lang="en-US" sz="1300" dirty="0"/>
          </a:p>
        </p:txBody>
      </p:sp>
      <p:sp>
        <p:nvSpPr>
          <p:cNvPr id="27" name="Shape 25"/>
          <p:cNvSpPr/>
          <p:nvPr/>
        </p:nvSpPr>
        <p:spPr>
          <a:xfrm>
            <a:off x="457200" y="2468880"/>
            <a:ext cx="548640" cy="548640"/>
          </a:xfrm>
          <a:prstGeom prst="ellipse">
            <a:avLst/>
          </a:prstGeom>
          <a:solidFill>
            <a:schemeClr val="accent1"/>
          </a:solidFill>
          <a:ln w="12700">
            <a:solidFill>
              <a:schemeClr val="accent1"/>
            </a:solidFill>
            <a:prstDash val="solid"/>
          </a:ln>
        </p:spPr>
      </p:sp>
      <p:sp>
        <p:nvSpPr>
          <p:cNvPr id="28" name="Text 26"/>
          <p:cNvSpPr txBox="1"/>
          <p:nvPr/>
        </p:nvSpPr>
        <p:spPr>
          <a:xfrm>
            <a:off x="457200" y="2468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9" name="Text 27"/>
          <p:cNvSpPr txBox="1"/>
          <p:nvPr/>
        </p:nvSpPr>
        <p:spPr>
          <a:xfrm>
            <a:off x="1188720" y="2377440"/>
            <a:ext cx="4754880" cy="347472"/>
          </a:xfrm>
          <a:prstGeom prst="rect">
            <a:avLst/>
          </a:prstGeom>
          <a:noFill/>
          <a:ln/>
        </p:spPr>
        <p:txBody>
          <a:bodyPr wrap="square" lIns="0" tIns="0" rIns="0" bIns="0" rtlCol="0" anchor="ctr"/>
          <a:lstStyle/>
          <a:p>
            <a:pPr indent="0" marL="0">
              <a:buNone/>
            </a:pPr>
            <a:r>
              <a:rPr lang="en-US" sz="1600" b="1" dirty="0">
                <a:solidFill>
                  <a:schemeClr val="tx1"/>
                </a:solidFill>
              </a:rPr>
              <a:t>Statistical flags</a:t>
            </a:r>
            <a:endParaRPr lang="en-US" sz="1600" dirty="0"/>
          </a:p>
        </p:txBody>
      </p:sp>
      <p:sp>
        <p:nvSpPr>
          <p:cNvPr id="30" name="Text 28"/>
          <p:cNvSpPr txBox="1"/>
          <p:nvPr/>
        </p:nvSpPr>
        <p:spPr>
          <a:xfrm>
            <a:off x="1188720" y="2724912"/>
            <a:ext cx="4754880" cy="731520"/>
          </a:xfrm>
          <a:prstGeom prst="rect">
            <a:avLst/>
          </a:prstGeom>
          <a:noFill/>
          <a:ln/>
        </p:spPr>
        <p:txBody>
          <a:bodyPr wrap="square" lIns="0" tIns="0" rIns="0" bIns="0" rtlCol="0" anchor="t"/>
          <a:lstStyle/>
          <a:p>
            <a:pPr indent="0" marL="0">
              <a:buNone/>
            </a:pPr>
            <a:r>
              <a:rPr lang="en-US" sz="1300" dirty="0">
                <a:solidFill>
                  <a:schemeClr val="tx2"/>
                </a:solidFill>
              </a:rPr>
              <a:t>IQR rule (beyond Q1 − 1.5 × IQR or Q3 + 1.5 × IQR) or z-scores. These flag; they do not prove an error.</a:t>
            </a:r>
            <a:endParaRPr lang="en-US" sz="1300" dirty="0"/>
          </a:p>
        </p:txBody>
      </p:sp>
      <p:sp>
        <p:nvSpPr>
          <p:cNvPr id="31" name="Shape 29"/>
          <p:cNvSpPr/>
          <p:nvPr/>
        </p:nvSpPr>
        <p:spPr>
          <a:xfrm>
            <a:off x="457200" y="3611880"/>
            <a:ext cx="548640" cy="548640"/>
          </a:xfrm>
          <a:prstGeom prst="ellipse">
            <a:avLst/>
          </a:prstGeom>
          <a:solidFill>
            <a:schemeClr val="accent1"/>
          </a:solidFill>
          <a:ln w="12700">
            <a:solidFill>
              <a:schemeClr val="accent1"/>
            </a:solidFill>
            <a:prstDash val="solid"/>
          </a:ln>
        </p:spPr>
      </p:sp>
      <p:sp>
        <p:nvSpPr>
          <p:cNvPr id="32" name="Text 30"/>
          <p:cNvSpPr txBox="1"/>
          <p:nvPr/>
        </p:nvSpPr>
        <p:spPr>
          <a:xfrm>
            <a:off x="457200" y="3611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3" name="Text 31"/>
          <p:cNvSpPr txBox="1"/>
          <p:nvPr/>
        </p:nvSpPr>
        <p:spPr>
          <a:xfrm>
            <a:off x="1188720" y="3520440"/>
            <a:ext cx="4754880" cy="347472"/>
          </a:xfrm>
          <a:prstGeom prst="rect">
            <a:avLst/>
          </a:prstGeom>
          <a:noFill/>
          <a:ln/>
        </p:spPr>
        <p:txBody>
          <a:bodyPr wrap="square" lIns="0" tIns="0" rIns="0" bIns="0" rtlCol="0" anchor="ctr"/>
          <a:lstStyle/>
          <a:p>
            <a:pPr indent="0" marL="0">
              <a:buNone/>
            </a:pPr>
            <a:r>
              <a:rPr lang="en-US" sz="1600" b="1" dirty="0">
                <a:solidFill>
                  <a:schemeClr val="tx1"/>
                </a:solidFill>
              </a:rPr>
              <a:t>Context</a:t>
            </a:r>
            <a:endParaRPr lang="en-US" sz="1600" dirty="0"/>
          </a:p>
        </p:txBody>
      </p:sp>
      <p:sp>
        <p:nvSpPr>
          <p:cNvPr id="34" name="Text 32"/>
          <p:cNvSpPr txBox="1"/>
          <p:nvPr/>
        </p:nvSpPr>
        <p:spPr>
          <a:xfrm>
            <a:off x="1188720" y="3867912"/>
            <a:ext cx="4754880" cy="731520"/>
          </a:xfrm>
          <a:prstGeom prst="rect">
            <a:avLst/>
          </a:prstGeom>
          <a:noFill/>
          <a:ln/>
        </p:spPr>
        <p:txBody>
          <a:bodyPr wrap="square" lIns="0" tIns="0" rIns="0" bIns="0" rtlCol="0" anchor="t"/>
          <a:lstStyle/>
          <a:p>
            <a:pPr indent="0" marL="0">
              <a:buNone/>
            </a:pPr>
            <a:r>
              <a:rPr lang="en-US" sz="1300" dirty="0">
                <a:solidFill>
                  <a:schemeClr val="tx2"/>
                </a:solidFill>
              </a:rPr>
              <a:t>An extreme value may be the clinical finding: a hypertensive crisis, a very high CRP in infection. Check source records.</a:t>
            </a:r>
            <a:endParaRPr lang="en-US" sz="1300" dirty="0"/>
          </a:p>
        </p:txBody>
      </p:sp>
      <p:sp>
        <p:nvSpPr>
          <p:cNvPr id="35" name="card"/>
          <p:cNvSpPr/>
          <p:nvPr/>
        </p:nvSpPr>
        <p:spPr>
          <a:xfrm>
            <a:off x="457200" y="4754880"/>
            <a:ext cx="5486400" cy="1097280"/>
          </a:xfrm>
          <a:prstGeom prst="roundRect">
            <a:avLst>
              <a:gd name="adj" fmla="val 8333"/>
            </a:avLst>
          </a:prstGeom>
          <a:solidFill>
            <a:schemeClr val="accent4"/>
          </a:solidFill>
          <a:ln w="12700">
            <a:solidFill>
              <a:schemeClr val="accent4"/>
            </a:solidFill>
            <a:prstDash val="solid"/>
          </a:ln>
        </p:spPr>
      </p:sp>
      <p:sp>
        <p:nvSpPr>
          <p:cNvPr id="36" name="Text 34"/>
          <p:cNvSpPr txBox="1"/>
          <p:nvPr/>
        </p:nvSpPr>
        <p:spPr>
          <a:xfrm>
            <a:off x="640080" y="4754880"/>
            <a:ext cx="5120640" cy="1097280"/>
          </a:xfrm>
          <a:prstGeom prst="rect">
            <a:avLst/>
          </a:prstGeom>
          <a:noFill/>
          <a:ln/>
        </p:spPr>
        <p:txBody>
          <a:bodyPr wrap="square" lIns="0" tIns="0" rIns="0" bIns="0" rtlCol="0" anchor="ctr"/>
          <a:lstStyle/>
          <a:p>
            <a:pPr indent="0" marL="0">
              <a:buNone/>
            </a:pPr>
            <a:r>
              <a:rPr lang="en-US" sz="1400" b="1" dirty="0">
                <a:solidFill>
                  <a:schemeClr val="accent1"/>
                </a:solidFill>
              </a:rPr>
              <a:t>Outliers are not removed by default. </a:t>
            </a:r>
            <a:pPr indent="0" marL="0">
              <a:buNone/>
            </a:pPr>
            <a:r>
              <a:rPr lang="en-US" sz="1400" dirty="0">
                <a:solidFill>
                  <a:schemeClr val="tx1"/>
                </a:solidFill>
              </a:rPr>
              <a:t>Correct verified errors, keep genuine values, and check whether conclusions change with and without them.</a:t>
            </a:r>
            <a:endParaRPr lang="en-US" sz="1400" dirty="0"/>
          </a:p>
        </p:txBody>
      </p:sp>
      <p:sp>
        <p:nvSpPr>
          <p:cNvPr id="37" name="Python code panel"/>
          <p:cNvSpPr/>
          <p:nvPr/>
        </p:nvSpPr>
        <p:spPr>
          <a:xfrm>
            <a:off x="6245352" y="1234440"/>
            <a:ext cx="5486400" cy="2743200"/>
          </a:xfrm>
          <a:prstGeom prst="roundRect">
            <a:avLst>
              <a:gd name="adj" fmla="val 2667"/>
            </a:avLst>
          </a:prstGeom>
          <a:solidFill>
            <a:schemeClr val="bg2"/>
          </a:solidFill>
          <a:ln w="12700">
            <a:solidFill>
              <a:schemeClr val="bg2"/>
            </a:solidFill>
            <a:prstDash val="solid"/>
          </a:ln>
        </p:spPr>
      </p:sp>
      <p:sp>
        <p:nvSpPr>
          <p:cNvPr id="38" name="Python label"/>
          <p:cNvSpPr txBox="1"/>
          <p:nvPr/>
        </p:nvSpPr>
        <p:spPr>
          <a:xfrm>
            <a:off x="6382512" y="13075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39" name="Python code"/>
          <p:cNvSpPr txBox="1"/>
          <p:nvPr/>
        </p:nvSpPr>
        <p:spPr>
          <a:xfrm>
            <a:off x="6382512" y="1545336"/>
            <a:ext cx="5212080" cy="2359152"/>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q1, q3 = base["systolic_bp"].quantile([0.25, 0.75])</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iqr = q3 - q1</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flag = (~base["systolic_bp"].between(q1 - 1.5 * iqr,</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q3 + 1.5 * iqr)</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&amp; base["systolic_bp"].notna())</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base.loc[flag, ["patient_id", "age",</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"systolic_bp", "diastolic_bp"]]</a:t>
            </a:r>
            <a:endParaRPr lang="en-US" sz="1250" dirty="0"/>
          </a:p>
        </p:txBody>
      </p:sp>
      <p:sp>
        <p:nvSpPr>
          <p:cNvPr id="40" name="R code panel"/>
          <p:cNvSpPr/>
          <p:nvPr/>
        </p:nvSpPr>
        <p:spPr>
          <a:xfrm>
            <a:off x="6245352" y="4114800"/>
            <a:ext cx="5486400" cy="1737360"/>
          </a:xfrm>
          <a:prstGeom prst="roundRect">
            <a:avLst>
              <a:gd name="adj" fmla="val 4211"/>
            </a:avLst>
          </a:prstGeom>
          <a:solidFill>
            <a:schemeClr val="bg2"/>
          </a:solidFill>
          <a:ln w="12700">
            <a:solidFill>
              <a:schemeClr val="bg2"/>
            </a:solidFill>
            <a:prstDash val="solid"/>
          </a:ln>
        </p:spPr>
      </p:sp>
      <p:sp>
        <p:nvSpPr>
          <p:cNvPr id="41" name="R label"/>
          <p:cNvSpPr txBox="1"/>
          <p:nvPr/>
        </p:nvSpPr>
        <p:spPr>
          <a:xfrm>
            <a:off x="6382512" y="418795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42" name="R code"/>
          <p:cNvSpPr txBox="1"/>
          <p:nvPr/>
        </p:nvSpPr>
        <p:spPr>
          <a:xfrm>
            <a:off x="6382512" y="4425696"/>
            <a:ext cx="5212080" cy="1353312"/>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q &lt;- quantile(base$systolic_bp, c(.25, .75), na.rm = TRUE)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lim &lt;- q + c(-1.5, 1.5) * diff(q)</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filter(base, systolic_bp &lt; lim[1] | systolic_bp &gt; lim[2])</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Explore missingness before any comparison</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465772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06765" y="6291072"/>
            <a:ext cx="182880" cy="182880"/>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pic>
        <p:nvPicPr>
          <p:cNvPr id="23" name="Missingness by variable, HDL by site and CRP by age band" descr="Missingness by variable, HDL by site and CRP by age band">    </p:cNvPr>
          <p:cNvPicPr>
            <a:picLocks noChangeAspect="1"/>
          </p:cNvPicPr>
          <p:nvPr/>
        </p:nvPicPr>
        <p:blipFill>
          <a:blip r:embed="rId1"/>
          <a:stretch>
            <a:fillRect/>
          </a:stretch>
        </p:blipFill>
        <p:spPr>
          <a:xfrm>
            <a:off x="457200" y="1185462"/>
            <a:ext cx="7315200" cy="2429676"/>
          </a:xfrm>
          <a:prstGeom prst="rect">
            <a:avLst/>
          </a:prstGeom>
        </p:spPr>
      </p:pic>
      <p:sp>
        <p:nvSpPr>
          <p:cNvPr id="24" name="Text 21"/>
          <p:cNvSpPr txBox="1"/>
          <p:nvPr/>
        </p:nvSpPr>
        <p:spPr>
          <a:xfrm>
            <a:off x="457200" y="3749040"/>
            <a:ext cx="7315200" cy="365760"/>
          </a:xfrm>
          <a:prstGeom prst="rect">
            <a:avLst/>
          </a:prstGeom>
          <a:noFill/>
          <a:ln/>
        </p:spPr>
        <p:txBody>
          <a:bodyPr wrap="square" lIns="0" tIns="0" rIns="0" bIns="0" rtlCol="0" anchor="ctr"/>
          <a:lstStyle/>
          <a:p>
            <a:pPr indent="0" marL="0">
              <a:buNone/>
            </a:pPr>
            <a:r>
              <a:rPr lang="en-US" sz="1600" b="1" dirty="0">
                <a:solidFill>
                  <a:schemeClr val="accent1"/>
                </a:solidFill>
              </a:rPr>
              <a:t>Explore missingness patterns and plausible reasons for missingness.</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4160520"/>
          <a:ext cx="7315200" cy="914400"/>
        </p:xfrm>
        <a:graphic>
          <a:graphicData uri="http://schemas.openxmlformats.org/drawingml/2006/table">
            <a:tbl>
              <a:tblPr/>
              <a:tblGrid>
                <a:gridCol w="1188720"/>
                <a:gridCol w="2377440"/>
                <a:gridCol w="3749040"/>
              </a:tblGrid>
              <a:tr h="384048">
                <a:tc>
                  <a:txBody>
                    <a:bodyPr/>
                    <a:lstStyle/>
                    <a:p>
                      <a:pPr indent="0" marL="0">
                        <a:buNone/>
                      </a:pPr>
                      <a:r>
                        <a:rPr lang="en-US" sz="1200" b="1" dirty="0">
                          <a:solidFill>
                            <a:schemeClr val="bg1"/>
                          </a:solidFill>
                        </a:rPr>
                        <a:t>Mechanism</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Meaning</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Clinical example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384048">
                <a:tc>
                  <a:txBody>
                    <a:bodyPr/>
                    <a:lstStyle/>
                    <a:p>
                      <a:pPr indent="0" marL="0">
                        <a:buNone/>
                      </a:pPr>
                      <a:r>
                        <a:rPr lang="en-US" sz="1200" dirty="0">
                          <a:solidFill>
                            <a:schemeClr val="tx1"/>
                          </a:solidFill>
                        </a:rPr>
                        <a:t>MCAR</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Unrelated to any data</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Sample lost in transit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200" dirty="0">
                          <a:solidFill>
                            <a:schemeClr val="tx1"/>
                          </a:solidFill>
                        </a:rPr>
                        <a:t>MAR</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Explained by observed data</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CRP ordered less often in younger patients; HDL not run at site B in 2022</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200" dirty="0">
                          <a:solidFill>
                            <a:schemeClr val="tx1"/>
                          </a:solidFill>
                        </a:rPr>
                        <a:t>MNAR</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Depends on the unobserved value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Very unwell patients miss the follow-up visit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6" name="Python code panel"/>
          <p:cNvSpPr/>
          <p:nvPr/>
        </p:nvSpPr>
        <p:spPr>
          <a:xfrm>
            <a:off x="8046720" y="1143000"/>
            <a:ext cx="3685032" cy="2606040"/>
          </a:xfrm>
          <a:prstGeom prst="roundRect">
            <a:avLst>
              <a:gd name="adj" fmla="val 2807"/>
            </a:avLst>
          </a:prstGeom>
          <a:solidFill>
            <a:schemeClr val="bg2"/>
          </a:solidFill>
          <a:ln w="12700">
            <a:solidFill>
              <a:schemeClr val="bg2"/>
            </a:solidFill>
            <a:prstDash val="solid"/>
          </a:ln>
        </p:spPr>
      </p:sp>
      <p:sp>
        <p:nvSpPr>
          <p:cNvPr id="27" name="Python label"/>
          <p:cNvSpPr txBox="1"/>
          <p:nvPr/>
        </p:nvSpPr>
        <p:spPr>
          <a:xfrm>
            <a:off x="8183880" y="121615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8" name="Python code"/>
          <p:cNvSpPr txBox="1"/>
          <p:nvPr/>
        </p:nvSpPr>
        <p:spPr>
          <a:xfrm>
            <a:off x="8183880" y="1453896"/>
            <a:ext cx="3410712" cy="2221992"/>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import missingno as msno</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df.isna().mean().round(2)</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msno.matrix(df)</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df.groupby("site")["hdl"].apply(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lambda s: s.isna().mean())</a:t>
            </a:r>
            <a:endParaRPr lang="en-US" sz="1300" dirty="0"/>
          </a:p>
        </p:txBody>
      </p:sp>
      <p:sp>
        <p:nvSpPr>
          <p:cNvPr id="29" name="R code panel"/>
          <p:cNvSpPr/>
          <p:nvPr/>
        </p:nvSpPr>
        <p:spPr>
          <a:xfrm>
            <a:off x="8046720" y="3886200"/>
            <a:ext cx="3685032" cy="1325880"/>
          </a:xfrm>
          <a:prstGeom prst="roundRect">
            <a:avLst>
              <a:gd name="adj" fmla="val 5517"/>
            </a:avLst>
          </a:prstGeom>
          <a:solidFill>
            <a:schemeClr val="bg2"/>
          </a:solidFill>
          <a:ln w="12700">
            <a:solidFill>
              <a:schemeClr val="bg2"/>
            </a:solidFill>
            <a:prstDash val="solid"/>
          </a:ln>
        </p:spPr>
      </p:sp>
      <p:sp>
        <p:nvSpPr>
          <p:cNvPr id="30" name="R label"/>
          <p:cNvSpPr txBox="1"/>
          <p:nvPr/>
        </p:nvSpPr>
        <p:spPr>
          <a:xfrm>
            <a:off x="8183880" y="395935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31" name="R code"/>
          <p:cNvSpPr txBox="1"/>
          <p:nvPr/>
        </p:nvSpPr>
        <p:spPr>
          <a:xfrm>
            <a:off x="8183880" y="4197096"/>
            <a:ext cx="3410712" cy="941832"/>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library(naniar)</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miss_var_summary(df)</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vis_miss(df)</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gg_miss_var(df, facet = site)</a:t>
            </a:r>
            <a:endParaRPr lang="en-US" sz="1400" dirty="0"/>
          </a:p>
        </p:txBody>
      </p:sp>
      <p:sp>
        <p:nvSpPr>
          <p:cNvPr id="32" name="Text 28"/>
          <p:cNvSpPr txBox="1"/>
          <p:nvPr/>
        </p:nvSpPr>
        <p:spPr>
          <a:xfrm>
            <a:off x="8046720" y="5303520"/>
            <a:ext cx="3685032" cy="594360"/>
          </a:xfrm>
          <a:prstGeom prst="rect">
            <a:avLst/>
          </a:prstGeom>
          <a:noFill/>
          <a:ln/>
        </p:spPr>
        <p:txBody>
          <a:bodyPr wrap="square" lIns="0" tIns="0" rIns="0" bIns="0" rtlCol="0" anchor="t"/>
          <a:lstStyle/>
          <a:p>
            <a:pPr indent="0" marL="0">
              <a:buNone/>
            </a:pPr>
            <a:r>
              <a:rPr lang="en-US" sz="1200" i="1" dirty="0">
                <a:solidFill>
                  <a:schemeClr val="tx2"/>
                </a:solidFill>
              </a:rPr>
              <a:t>Patterns are consistent with a mechanism but cannot prove it. Collection procedures and assumptions decide.</a:t>
            </a:r>
            <a:endParaRPr lang="en-US" sz="12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Handling missing data depends on the goal</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465772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06765" y="6291072"/>
            <a:ext cx="182880" cy="182880"/>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card"/>
          <p:cNvSpPr/>
          <p:nvPr/>
        </p:nvSpPr>
        <p:spPr>
          <a:xfrm>
            <a:off x="457200" y="1234440"/>
            <a:ext cx="5486400" cy="3154680"/>
          </a:xfrm>
          <a:prstGeom prst="roundRect">
            <a:avLst>
              <a:gd name="adj" fmla="val 2899"/>
            </a:avLst>
          </a:prstGeom>
          <a:solidFill>
            <a:schemeClr val="bg2"/>
          </a:solidFill>
          <a:ln w="12700">
            <a:solidFill>
              <a:schemeClr val="bg2"/>
            </a:solidFill>
            <a:prstDash val="solid"/>
          </a:ln>
        </p:spPr>
      </p:sp>
      <p:sp>
        <p:nvSpPr>
          <p:cNvPr id="24" name="Text 22"/>
          <p:cNvSpPr txBox="1"/>
          <p:nvPr/>
        </p:nvSpPr>
        <p:spPr>
          <a:xfrm>
            <a:off x="685800" y="1325880"/>
            <a:ext cx="5029200" cy="384048"/>
          </a:xfrm>
          <a:prstGeom prst="rect">
            <a:avLst/>
          </a:prstGeom>
          <a:noFill/>
          <a:ln/>
        </p:spPr>
        <p:txBody>
          <a:bodyPr wrap="square" lIns="0" tIns="0" rIns="0" bIns="0" rtlCol="0" anchor="ctr"/>
          <a:lstStyle/>
          <a:p>
            <a:pPr indent="0" marL="0">
              <a:buNone/>
            </a:pPr>
            <a:r>
              <a:rPr lang="en-US" sz="1800" b="1" dirty="0">
                <a:solidFill>
                  <a:schemeClr val="accent1"/>
                </a:solidFill>
              </a:rPr>
              <a:t>Statistical inference</a:t>
            </a:r>
            <a:endParaRPr lang="en-US" sz="1800" dirty="0"/>
          </a:p>
        </p:txBody>
      </p:sp>
      <p:sp>
        <p:nvSpPr>
          <p:cNvPr id="25" name="Text 23"/>
          <p:cNvSpPr txBox="1"/>
          <p:nvPr/>
        </p:nvSpPr>
        <p:spPr>
          <a:xfrm>
            <a:off x="685800" y="1709928"/>
            <a:ext cx="5029200" cy="292608"/>
          </a:xfrm>
          <a:prstGeom prst="rect">
            <a:avLst/>
          </a:prstGeom>
          <a:noFill/>
          <a:ln/>
        </p:spPr>
        <p:txBody>
          <a:bodyPr wrap="square" lIns="0" tIns="0" rIns="0" bIns="0" rtlCol="0" anchor="ctr"/>
          <a:lstStyle/>
          <a:p>
            <a:pPr indent="0" marL="0">
              <a:buNone/>
            </a:pPr>
            <a:r>
              <a:rPr lang="en-US" sz="1300" i="1" dirty="0">
                <a:solidFill>
                  <a:schemeClr val="tx2"/>
                </a:solidFill>
              </a:rPr>
              <a:t>Aim: unbiased estimates with honest uncertainty</a:t>
            </a:r>
            <a:endParaRPr lang="en-US" sz="1300" dirty="0"/>
          </a:p>
        </p:txBody>
      </p:sp>
      <p:sp>
        <p:nvSpPr>
          <p:cNvPr id="26" name="Text 24"/>
          <p:cNvSpPr txBox="1"/>
          <p:nvPr/>
        </p:nvSpPr>
        <p:spPr>
          <a:xfrm>
            <a:off x="685800" y="2103120"/>
            <a:ext cx="5029200" cy="2240280"/>
          </a:xfrm>
          <a:prstGeom prst="rect">
            <a:avLst/>
          </a:prstGeom>
          <a:noFill/>
          <a:ln/>
        </p:spPr>
        <p:txBody>
          <a:bodyPr wrap="square" lIns="0" tIns="0" rIns="0" bIns="0" rtlCol="0" anchor="t"/>
          <a:lstStyle/>
          <a:p>
            <a:pPr marL="190500" indent="-190500">
              <a:spcAft>
                <a:spcPts val="600"/>
              </a:spcAft>
              <a:buSzPct val="100000"/>
              <a:buChar char="•"/>
            </a:pPr>
            <a:r>
              <a:rPr lang="en-US" sz="1400" b="1" dirty="0">
                <a:solidFill>
                  <a:schemeClr val="tx1"/>
                </a:solidFill>
              </a:rPr>
              <a:t>Complete-case analysis </a:t>
            </a:r>
            <a:pPr indent="0" marL="0">
              <a:buNone/>
            </a:pPr>
            <a:r>
              <a:rPr lang="en-US" sz="1400" dirty="0">
                <a:solidFill>
                  <a:schemeClr val="tx1"/>
                </a:solidFill>
              </a:rPr>
              <a:t>can be valid when missingness does not depend on the outcome given the covariates. State the assumption.</a:t>
            </a:r>
            <a:endParaRPr lang="en-US" sz="1400" dirty="0"/>
          </a:p>
          <a:p>
            <a:pPr marL="190500" indent="-190500">
              <a:spcAft>
                <a:spcPts val="600"/>
              </a:spcAft>
              <a:buSzPct val="100000"/>
              <a:buChar char="•"/>
            </a:pPr>
            <a:r>
              <a:rPr lang="en-US" sz="1400" b="1" dirty="0">
                <a:solidFill>
                  <a:schemeClr val="tx1"/>
                </a:solidFill>
              </a:rPr>
              <a:t>Multiple imputation </a:t>
            </a:r>
            <a:pPr indent="0" marL="0">
              <a:buNone/>
            </a:pPr>
            <a:r>
              <a:rPr lang="en-US" sz="1400" dirty="0">
                <a:solidFill>
                  <a:schemeClr val="tx1"/>
                </a:solidFill>
              </a:rPr>
              <a:t>under MAR: impute several datasets, fit the analysis in each, pool the results.</a:t>
            </a:r>
            <a:endParaRPr lang="en-US" sz="1400" dirty="0"/>
          </a:p>
          <a:p>
            <a:pPr marL="190500" indent="-190500">
              <a:spcAft>
                <a:spcPts val="600"/>
              </a:spcAft>
              <a:buSzPct val="100000"/>
              <a:buChar char="•"/>
            </a:pPr>
            <a:r>
              <a:rPr lang="en-US" sz="1400" b="1" dirty="0">
                <a:solidFill>
                  <a:schemeClr val="tx1"/>
                </a:solidFill>
              </a:rPr>
              <a:t>MNAR suspected: </a:t>
            </a:r>
            <a:pPr indent="0" marL="0">
              <a:buNone/>
            </a:pPr>
            <a:r>
              <a:rPr lang="en-US" sz="1400" dirty="0">
                <a:solidFill>
                  <a:schemeClr val="tx1"/>
                </a:solidFill>
              </a:rPr>
              <a:t>sensitivity analyses (e.g. delta adjustment) and clinical reasoning.</a:t>
            </a:r>
            <a:endParaRPr lang="en-US" sz="1400" dirty="0"/>
          </a:p>
        </p:txBody>
      </p:sp>
      <p:sp>
        <p:nvSpPr>
          <p:cNvPr id="27" name="card"/>
          <p:cNvSpPr/>
          <p:nvPr/>
        </p:nvSpPr>
        <p:spPr>
          <a:xfrm>
            <a:off x="6245352" y="1234440"/>
            <a:ext cx="5486400" cy="3154680"/>
          </a:xfrm>
          <a:prstGeom prst="roundRect">
            <a:avLst>
              <a:gd name="adj" fmla="val 2899"/>
            </a:avLst>
          </a:prstGeom>
          <a:solidFill>
            <a:schemeClr val="bg2"/>
          </a:solidFill>
          <a:ln w="12700">
            <a:solidFill>
              <a:schemeClr val="bg2"/>
            </a:solidFill>
            <a:prstDash val="solid"/>
          </a:ln>
        </p:spPr>
      </p:sp>
      <p:sp>
        <p:nvSpPr>
          <p:cNvPr id="28" name="Text 26"/>
          <p:cNvSpPr txBox="1"/>
          <p:nvPr/>
        </p:nvSpPr>
        <p:spPr>
          <a:xfrm>
            <a:off x="6473952" y="1325880"/>
            <a:ext cx="5029200" cy="384048"/>
          </a:xfrm>
          <a:prstGeom prst="rect">
            <a:avLst/>
          </a:prstGeom>
          <a:noFill/>
          <a:ln/>
        </p:spPr>
        <p:txBody>
          <a:bodyPr wrap="square" lIns="0" tIns="0" rIns="0" bIns="0" rtlCol="0" anchor="ctr"/>
          <a:lstStyle/>
          <a:p>
            <a:pPr indent="0" marL="0">
              <a:buNone/>
            </a:pPr>
            <a:r>
              <a:rPr lang="en-US" sz="1800" b="1" dirty="0">
                <a:solidFill>
                  <a:schemeClr val="accent1"/>
                </a:solidFill>
              </a:rPr>
              <a:t>Predictive modelling</a:t>
            </a:r>
            <a:endParaRPr lang="en-US" sz="1800" dirty="0"/>
          </a:p>
        </p:txBody>
      </p:sp>
      <p:sp>
        <p:nvSpPr>
          <p:cNvPr id="29" name="Text 27"/>
          <p:cNvSpPr txBox="1"/>
          <p:nvPr/>
        </p:nvSpPr>
        <p:spPr>
          <a:xfrm>
            <a:off x="6473952" y="1709928"/>
            <a:ext cx="5029200" cy="292608"/>
          </a:xfrm>
          <a:prstGeom prst="rect">
            <a:avLst/>
          </a:prstGeom>
          <a:noFill/>
          <a:ln/>
        </p:spPr>
        <p:txBody>
          <a:bodyPr wrap="square" lIns="0" tIns="0" rIns="0" bIns="0" rtlCol="0" anchor="ctr"/>
          <a:lstStyle/>
          <a:p>
            <a:pPr indent="0" marL="0">
              <a:buNone/>
            </a:pPr>
            <a:r>
              <a:rPr lang="en-US" sz="1300" i="1" dirty="0">
                <a:solidFill>
                  <a:schemeClr val="tx2"/>
                </a:solidFill>
              </a:rPr>
              <a:t>Aim: good predictions for new patients</a:t>
            </a:r>
            <a:endParaRPr lang="en-US" sz="1300" dirty="0"/>
          </a:p>
        </p:txBody>
      </p:sp>
      <p:sp>
        <p:nvSpPr>
          <p:cNvPr id="30" name="Text 28"/>
          <p:cNvSpPr txBox="1"/>
          <p:nvPr/>
        </p:nvSpPr>
        <p:spPr>
          <a:xfrm>
            <a:off x="6473952" y="2103120"/>
            <a:ext cx="5029200" cy="2240280"/>
          </a:xfrm>
          <a:prstGeom prst="rect">
            <a:avLst/>
          </a:prstGeom>
          <a:noFill/>
          <a:ln/>
        </p:spPr>
        <p:txBody>
          <a:bodyPr wrap="square" lIns="0" tIns="0" rIns="0" bIns="0" rtlCol="0" anchor="t"/>
          <a:lstStyle/>
          <a:p>
            <a:pPr marL="190500" indent="-190500">
              <a:spcAft>
                <a:spcPts val="600"/>
              </a:spcAft>
              <a:buSzPct val="100000"/>
              <a:buChar char="•"/>
            </a:pPr>
            <a:r>
              <a:rPr lang="en-US" sz="1400" b="1" dirty="0">
                <a:solidFill>
                  <a:schemeClr val="tx1"/>
                </a:solidFill>
              </a:rPr>
              <a:t>Imputation is part of the model: </a:t>
            </a:r>
            <a:pPr indent="0" marL="0">
              <a:buNone/>
            </a:pPr>
            <a:r>
              <a:rPr lang="en-US" sz="1400" dirty="0">
                <a:solidFill>
                  <a:schemeClr val="tx1"/>
                </a:solidFill>
              </a:rPr>
              <a:t>fit it on training folds only, inside a pipeline.</a:t>
            </a:r>
            <a:endParaRPr lang="en-US" sz="1400" dirty="0"/>
          </a:p>
          <a:p>
            <a:pPr marL="190500" indent="-190500">
              <a:spcAft>
                <a:spcPts val="600"/>
              </a:spcAft>
              <a:buSzPct val="100000"/>
              <a:buChar char="•"/>
            </a:pPr>
            <a:r>
              <a:rPr lang="en-US" sz="1400" b="1" dirty="0">
                <a:solidFill>
                  <a:schemeClr val="tx1"/>
                </a:solidFill>
              </a:rPr>
              <a:t>Missingness indicators </a:t>
            </a:r>
            <a:pPr indent="0" marL="0">
              <a:buNone/>
            </a:pPr>
            <a:r>
              <a:rPr lang="en-US" sz="1400" dirty="0">
                <a:solidFill>
                  <a:schemeClr val="tx1"/>
                </a:solidFill>
              </a:rPr>
              <a:t>can carry signal (a test was not ordered). They do not remove bias in effect estimates.</a:t>
            </a:r>
            <a:endParaRPr lang="en-US" sz="1400" dirty="0"/>
          </a:p>
          <a:p>
            <a:pPr marL="190500" indent="-190500">
              <a:spcAft>
                <a:spcPts val="600"/>
              </a:spcAft>
              <a:buSzPct val="100000"/>
              <a:buChar char="•"/>
            </a:pPr>
            <a:r>
              <a:rPr lang="en-US" sz="1400" b="1" dirty="0">
                <a:solidFill>
                  <a:schemeClr val="tx1"/>
                </a:solidFill>
              </a:rPr>
              <a:t>Use the same handling </a:t>
            </a:r>
            <a:pPr indent="0" marL="0">
              <a:buNone/>
            </a:pPr>
            <a:r>
              <a:rPr lang="en-US" sz="1400" dirty="0">
                <a:solidFill>
                  <a:schemeClr val="tx1"/>
                </a:solidFill>
              </a:rPr>
              <a:t>at deployment as in training.</a:t>
            </a:r>
            <a:endParaRPr lang="en-US" sz="1400" dirty="0"/>
          </a:p>
        </p:txBody>
      </p:sp>
      <p:sp>
        <p:nvSpPr>
          <p:cNvPr id="31" name="card"/>
          <p:cNvSpPr/>
          <p:nvPr/>
        </p:nvSpPr>
        <p:spPr>
          <a:xfrm>
            <a:off x="457200" y="4526280"/>
            <a:ext cx="11274552" cy="1005840"/>
          </a:xfrm>
          <a:prstGeom prst="roundRect">
            <a:avLst>
              <a:gd name="adj" fmla="val 9091"/>
            </a:avLst>
          </a:prstGeom>
          <a:solidFill>
            <a:schemeClr val="accent4"/>
          </a:solidFill>
          <a:ln w="12700">
            <a:solidFill>
              <a:schemeClr val="accent4"/>
            </a:solidFill>
            <a:prstDash val="solid"/>
          </a:ln>
        </p:spPr>
      </p:sp>
      <p:sp>
        <p:nvSpPr>
          <p:cNvPr id="32" name="Text 30"/>
          <p:cNvSpPr txBox="1"/>
          <p:nvPr/>
        </p:nvSpPr>
        <p:spPr>
          <a:xfrm>
            <a:off x="685800" y="4526280"/>
            <a:ext cx="10817352" cy="1005840"/>
          </a:xfrm>
          <a:prstGeom prst="rect">
            <a:avLst/>
          </a:prstGeom>
          <a:noFill/>
          <a:ln/>
        </p:spPr>
        <p:txBody>
          <a:bodyPr wrap="square" lIns="0" tIns="0" rIns="0" bIns="0" rtlCol="0" anchor="ctr"/>
          <a:lstStyle/>
          <a:p>
            <a:pPr indent="0" marL="0">
              <a:buNone/>
            </a:pPr>
            <a:r>
              <a:rPr lang="en-US" sz="1400" b="1" dirty="0">
                <a:solidFill>
                  <a:schemeClr val="accent1"/>
                </a:solidFill>
              </a:rPr>
              <a:t>Avoid mean imputation for inference, even under MCAR. </a:t>
            </a:r>
            <a:pPr indent="0" marL="0">
              <a:buNone/>
            </a:pPr>
            <a:r>
              <a:rPr lang="en-US" sz="1400" dirty="0">
                <a:solidFill>
                  <a:schemeClr val="tx1"/>
                </a:solidFill>
              </a:rPr>
              <a:t>Filling every gap with one value shrinks the variance, weakens correlations and makes confidence intervals too narrow. Missingness that carries meaning (e.g. a test not ordered) is information to model, not a reason to skip thinking about bias.</a:t>
            </a:r>
            <a:endParaRPr lang="en-US" sz="1400" dirty="0"/>
          </a:p>
        </p:txBody>
      </p:sp>
      <p:sp>
        <p:nvSpPr>
          <p:cNvPr id="33" name="resource chip"/>
          <p:cNvSpPr/>
          <p:nvPr/>
        </p:nvSpPr>
        <p:spPr>
          <a:xfrm>
            <a:off x="457200" y="5669280"/>
            <a:ext cx="3840480" cy="310896"/>
          </a:xfrm>
          <a:prstGeom prst="roundRect">
            <a:avLst>
              <a:gd name="adj" fmla="val 50000"/>
            </a:avLst>
          </a:prstGeom>
          <a:solidFill>
            <a:schemeClr val="accent4"/>
          </a:solidFill>
          <a:ln w="12700">
            <a:solidFill>
              <a:schemeClr val="accent4"/>
            </a:solidFill>
            <a:prstDash val="solid"/>
          </a:ln>
        </p:spPr>
      </p:sp>
      <p:sp>
        <p:nvSpPr>
          <p:cNvPr id="34" name="resource link"/>
          <p:cNvSpPr txBox="1"/>
          <p:nvPr/>
        </p:nvSpPr>
        <p:spPr>
          <a:xfrm>
            <a:off x="594360" y="5669280"/>
            <a:ext cx="3566160"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1" invalidUrl="" action="" tgtFrame="" tooltip="https://stefvanbuuren.name/fimd/" history="1" highlightClick="0" endSnd="0">
                  <a:extLst>
                    <a:ext uri="{A12FA001-AC4F-418D-AE19-62706E023703}">
                      <ahyp:hlinkClr xmlns:ahyp="http://schemas.microsoft.com/office/drawing/2018/hyperlinkcolor" val="tx"/>
                    </a:ext>
                  </a:extLst>
                </a:hlinkClick>
              </a:rPr>
              <a:t>Flexible Imputation of Missing Data</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Multiple imputation: impute, analyse, pool</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465772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06765" y="6291072"/>
            <a:ext cx="182880" cy="182880"/>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Missing</a:t>
            </a:r>
            <a:endParaRPr lang="en-US" sz="1000" dirty="0"/>
          </a:p>
        </p:txBody>
      </p:sp>
      <p:sp>
        <p:nvSpPr>
          <p:cNvPr id="17" name="tracker Features"/>
          <p:cNvSpPr/>
          <p:nvPr/>
        </p:nvSpPr>
        <p:spPr>
          <a:xfrm>
            <a:off x="9374886" y="6327648"/>
            <a:ext cx="109728" cy="109728"/>
          </a:xfrm>
          <a:prstGeom prst="ellipse">
            <a:avLst/>
          </a:prstGeom>
          <a:solidFill>
            <a:schemeClr val="bg1"/>
          </a:solidFill>
          <a:ln w="12700">
            <a:solidFill>
              <a:schemeClr val="accent5"/>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Shape 21"/>
          <p:cNvSpPr/>
          <p:nvPr/>
        </p:nvSpPr>
        <p:spPr>
          <a:xfrm>
            <a:off x="457200" y="1234440"/>
            <a:ext cx="1691640" cy="1051560"/>
          </a:xfrm>
          <a:prstGeom prst="roundRect">
            <a:avLst>
              <a:gd name="adj" fmla="val 8696"/>
            </a:avLst>
          </a:prstGeom>
          <a:solidFill>
            <a:schemeClr val="accent4"/>
          </a:solidFill>
          <a:ln w="12700">
            <a:solidFill>
              <a:schemeClr val="accent1"/>
            </a:solidFill>
            <a:prstDash val="solid"/>
          </a:ln>
        </p:spPr>
      </p:sp>
      <p:sp>
        <p:nvSpPr>
          <p:cNvPr id="24" name="Text 22"/>
          <p:cNvSpPr txBox="1"/>
          <p:nvPr/>
        </p:nvSpPr>
        <p:spPr>
          <a:xfrm>
            <a:off x="548640" y="1234440"/>
            <a:ext cx="1508760" cy="1051560"/>
          </a:xfrm>
          <a:prstGeom prst="rect">
            <a:avLst/>
          </a:prstGeom>
          <a:noFill/>
          <a:ln/>
        </p:spPr>
        <p:txBody>
          <a:bodyPr wrap="square" lIns="0" tIns="0" rIns="0" bIns="0" rtlCol="0" anchor="ctr"/>
          <a:lstStyle/>
          <a:p>
            <a:pPr algn="ctr" indent="0" marL="0">
              <a:buNone/>
            </a:pPr>
            <a:r>
              <a:rPr lang="en-US" sz="1600" b="1" dirty="0">
                <a:solidFill>
                  <a:schemeClr val="tx1"/>
                </a:solidFill>
              </a:rPr>
              <a:t>Impute</a:t>
            </a:r>
            <a:endParaRPr lang="en-US" sz="1600" dirty="0"/>
          </a:p>
          <a:p>
            <a:pPr algn="ctr" indent="0" marL="0">
              <a:buNone/>
            </a:pPr>
            <a:r>
              <a:rPr lang="en-US" sz="1100" dirty="0">
                <a:solidFill>
                  <a:schemeClr val="tx1"/>
                </a:solidFill>
              </a:rPr>
              <a:t>m = 20 completed datasets</a:t>
            </a:r>
            <a:endParaRPr lang="en-US" sz="1600" dirty="0"/>
          </a:p>
        </p:txBody>
      </p:sp>
      <p:sp>
        <p:nvSpPr>
          <p:cNvPr id="25" name="Shape 23"/>
          <p:cNvSpPr/>
          <p:nvPr/>
        </p:nvSpPr>
        <p:spPr>
          <a:xfrm>
            <a:off x="2176272" y="1755648"/>
            <a:ext cx="219456" cy="0"/>
          </a:xfrm>
          <a:prstGeom prst="line">
            <a:avLst/>
          </a:prstGeom>
          <a:noFill/>
          <a:ln w="19050">
            <a:solidFill>
              <a:schemeClr val="tx2"/>
            </a:solidFill>
            <a:prstDash val="solid"/>
            <a:tailEnd type="triangle"/>
          </a:ln>
        </p:spPr>
      </p:sp>
      <p:sp>
        <p:nvSpPr>
          <p:cNvPr id="26" name="Shape 24"/>
          <p:cNvSpPr/>
          <p:nvPr/>
        </p:nvSpPr>
        <p:spPr>
          <a:xfrm>
            <a:off x="2423160" y="1234440"/>
            <a:ext cx="1691640" cy="1051560"/>
          </a:xfrm>
          <a:prstGeom prst="roundRect">
            <a:avLst>
              <a:gd name="adj" fmla="val 8696"/>
            </a:avLst>
          </a:prstGeom>
          <a:solidFill>
            <a:schemeClr val="accent4"/>
          </a:solidFill>
          <a:ln w="12700">
            <a:solidFill>
              <a:schemeClr val="accent1"/>
            </a:solidFill>
            <a:prstDash val="solid"/>
          </a:ln>
        </p:spPr>
      </p:sp>
      <p:sp>
        <p:nvSpPr>
          <p:cNvPr id="27" name="Text 25"/>
          <p:cNvSpPr txBox="1"/>
          <p:nvPr/>
        </p:nvSpPr>
        <p:spPr>
          <a:xfrm>
            <a:off x="2514600" y="1234440"/>
            <a:ext cx="1508760" cy="1051560"/>
          </a:xfrm>
          <a:prstGeom prst="rect">
            <a:avLst/>
          </a:prstGeom>
          <a:noFill/>
          <a:ln/>
        </p:spPr>
        <p:txBody>
          <a:bodyPr wrap="square" lIns="0" tIns="0" rIns="0" bIns="0" rtlCol="0" anchor="ctr"/>
          <a:lstStyle/>
          <a:p>
            <a:pPr algn="ctr" indent="0" marL="0">
              <a:buNone/>
            </a:pPr>
            <a:r>
              <a:rPr lang="en-US" sz="1600" b="1" dirty="0">
                <a:solidFill>
                  <a:schemeClr val="tx1"/>
                </a:solidFill>
              </a:rPr>
              <a:t>Analyse</a:t>
            </a:r>
            <a:endParaRPr lang="en-US" sz="1600" dirty="0"/>
          </a:p>
          <a:p>
            <a:pPr algn="ctr" indent="0" marL="0">
              <a:buNone/>
            </a:pPr>
            <a:r>
              <a:rPr lang="en-US" sz="1100" dirty="0">
                <a:solidFill>
                  <a:schemeClr val="tx1"/>
                </a:solidFill>
              </a:rPr>
              <a:t>Fit the same model in each</a:t>
            </a:r>
            <a:endParaRPr lang="en-US" sz="1600" dirty="0"/>
          </a:p>
        </p:txBody>
      </p:sp>
      <p:sp>
        <p:nvSpPr>
          <p:cNvPr id="28" name="Shape 26"/>
          <p:cNvSpPr/>
          <p:nvPr/>
        </p:nvSpPr>
        <p:spPr>
          <a:xfrm>
            <a:off x="4142232" y="1755648"/>
            <a:ext cx="219456" cy="0"/>
          </a:xfrm>
          <a:prstGeom prst="line">
            <a:avLst/>
          </a:prstGeom>
          <a:noFill/>
          <a:ln w="19050">
            <a:solidFill>
              <a:schemeClr val="tx2"/>
            </a:solidFill>
            <a:prstDash val="solid"/>
            <a:tailEnd type="triangle"/>
          </a:ln>
        </p:spPr>
      </p:sp>
      <p:sp>
        <p:nvSpPr>
          <p:cNvPr id="29" name="Shape 27"/>
          <p:cNvSpPr/>
          <p:nvPr/>
        </p:nvSpPr>
        <p:spPr>
          <a:xfrm>
            <a:off x="4389120" y="1234440"/>
            <a:ext cx="1691640" cy="1051560"/>
          </a:xfrm>
          <a:prstGeom prst="roundRect">
            <a:avLst>
              <a:gd name="adj" fmla="val 8696"/>
            </a:avLst>
          </a:prstGeom>
          <a:solidFill>
            <a:schemeClr val="accent1"/>
          </a:solidFill>
          <a:ln w="12700">
            <a:solidFill>
              <a:schemeClr val="accent1"/>
            </a:solidFill>
            <a:prstDash val="solid"/>
          </a:ln>
        </p:spPr>
      </p:sp>
      <p:sp>
        <p:nvSpPr>
          <p:cNvPr id="30" name="Text 28"/>
          <p:cNvSpPr txBox="1"/>
          <p:nvPr/>
        </p:nvSpPr>
        <p:spPr>
          <a:xfrm>
            <a:off x="4480560" y="1234440"/>
            <a:ext cx="1508760" cy="1051560"/>
          </a:xfrm>
          <a:prstGeom prst="rect">
            <a:avLst/>
          </a:prstGeom>
          <a:noFill/>
          <a:ln/>
        </p:spPr>
        <p:txBody>
          <a:bodyPr wrap="square" lIns="0" tIns="0" rIns="0" bIns="0" rtlCol="0" anchor="ctr"/>
          <a:lstStyle/>
          <a:p>
            <a:pPr algn="ctr" indent="0" marL="0">
              <a:buNone/>
            </a:pPr>
            <a:r>
              <a:rPr lang="en-US" sz="1600" b="1" dirty="0">
                <a:solidFill>
                  <a:schemeClr val="bg1"/>
                </a:solidFill>
              </a:rPr>
              <a:t>Pool</a:t>
            </a:r>
            <a:endParaRPr lang="en-US" sz="1600" dirty="0"/>
          </a:p>
          <a:p>
            <a:pPr algn="ctr" indent="0" marL="0">
              <a:buNone/>
            </a:pPr>
            <a:r>
              <a:rPr lang="en-US" sz="1100" dirty="0">
                <a:solidFill>
                  <a:schemeClr val="bg1"/>
                </a:solidFill>
              </a:rPr>
              <a:t>Combine with Rubin's rules</a:t>
            </a:r>
            <a:endParaRPr lang="en-US" sz="1600" dirty="0"/>
          </a:p>
        </p:txBody>
      </p:sp>
      <p:sp>
        <p:nvSpPr>
          <p:cNvPr id="31" name="R  (mice) code panel"/>
          <p:cNvSpPr/>
          <p:nvPr/>
        </p:nvSpPr>
        <p:spPr>
          <a:xfrm>
            <a:off x="457200" y="2468880"/>
            <a:ext cx="5760720" cy="3063240"/>
          </a:xfrm>
          <a:prstGeom prst="roundRect">
            <a:avLst>
              <a:gd name="adj" fmla="val 2388"/>
            </a:avLst>
          </a:prstGeom>
          <a:solidFill>
            <a:schemeClr val="bg2"/>
          </a:solidFill>
          <a:ln w="12700">
            <a:solidFill>
              <a:schemeClr val="bg2"/>
            </a:solidFill>
            <a:prstDash val="solid"/>
          </a:ln>
        </p:spPr>
      </p:sp>
      <p:sp>
        <p:nvSpPr>
          <p:cNvPr id="32" name="R  (mice) label"/>
          <p:cNvSpPr txBox="1"/>
          <p:nvPr/>
        </p:nvSpPr>
        <p:spPr>
          <a:xfrm>
            <a:off x="594360" y="254203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  (mice)</a:t>
            </a:r>
            <a:endParaRPr lang="en-US" sz="1000" dirty="0"/>
          </a:p>
        </p:txBody>
      </p:sp>
      <p:sp>
        <p:nvSpPr>
          <p:cNvPr id="33" name="R  (mice) code"/>
          <p:cNvSpPr txBox="1"/>
          <p:nvPr/>
        </p:nvSpPr>
        <p:spPr>
          <a:xfrm>
            <a:off x="594360" y="2779776"/>
            <a:ext cx="5486400" cy="2679192"/>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library(mice)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dat &lt;- base |&gt;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select(systolic_bp, diabetes, age, sex, bmi,</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hdl, crp, smoking_status) |&gt;  # no patient_id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mutate(across(c(sex, smoking_status), as.factor))</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imp &lt;- mice(dat, m = 20, seed = 123)  # pmm, logreg,</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 polyreg by type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fit &lt;- with(imp, lm(systolic_bp ~ diabetes + age + bmi))</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summary(pool(fit), conf.int = TRUE)</a:t>
            </a:r>
            <a:endParaRPr lang="en-US" sz="1200" dirty="0"/>
          </a:p>
        </p:txBody>
      </p:sp>
      <p:sp>
        <p:nvSpPr>
          <p:cNvPr id="34" name="Python  (statsmodels) code panel"/>
          <p:cNvSpPr/>
          <p:nvPr/>
        </p:nvSpPr>
        <p:spPr>
          <a:xfrm>
            <a:off x="6492240" y="1234440"/>
            <a:ext cx="5239512" cy="2240280"/>
          </a:xfrm>
          <a:prstGeom prst="roundRect">
            <a:avLst>
              <a:gd name="adj" fmla="val 3265"/>
            </a:avLst>
          </a:prstGeom>
          <a:solidFill>
            <a:schemeClr val="bg2"/>
          </a:solidFill>
          <a:ln w="12700">
            <a:solidFill>
              <a:schemeClr val="bg2"/>
            </a:solidFill>
            <a:prstDash val="solid"/>
          </a:ln>
        </p:spPr>
      </p:sp>
      <p:sp>
        <p:nvSpPr>
          <p:cNvPr id="35" name="Python  (statsmodels) label"/>
          <p:cNvSpPr txBox="1"/>
          <p:nvPr/>
        </p:nvSpPr>
        <p:spPr>
          <a:xfrm>
            <a:off x="6629400" y="13075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  (statsmodels)</a:t>
            </a:r>
            <a:endParaRPr lang="en-US" sz="1000" dirty="0"/>
          </a:p>
        </p:txBody>
      </p:sp>
      <p:sp>
        <p:nvSpPr>
          <p:cNvPr id="36" name="Python  (statsmodels) code"/>
          <p:cNvSpPr txBox="1"/>
          <p:nvPr/>
        </p:nvSpPr>
        <p:spPr>
          <a:xfrm>
            <a:off x="6629400" y="1545336"/>
            <a:ext cx="4965192" cy="1856232"/>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import statsmodels.api as sm</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from statsmodels.imputation.mice import MICEData, MICE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num = base[["systolic_bp", "diabetes", "age",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"bmi", "hdl", "crp"]]</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mi = MICE("systolic_bp ~ diabetes + age + bmi",</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sm.OLS, MICEData(num)).fit(10, 20)</a:t>
            </a:r>
            <a:endParaRPr lang="en-US" sz="1100" dirty="0"/>
          </a:p>
        </p:txBody>
      </p:sp>
      <p:sp>
        <p:nvSpPr>
          <p:cNvPr id="37" name="Text 35"/>
          <p:cNvSpPr txBox="1"/>
          <p:nvPr/>
        </p:nvSpPr>
        <p:spPr>
          <a:xfrm>
            <a:off x="6492240" y="3611880"/>
            <a:ext cx="5239512" cy="1600200"/>
          </a:xfrm>
          <a:prstGeom prst="rect">
            <a:avLst/>
          </a:prstGeom>
          <a:noFill/>
          <a:ln/>
        </p:spPr>
        <p:txBody>
          <a:bodyPr wrap="square" lIns="0" tIns="0" rIns="0" bIns="0" rtlCol="0" anchor="t"/>
          <a:lstStyle/>
          <a:p>
            <a:pPr marL="190500" indent="-190500">
              <a:spcAft>
                <a:spcPts val="400"/>
              </a:spcAft>
              <a:buSzPct val="100000"/>
              <a:buChar char="•"/>
            </a:pPr>
            <a:r>
              <a:rPr lang="en-US" sz="1300" b="1" dirty="0">
                <a:solidFill>
                  <a:schemeClr val="tx1"/>
                </a:solidFill>
              </a:rPr>
              <a:t>Exclude identifiers </a:t>
            </a:r>
            <a:pPr indent="0" marL="0">
              <a:buNone/>
            </a:pPr>
            <a:r>
              <a:rPr lang="en-US" sz="1300" dirty="0">
                <a:solidFill>
                  <a:schemeClr val="tx1"/>
                </a:solidFill>
              </a:rPr>
              <a:t>such as patient_id from the imputation model.</a:t>
            </a:r>
            <a:endParaRPr lang="en-US" sz="1300" dirty="0"/>
          </a:p>
          <a:p>
            <a:pPr marL="190500" indent="-190500">
              <a:spcAft>
                <a:spcPts val="400"/>
              </a:spcAft>
              <a:buSzPct val="100000"/>
              <a:buChar char="•"/>
            </a:pPr>
            <a:r>
              <a:rPr lang="en-US" sz="1300" b="1" dirty="0">
                <a:solidFill>
                  <a:schemeClr val="tx1"/>
                </a:solidFill>
              </a:rPr>
              <a:t>Match the method to the variable type: </a:t>
            </a:r>
            <a:pPr indent="0" marL="0">
              <a:buNone/>
            </a:pPr>
            <a:r>
              <a:rPr lang="en-US" sz="1300" dirty="0">
                <a:solidFill>
                  <a:schemeClr val="tx1"/>
                </a:solidFill>
              </a:rPr>
              <a:t>pmm for numeric, logreg for binary, polyreg for nominal, polr for ordinal.</a:t>
            </a:r>
            <a:endParaRPr lang="en-US" sz="1300" dirty="0"/>
          </a:p>
          <a:p>
            <a:pPr marL="190500" indent="-190500">
              <a:spcAft>
                <a:spcPts val="400"/>
              </a:spcAft>
              <a:buSzPct val="100000"/>
              <a:buChar char="•"/>
            </a:pPr>
            <a:r>
              <a:rPr lang="en-US" sz="1300" b="1" dirty="0">
                <a:solidFill>
                  <a:schemeClr val="tx1"/>
                </a:solidFill>
              </a:rPr>
              <a:t>Include the outcome </a:t>
            </a:r>
            <a:pPr indent="0" marL="0">
              <a:buNone/>
            </a:pPr>
            <a:r>
              <a:rPr lang="en-US" sz="1300" dirty="0">
                <a:solidFill>
                  <a:schemeClr val="tx1"/>
                </a:solidFill>
              </a:rPr>
              <a:t>and all analysis variables in the imputation model.</a:t>
            </a:r>
            <a:endParaRPr lang="en-US" sz="1300" dirty="0"/>
          </a:p>
        </p:txBody>
      </p:sp>
      <p:sp>
        <p:nvSpPr>
          <p:cNvPr id="38" name="Text 36"/>
          <p:cNvSpPr txBox="1"/>
          <p:nvPr/>
        </p:nvSpPr>
        <p:spPr>
          <a:xfrm>
            <a:off x="6492240" y="5257800"/>
            <a:ext cx="5239512" cy="640080"/>
          </a:xfrm>
          <a:prstGeom prst="rect">
            <a:avLst/>
          </a:prstGeom>
          <a:noFill/>
          <a:ln/>
        </p:spPr>
        <p:txBody>
          <a:bodyPr wrap="square" lIns="0" tIns="0" rIns="0" bIns="0" rtlCol="0" anchor="t"/>
          <a:lstStyle/>
          <a:p>
            <a:pPr indent="0" marL="0">
              <a:buNone/>
            </a:pPr>
            <a:r>
              <a:rPr lang="en-US" sz="1200" b="1" dirty="0">
                <a:solidFill>
                  <a:schemeClr val="tx2"/>
                </a:solidFill>
              </a:rPr>
              <a:t>scikit-learn IterativeImputer() = iterative single imputation. </a:t>
            </a:r>
            <a:pPr indent="0" marL="0">
              <a:buNone/>
            </a:pPr>
            <a:r>
              <a:rPr lang="en-US" sz="1200" dirty="0">
                <a:solidFill>
                  <a:schemeClr val="tx2"/>
                </a:solidFill>
              </a:rPr>
              <a:t>One completed dataset: use it inside a prediction pipeline, not for pooled inference. complete(imp, 1) in R also extracts only one dataset.</a:t>
            </a:r>
            <a:endParaRPr lang="en-US" sz="1200" dirty="0"/>
          </a:p>
        </p:txBody>
      </p:sp>
      <p:sp>
        <p:nvSpPr>
          <p:cNvPr id="39" name="resource chip"/>
          <p:cNvSpPr/>
          <p:nvPr/>
        </p:nvSpPr>
        <p:spPr>
          <a:xfrm>
            <a:off x="457200" y="5650992"/>
            <a:ext cx="3291840" cy="310896"/>
          </a:xfrm>
          <a:prstGeom prst="roundRect">
            <a:avLst>
              <a:gd name="adj" fmla="val 50000"/>
            </a:avLst>
          </a:prstGeom>
          <a:solidFill>
            <a:schemeClr val="accent4"/>
          </a:solidFill>
          <a:ln w="12700">
            <a:solidFill>
              <a:schemeClr val="accent4"/>
            </a:solidFill>
            <a:prstDash val="solid"/>
          </a:ln>
        </p:spPr>
      </p:sp>
      <p:sp>
        <p:nvSpPr>
          <p:cNvPr id="40" name="resource link"/>
          <p:cNvSpPr txBox="1"/>
          <p:nvPr/>
        </p:nvSpPr>
        <p:spPr>
          <a:xfrm>
            <a:off x="594360" y="5650992"/>
            <a:ext cx="3017520"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1" invalidUrl="" action="" tgtFrame="" tooltip="https://amices.org/mice/" history="1" highlightClick="0" endSnd="0">
                  <a:extLst>
                    <a:ext uri="{A12FA001-AC4F-418D-AE19-62706E023703}">
                      <ahyp:hlinkClr xmlns:ahyp="http://schemas.microsoft.com/office/drawing/2018/hyperlinkcolor" val="tx"/>
                    </a:ext>
                  </a:extLst>
                </a:hlinkClick>
              </a:rPr>
              <a:t>mice: official workflow</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Feature engineering and encoding</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5589270"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38310" y="6291072"/>
            <a:ext cx="182880" cy="182880"/>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Text 21"/>
          <p:cNvSpPr txBox="1"/>
          <p:nvPr/>
        </p:nvSpPr>
        <p:spPr>
          <a:xfrm>
            <a:off x="457200" y="1188720"/>
            <a:ext cx="5486400" cy="365760"/>
          </a:xfrm>
          <a:prstGeom prst="rect">
            <a:avLst/>
          </a:prstGeom>
          <a:noFill/>
          <a:ln/>
        </p:spPr>
        <p:txBody>
          <a:bodyPr wrap="square" lIns="0" tIns="0" rIns="0" bIns="0" rtlCol="0" anchor="ctr"/>
          <a:lstStyle/>
          <a:p>
            <a:pPr indent="0" marL="0">
              <a:buNone/>
            </a:pPr>
            <a:r>
              <a:rPr lang="en-US" sz="1600" b="1" dirty="0">
                <a:solidFill>
                  <a:schemeClr val="tx1"/>
                </a:solidFill>
              </a:rPr>
              <a:t>Derive informative variables, with domain knowledge</a:t>
            </a:r>
            <a:endParaRPr lang="en-US" sz="1600" dirty="0"/>
          </a:p>
        </p:txBody>
      </p:sp>
      <p:sp>
        <p:nvSpPr>
          <p:cNvPr id="24" name="Python  /  R code panel"/>
          <p:cNvSpPr/>
          <p:nvPr/>
        </p:nvSpPr>
        <p:spPr>
          <a:xfrm>
            <a:off x="457200" y="1645920"/>
            <a:ext cx="5486400" cy="1143000"/>
          </a:xfrm>
          <a:prstGeom prst="roundRect">
            <a:avLst>
              <a:gd name="adj" fmla="val 6400"/>
            </a:avLst>
          </a:prstGeom>
          <a:solidFill>
            <a:schemeClr val="bg2"/>
          </a:solidFill>
          <a:ln w="12700">
            <a:solidFill>
              <a:schemeClr val="bg2"/>
            </a:solidFill>
            <a:prstDash val="solid"/>
          </a:ln>
        </p:spPr>
      </p:sp>
      <p:sp>
        <p:nvSpPr>
          <p:cNvPr id="25" name="Python  /  R label"/>
          <p:cNvSpPr txBox="1"/>
          <p:nvPr/>
        </p:nvSpPr>
        <p:spPr>
          <a:xfrm>
            <a:off x="594360" y="171907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  /  R</a:t>
            </a:r>
            <a:endParaRPr lang="en-US" sz="1000" dirty="0"/>
          </a:p>
        </p:txBody>
      </p:sp>
      <p:sp>
        <p:nvSpPr>
          <p:cNvPr id="26" name="Python  /  R code"/>
          <p:cNvSpPr txBox="1"/>
          <p:nvPr/>
        </p:nvSpPr>
        <p:spPr>
          <a:xfrm>
            <a:off x="594360" y="1956816"/>
            <a:ext cx="5212080" cy="758952"/>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df["bmi"] = df["weight_kg"] / (df["height_cm"] / 100) ** 2</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df$bmi &lt;- df$weight_kg / (df$height_cm / 100)^2</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5486400" cy="914400"/>
        </p:xfrm>
        <a:graphic>
          <a:graphicData uri="http://schemas.openxmlformats.org/drawingml/2006/table">
            <a:tbl>
              <a:tblPr/>
              <a:tblGrid>
                <a:gridCol w="1554480"/>
                <a:gridCol w="2377440"/>
                <a:gridCol w="1554480"/>
              </a:tblGrid>
              <a:tr h="475488">
                <a:tc>
                  <a:txBody>
                    <a:bodyPr/>
                    <a:lstStyle/>
                    <a:p>
                      <a:pPr indent="0" marL="0">
                        <a:buNone/>
                      </a:pPr>
                      <a:r>
                        <a:rPr lang="en-US" sz="1200" b="1" dirty="0">
                          <a:solidFill>
                            <a:schemeClr val="bg1"/>
                          </a:solidFill>
                        </a:rPr>
                        <a:t>Variable type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Encoding</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Example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475488">
                <a:tc>
                  <a:txBody>
                    <a:bodyPr/>
                    <a:lstStyle/>
                    <a:p>
                      <a:pPr indent="0" marL="0">
                        <a:buNone/>
                      </a:pPr>
                      <a:r>
                        <a:rPr lang="en-US" sz="1200" dirty="0">
                          <a:solidFill>
                            <a:schemeClr val="tx1"/>
                          </a:solidFill>
                        </a:rPr>
                        <a:t>Nominal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Dummy (one-hot) coding; factor in R</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sex, site, smoking_status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200" dirty="0">
                          <a:solidFill>
                            <a:schemeClr val="tx1"/>
                          </a:solidFill>
                        </a:rPr>
                        <a:t>Ordinal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Ordered integer codes, only when the order is meaningful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ccs_class 0 to 4</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200" dirty="0">
                          <a:solidFill>
                            <a:schemeClr val="tx1"/>
                          </a:solidFill>
                        </a:rPr>
                        <a:t>Binary</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0/1</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diabetes, statin</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indent="0" marL="0">
                        <a:buNone/>
                      </a:pPr>
                      <a:r>
                        <a:rPr lang="en-US" sz="1200" dirty="0">
                          <a:solidFill>
                            <a:schemeClr val="tx1"/>
                          </a:solidFill>
                        </a:rPr>
                        <a:t>Target y (classification)</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LabelEncoder is designed for y, not for predictors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diabetes as outcome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8" name="Python code panel"/>
          <p:cNvSpPr/>
          <p:nvPr/>
        </p:nvSpPr>
        <p:spPr>
          <a:xfrm>
            <a:off x="6245352" y="1188720"/>
            <a:ext cx="5486400" cy="2514600"/>
          </a:xfrm>
          <a:prstGeom prst="roundRect">
            <a:avLst>
              <a:gd name="adj" fmla="val 2909"/>
            </a:avLst>
          </a:prstGeom>
          <a:solidFill>
            <a:schemeClr val="bg2"/>
          </a:solidFill>
          <a:ln w="12700">
            <a:solidFill>
              <a:schemeClr val="bg2"/>
            </a:solidFill>
            <a:prstDash val="solid"/>
          </a:ln>
        </p:spPr>
      </p:sp>
      <p:sp>
        <p:nvSpPr>
          <p:cNvPr id="29" name="Python label"/>
          <p:cNvSpPr txBox="1"/>
          <p:nvPr/>
        </p:nvSpPr>
        <p:spPr>
          <a:xfrm>
            <a:off x="6382512" y="126187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30" name="Python code"/>
          <p:cNvSpPr txBox="1"/>
          <p:nvPr/>
        </p:nvSpPr>
        <p:spPr>
          <a:xfrm>
            <a:off x="6382512" y="1499616"/>
            <a:ext cx="5212080" cy="2130552"/>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 regression: dummy coding, one reference level</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X = pd.get_dummies(base[["sex", "smoking_status"]],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drop_first=True)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 machine learning pipelines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from sklearn.preprocessing import OneHotEncoder, OrdinalEncoder</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nominal = OneHotEncoder(handle_unknown="ignore")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ordinal = OrdinalEncoder(categories=[[0, 1, 2, 3, 4]])</a:t>
            </a:r>
            <a:endParaRPr lang="en-US" sz="1000" dirty="0"/>
          </a:p>
        </p:txBody>
      </p:sp>
      <p:sp>
        <p:nvSpPr>
          <p:cNvPr id="31" name="R code panel"/>
          <p:cNvSpPr/>
          <p:nvPr/>
        </p:nvSpPr>
        <p:spPr>
          <a:xfrm>
            <a:off x="6245352" y="3840480"/>
            <a:ext cx="5486400" cy="2011680"/>
          </a:xfrm>
          <a:prstGeom prst="roundRect">
            <a:avLst>
              <a:gd name="adj" fmla="val 3636"/>
            </a:avLst>
          </a:prstGeom>
          <a:solidFill>
            <a:schemeClr val="bg2"/>
          </a:solidFill>
          <a:ln w="12700">
            <a:solidFill>
              <a:schemeClr val="bg2"/>
            </a:solidFill>
            <a:prstDash val="solid"/>
          </a:ln>
        </p:spPr>
      </p:sp>
      <p:sp>
        <p:nvSpPr>
          <p:cNvPr id="32" name="R label"/>
          <p:cNvSpPr txBox="1"/>
          <p:nvPr/>
        </p:nvSpPr>
        <p:spPr>
          <a:xfrm>
            <a:off x="6382512" y="391363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33" name="R code"/>
          <p:cNvSpPr txBox="1"/>
          <p:nvPr/>
        </p:nvSpPr>
        <p:spPr>
          <a:xfrm>
            <a:off x="6382512" y="4151376"/>
            <a:ext cx="5212080" cy="1627632"/>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df &lt;- df |&gt; mutate(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sex = factor(sex),</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smoking_status = factor(smoking_status,</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levels = c("never", "former", "current")),</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ccs_class = factor(ccs_class, levels = 0:4, ordered = TRUE))</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lm(systolic_bp ~ age + sex + smoking_status, data = df)</a:t>
            </a:r>
            <a:endParaRPr lang="en-US" sz="1050" dirty="0"/>
          </a:p>
        </p:txBody>
      </p:sp>
      <p:sp>
        <p:nvSpPr>
          <p:cNvPr id="34" name="Text 31"/>
          <p:cNvSpPr txBox="1"/>
          <p:nvPr/>
        </p:nvSpPr>
        <p:spPr>
          <a:xfrm>
            <a:off x="457200" y="5486400"/>
            <a:ext cx="5486400" cy="457200"/>
          </a:xfrm>
          <a:prstGeom prst="rect">
            <a:avLst/>
          </a:prstGeom>
          <a:noFill/>
          <a:ln/>
        </p:spPr>
        <p:txBody>
          <a:bodyPr wrap="square" lIns="0" tIns="0" rIns="0" bIns="0" rtlCol="0" anchor="t"/>
          <a:lstStyle/>
          <a:p>
            <a:pPr indent="0" marL="0">
              <a:buNone/>
            </a:pPr>
            <a:r>
              <a:rPr lang="en-US" sz="1200" i="1" dirty="0">
                <a:solidFill>
                  <a:schemeClr val="accent1"/>
                </a:solidFill>
              </a:rPr>
              <a:t>Integer labels for nominal categories (site A = 0, B = 1, C = 2) invent an order and equal spacing that do not exist.</a:t>
            </a:r>
            <a:endParaRPr lang="en-US" sz="12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Scaling is not transformation</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5589270"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38310" y="6291072"/>
            <a:ext cx="182880" cy="182880"/>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bg1"/>
          </a:solidFill>
          <a:ln w="12700">
            <a:solidFill>
              <a:schemeClr val="accent5"/>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pic>
        <p:nvPicPr>
          <p:cNvPr id="23" name="CRP original, standardized and log-transformed" descr="CRP original, standardized and log-transformed">    </p:cNvPr>
          <p:cNvPicPr>
            <a:picLocks noChangeAspect="1"/>
          </p:cNvPicPr>
          <p:nvPr/>
        </p:nvPicPr>
        <p:blipFill>
          <a:blip r:embed="rId1"/>
          <a:stretch>
            <a:fillRect/>
          </a:stretch>
        </p:blipFill>
        <p:spPr>
          <a:xfrm>
            <a:off x="1984028" y="1143000"/>
            <a:ext cx="8220896" cy="2240280"/>
          </a:xfrm>
          <a:prstGeom prst="rect">
            <a:avLst/>
          </a:prstGeom>
        </p:spPr>
      </p:pic>
      <p:sp>
        <p:nvSpPr>
          <p:cNvPr id="24" name="card"/>
          <p:cNvSpPr/>
          <p:nvPr/>
        </p:nvSpPr>
        <p:spPr>
          <a:xfrm>
            <a:off x="457200" y="3520440"/>
            <a:ext cx="5486400" cy="1600200"/>
          </a:xfrm>
          <a:prstGeom prst="roundRect">
            <a:avLst>
              <a:gd name="adj" fmla="val 5714"/>
            </a:avLst>
          </a:prstGeom>
          <a:solidFill>
            <a:schemeClr val="bg2"/>
          </a:solidFill>
          <a:ln w="12700">
            <a:solidFill>
              <a:schemeClr val="bg2"/>
            </a:solidFill>
            <a:prstDash val="solid"/>
          </a:ln>
        </p:spPr>
      </p:sp>
      <p:sp>
        <p:nvSpPr>
          <p:cNvPr id="25" name="Text 22"/>
          <p:cNvSpPr txBox="1"/>
          <p:nvPr/>
        </p:nvSpPr>
        <p:spPr>
          <a:xfrm>
            <a:off x="685800" y="3593592"/>
            <a:ext cx="5029200" cy="347472"/>
          </a:xfrm>
          <a:prstGeom prst="rect">
            <a:avLst/>
          </a:prstGeom>
          <a:noFill/>
          <a:ln/>
        </p:spPr>
        <p:txBody>
          <a:bodyPr wrap="square" lIns="0" tIns="0" rIns="0" bIns="0" rtlCol="0" anchor="ctr"/>
          <a:lstStyle/>
          <a:p>
            <a:pPr indent="0" marL="0">
              <a:buNone/>
            </a:pPr>
            <a:r>
              <a:rPr lang="en-US" sz="1600" b="1" dirty="0">
                <a:solidFill>
                  <a:schemeClr val="accent1"/>
                </a:solidFill>
              </a:rPr>
              <a:t>Scaling (z-score, min-max)</a:t>
            </a:r>
            <a:endParaRPr lang="en-US" sz="1600" dirty="0"/>
          </a:p>
        </p:txBody>
      </p:sp>
      <p:sp>
        <p:nvSpPr>
          <p:cNvPr id="26" name="Text 23"/>
          <p:cNvSpPr txBox="1"/>
          <p:nvPr/>
        </p:nvSpPr>
        <p:spPr>
          <a:xfrm>
            <a:off x="685800" y="3959352"/>
            <a:ext cx="5029200" cy="1115568"/>
          </a:xfrm>
          <a:prstGeom prst="rect">
            <a:avLst/>
          </a:prstGeom>
          <a:noFill/>
          <a:ln/>
        </p:spPr>
        <p:txBody>
          <a:bodyPr wrap="square" lIns="0" tIns="0" rIns="0" bIns="0" rtlCol="0" anchor="t"/>
          <a:lstStyle/>
          <a:p>
            <a:pPr indent="0" marL="0">
              <a:buNone/>
            </a:pPr>
            <a:r>
              <a:rPr lang="en-US" sz="1250" dirty="0">
                <a:solidFill>
                  <a:schemeClr val="tx1"/>
                </a:solidFill>
              </a:rPr>
              <a:t>Changes units, keeps the shape. Standardized CRP is as skewed as raw CRP.</a:t>
            </a:r>
            <a:endParaRPr lang="en-US" sz="1250" dirty="0"/>
          </a:p>
          <a:p>
            <a:pPr indent="0" marL="0">
              <a:buNone/>
            </a:pPr>
            <a:r>
              <a:rPr lang="en-US" sz="1250" dirty="0">
                <a:solidFill>
                  <a:schemeClr val="tx2"/>
                </a:solidFill>
              </a:rPr>
              <a:t>Needed for distance-based methods, PCA, clustering and penalised regression. In ML, fit the scaler on training data only.</a:t>
            </a:r>
            <a:endParaRPr lang="en-US" sz="1250" dirty="0"/>
          </a:p>
        </p:txBody>
      </p:sp>
      <p:sp>
        <p:nvSpPr>
          <p:cNvPr id="27" name="card"/>
          <p:cNvSpPr/>
          <p:nvPr/>
        </p:nvSpPr>
        <p:spPr>
          <a:xfrm>
            <a:off x="6245352" y="3520440"/>
            <a:ext cx="5486400" cy="1600200"/>
          </a:xfrm>
          <a:prstGeom prst="roundRect">
            <a:avLst>
              <a:gd name="adj" fmla="val 5714"/>
            </a:avLst>
          </a:prstGeom>
          <a:solidFill>
            <a:schemeClr val="bg2"/>
          </a:solidFill>
          <a:ln w="12700">
            <a:solidFill>
              <a:schemeClr val="bg2"/>
            </a:solidFill>
            <a:prstDash val="solid"/>
          </a:ln>
        </p:spPr>
      </p:sp>
      <p:sp>
        <p:nvSpPr>
          <p:cNvPr id="28" name="Text 25"/>
          <p:cNvSpPr txBox="1"/>
          <p:nvPr/>
        </p:nvSpPr>
        <p:spPr>
          <a:xfrm>
            <a:off x="6473952" y="3593592"/>
            <a:ext cx="5029200" cy="347472"/>
          </a:xfrm>
          <a:prstGeom prst="rect">
            <a:avLst/>
          </a:prstGeom>
          <a:noFill/>
          <a:ln/>
        </p:spPr>
        <p:txBody>
          <a:bodyPr wrap="square" lIns="0" tIns="0" rIns="0" bIns="0" rtlCol="0" anchor="ctr"/>
          <a:lstStyle/>
          <a:p>
            <a:pPr indent="0" marL="0">
              <a:buNone/>
            </a:pPr>
            <a:r>
              <a:rPr lang="en-US" sz="1600" b="1" dirty="0">
                <a:solidFill>
                  <a:schemeClr val="accent1"/>
                </a:solidFill>
              </a:rPr>
              <a:t>Transformation (log)</a:t>
            </a:r>
            <a:endParaRPr lang="en-US" sz="1600" dirty="0"/>
          </a:p>
        </p:txBody>
      </p:sp>
      <p:sp>
        <p:nvSpPr>
          <p:cNvPr id="29" name="Text 26"/>
          <p:cNvSpPr txBox="1"/>
          <p:nvPr/>
        </p:nvSpPr>
        <p:spPr>
          <a:xfrm>
            <a:off x="6473952" y="3959352"/>
            <a:ext cx="5029200" cy="1115568"/>
          </a:xfrm>
          <a:prstGeom prst="rect">
            <a:avLst/>
          </a:prstGeom>
          <a:noFill/>
          <a:ln/>
        </p:spPr>
        <p:txBody>
          <a:bodyPr wrap="square" lIns="0" tIns="0" rIns="0" bIns="0" rtlCol="0" anchor="t"/>
          <a:lstStyle/>
          <a:p>
            <a:pPr indent="0" marL="0">
              <a:buNone/>
            </a:pPr>
            <a:r>
              <a:rPr lang="en-US" sz="1250" dirty="0">
                <a:solidFill>
                  <a:schemeClr val="tx1"/>
                </a:solidFill>
              </a:rPr>
              <a:t>Changes the shape. Justify it by the analysis: multiplicative effects, a model assumption, or ratios as the quantity of interest.</a:t>
            </a:r>
            <a:endParaRPr lang="en-US" sz="1250" dirty="0"/>
          </a:p>
          <a:p>
            <a:pPr indent="0" marL="0">
              <a:buNone/>
            </a:pPr>
            <a:r>
              <a:rPr lang="en-US" sz="1250" dirty="0">
                <a:solidFill>
                  <a:schemeClr val="tx2"/>
                </a:solidFill>
              </a:rPr>
              <a:t>Interpretation changes: on the log scale, differences become ratios on the original scale.</a:t>
            </a:r>
            <a:endParaRPr lang="en-US" sz="1250" dirty="0"/>
          </a:p>
        </p:txBody>
      </p:sp>
      <p:sp>
        <p:nvSpPr>
          <p:cNvPr id="30" name="Python code panel"/>
          <p:cNvSpPr/>
          <p:nvPr/>
        </p:nvSpPr>
        <p:spPr>
          <a:xfrm>
            <a:off x="457200" y="5257800"/>
            <a:ext cx="7315200" cy="685800"/>
          </a:xfrm>
          <a:prstGeom prst="roundRect">
            <a:avLst>
              <a:gd name="adj" fmla="val 10667"/>
            </a:avLst>
          </a:prstGeom>
          <a:solidFill>
            <a:schemeClr val="bg2"/>
          </a:solidFill>
          <a:ln w="12700">
            <a:solidFill>
              <a:schemeClr val="bg2"/>
            </a:solidFill>
            <a:prstDash val="solid"/>
          </a:ln>
        </p:spPr>
      </p:sp>
      <p:sp>
        <p:nvSpPr>
          <p:cNvPr id="31" name="Python label"/>
          <p:cNvSpPr txBox="1"/>
          <p:nvPr/>
        </p:nvSpPr>
        <p:spPr>
          <a:xfrm>
            <a:off x="594360" y="533095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32" name="Python code"/>
          <p:cNvSpPr txBox="1"/>
          <p:nvPr/>
        </p:nvSpPr>
        <p:spPr>
          <a:xfrm>
            <a:off x="594360" y="5568696"/>
            <a:ext cx="7040880" cy="301752"/>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z = StandardScaler().fit_transform(base[["crp"]]); log_crp = np.log(base["crp"])</a:t>
            </a:r>
            <a:endParaRPr lang="en-US" sz="1100" dirty="0"/>
          </a:p>
        </p:txBody>
      </p:sp>
      <p:sp>
        <p:nvSpPr>
          <p:cNvPr id="33" name="Text 30"/>
          <p:cNvSpPr txBox="1"/>
          <p:nvPr/>
        </p:nvSpPr>
        <p:spPr>
          <a:xfrm>
            <a:off x="8046720" y="5257800"/>
            <a:ext cx="3685032" cy="685800"/>
          </a:xfrm>
          <a:prstGeom prst="rect">
            <a:avLst/>
          </a:prstGeom>
          <a:noFill/>
          <a:ln/>
        </p:spPr>
        <p:txBody>
          <a:bodyPr wrap="square" lIns="0" tIns="0" rIns="0" bIns="0" rtlCol="0" anchor="ctr"/>
          <a:lstStyle/>
          <a:p>
            <a:pPr indent="0" marL="0">
              <a:buNone/>
            </a:pPr>
            <a:r>
              <a:rPr lang="en-US" sz="1300" b="1" dirty="0">
                <a:solidFill>
                  <a:schemeClr val="tx1"/>
                </a:solidFill>
              </a:rPr>
              <a:t>Keep descriptive summaries in interpretable units (mg/L, mmHg).</a:t>
            </a:r>
            <a:endParaRPr lang="en-US" sz="13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After exploration: two paths</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652081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269855" y="6291072"/>
            <a:ext cx="182880" cy="182880"/>
          </a:xfrm>
          <a:prstGeom prst="ellipse">
            <a:avLst/>
          </a:prstGeom>
          <a:solidFill>
            <a:schemeClr val="accent1"/>
          </a:solidFill>
          <a:ln w="12700">
            <a:solidFill>
              <a:schemeClr val="accent1"/>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828800"/>
                <a:gridCol w="4722876"/>
                <a:gridCol w="4722876"/>
              </a:tblGrid>
              <a:tr h="548640">
                <a:tc>
                  <a:txBody>
                    <a:bodyPr/>
                    <a:lstStyle/>
                    <a:p>
                      <a:pPr indent="0" marL="0">
                        <a:buNone/>
                      </a:pP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7A  Statistical inference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7B  Predictive modelling</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548640">
                <a:tc>
                  <a:txBody>
                    <a:bodyPr/>
                    <a:lstStyle/>
                    <a:p>
                      <a:pPr indent="0" marL="0">
                        <a:buNone/>
                      </a:pPr>
                      <a:r>
                        <a:rPr lang="en-US" sz="1400" b="1" dirty="0">
                          <a:solidFill>
                            <a:schemeClr val="tx1"/>
                          </a:solidFill>
                        </a:rPr>
                        <a:t>Goal</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Estimate an association or effect, with uncertainty</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Predict the outcome for new patients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400" b="1" dirty="0">
                          <a:solidFill>
                            <a:schemeClr val="tx1"/>
                          </a:solidFill>
                        </a:rPr>
                        <a:t>Example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How much higher is SBP with diabetes, adjusted for age?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Which clinic patients are likely to have diabetes?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400" b="1" dirty="0">
                          <a:solidFill>
                            <a:schemeClr val="tx1"/>
                          </a:solidFill>
                        </a:rPr>
                        <a:t>Unit and split</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One row per patient, or a model for repeated visits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Split by patient (and by time or site) before any learned step</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400" b="1" dirty="0">
                          <a:solidFill>
                            <a:schemeClr val="tx1"/>
                          </a:solidFill>
                        </a:rPr>
                        <a:t>Missing data</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Complete case if justified; multiple imputation with pooling</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Imputation fitted within training folds; indicators allowed</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400" b="1" dirty="0">
                          <a:solidFill>
                            <a:schemeClr val="tx1"/>
                          </a:solidFill>
                        </a:rPr>
                        <a:t>Preprocessing</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Interpretable units; pre-specified covariates; justified transformations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Encoding, scaling and selection inside a pipeline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400" b="1" dirty="0">
                          <a:solidFill>
                            <a:schemeClr val="tx1"/>
                          </a:solidFill>
                        </a:rPr>
                        <a:t>Checks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Assumptions (residuals), sensitivity analyses</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Grouped cross-validation; temporal or external validation</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400" b="1" dirty="0">
                          <a:solidFill>
                            <a:schemeClr val="tx1"/>
                          </a:solidFill>
                        </a:rPr>
                        <a:t>Output</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Effect estimate, 95% CI, p-value</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chemeClr val="tx1"/>
                          </a:solidFill>
                        </a:rPr>
                        <a:t>Discrimination (AUC) and calibration</a:t>
                      </a:r>
                      <a:endParaRPr lang="en-US" sz="14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4" name="Text 21"/>
          <p:cNvSpPr txBox="1"/>
          <p:nvPr/>
        </p:nvSpPr>
        <p:spPr>
          <a:xfrm>
            <a:off x="457200" y="5669280"/>
            <a:ext cx="11274552" cy="365760"/>
          </a:xfrm>
          <a:prstGeom prst="rect">
            <a:avLst/>
          </a:prstGeom>
          <a:noFill/>
          <a:ln/>
        </p:spPr>
        <p:txBody>
          <a:bodyPr wrap="square" lIns="0" tIns="0" rIns="0" bIns="0" rtlCol="0" anchor="ctr"/>
          <a:lstStyle/>
          <a:p>
            <a:pPr indent="0" marL="0">
              <a:buNone/>
            </a:pPr>
            <a:r>
              <a:rPr lang="en-US" sz="1400" i="1" dirty="0">
                <a:solidFill>
                  <a:schemeClr val="accent1"/>
                </a:solidFill>
              </a:rPr>
              <a:t>EDA informs both: which variables matter, likely confounders, needed transformations and how missingness should be handled.</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7A  Choosing a test: outcome type and design</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652081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269855" y="6291072"/>
            <a:ext cx="182880" cy="182880"/>
          </a:xfrm>
          <a:prstGeom prst="ellipse">
            <a:avLst/>
          </a:prstGeom>
          <a:solidFill>
            <a:schemeClr val="accent1"/>
          </a:solidFill>
          <a:ln w="12700">
            <a:solidFill>
              <a:schemeClr val="accent1"/>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498080" cy="914400"/>
        </p:xfrm>
        <a:graphic>
          <a:graphicData uri="http://schemas.openxmlformats.org/drawingml/2006/table">
            <a:tbl>
              <a:tblPr/>
              <a:tblGrid>
                <a:gridCol w="1645920"/>
                <a:gridCol w="1143000"/>
                <a:gridCol w="2240280"/>
                <a:gridCol w="2468880"/>
              </a:tblGrid>
              <a:tr h="530352">
                <a:tc>
                  <a:txBody>
                    <a:bodyPr/>
                    <a:lstStyle/>
                    <a:p>
                      <a:pPr indent="0" marL="0">
                        <a:buNone/>
                      </a:pPr>
                      <a:r>
                        <a:rPr lang="en-US" sz="1200" b="1" dirty="0">
                          <a:solidFill>
                            <a:schemeClr val="bg1"/>
                          </a:solidFill>
                        </a:rPr>
                        <a:t>Continuous outcome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Design</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Approximately normal*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Skewed or ordinal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530352">
                <a:tc>
                  <a:txBody>
                    <a:bodyPr/>
                    <a:lstStyle/>
                    <a:p>
                      <a:pPr indent="0" marL="0">
                        <a:buNone/>
                      </a:pPr>
                      <a:r>
                        <a:rPr lang="en-US" sz="1200" dirty="0">
                          <a:solidFill>
                            <a:schemeClr val="tx1"/>
                          </a:solidFill>
                        </a:rPr>
                        <a:t>1 group vs a reference value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Single sample</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One-sample t-test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Wilcoxon signed-rank (assumes symmetry); sign test (median, no symmetry)</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30352">
                <a:tc rowSpan="2">
                  <a:txBody>
                    <a:bodyPr/>
                    <a:lstStyle/>
                    <a:p>
                      <a:pPr indent="0" marL="0">
                        <a:buNone/>
                      </a:pPr>
                      <a:r>
                        <a:rPr lang="en-US" sz="1200" dirty="0">
                          <a:solidFill>
                            <a:schemeClr val="tx1"/>
                          </a:solidFill>
                        </a:rPr>
                        <a:t>2 groups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Paired</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Paired t-test on differences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Wilcoxon signed-rank on differences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30352">
                <a:tc vMerge="1">
                  <a:tcPr/>
                </a:tc>
                <a:tc>
                  <a:txBody>
                    <a:bodyPr/>
                    <a:lstStyle/>
                    <a:p>
                      <a:pPr indent="0" marL="0">
                        <a:buNone/>
                      </a:pPr>
                      <a:r>
                        <a:rPr lang="en-US" sz="1200" dirty="0">
                          <a:solidFill>
                            <a:schemeClr val="tx1"/>
                          </a:solidFill>
                        </a:rPr>
                        <a:t>Independent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Welch t-test (Student's if equal variances)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Mann-Whitney U †</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30352">
                <a:tc rowSpan="2">
                  <a:txBody>
                    <a:bodyPr/>
                    <a:lstStyle/>
                    <a:p>
                      <a:pPr indent="0" marL="0">
                        <a:buNone/>
                      </a:pPr>
                      <a:r>
                        <a:rPr lang="en-US" sz="1200" dirty="0">
                          <a:solidFill>
                            <a:schemeClr val="tx1"/>
                          </a:solidFill>
                        </a:rPr>
                        <a:t>3 or more groups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Repeated</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Repeated-measures ANOVA or mixed model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Friedman test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30352">
                <a:tc vMerge="1">
                  <a:tcPr/>
                </a:tc>
                <a:tc>
                  <a:txBody>
                    <a:bodyPr/>
                    <a:lstStyle/>
                    <a:p>
                      <a:pPr indent="0" marL="0">
                        <a:buNone/>
                      </a:pPr>
                      <a:r>
                        <a:rPr lang="en-US" sz="1200" dirty="0">
                          <a:solidFill>
                            <a:schemeClr val="tx1"/>
                          </a:solidFill>
                        </a:rPr>
                        <a:t>Independent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One-way ANOVA (Welch ANOVA)</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Kruskal-Wallis test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8183880" y="1188720"/>
          <a:ext cx="3547872" cy="914400"/>
        </p:xfrm>
        <a:graphic>
          <a:graphicData uri="http://schemas.openxmlformats.org/drawingml/2006/table">
            <a:tbl>
              <a:tblPr/>
              <a:tblGrid>
                <a:gridCol w="1463040"/>
                <a:gridCol w="2084832"/>
              </a:tblGrid>
              <a:tr h="640080">
                <a:tc>
                  <a:txBody>
                    <a:bodyPr/>
                    <a:lstStyle/>
                    <a:p>
                      <a:pPr indent="0" marL="0">
                        <a:buNone/>
                      </a:pPr>
                      <a:r>
                        <a:rPr lang="en-US" sz="1200" b="1" dirty="0">
                          <a:solidFill>
                            <a:schemeClr val="bg1"/>
                          </a:solidFill>
                        </a:rPr>
                        <a:t>Categorical counts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Test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640080">
                <a:tc>
                  <a:txBody>
                    <a:bodyPr/>
                    <a:lstStyle/>
                    <a:p>
                      <a:pPr indent="0" marL="0">
                        <a:buNone/>
                      </a:pPr>
                      <a:r>
                        <a:rPr lang="en-US" sz="1200" dirty="0">
                          <a:solidFill>
                            <a:schemeClr val="tx1"/>
                          </a:solidFill>
                        </a:rPr>
                        <a:t>1 variable vs expected proportions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Chi-square goodness-of-fit (exact test if counts are small)</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40080">
                <a:tc>
                  <a:txBody>
                    <a:bodyPr/>
                    <a:lstStyle/>
                    <a:p>
                      <a:pPr indent="0" marL="0">
                        <a:buNone/>
                      </a:pPr>
                      <a:r>
                        <a:rPr lang="en-US" sz="1200" dirty="0">
                          <a:solidFill>
                            <a:schemeClr val="tx1"/>
                          </a:solidFill>
                        </a:rPr>
                        <a:t>2 or more independent groups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Chi-square test of independence; Fisher's exact for small expected counts</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40080">
                <a:tc>
                  <a:txBody>
                    <a:bodyPr/>
                    <a:lstStyle/>
                    <a:p>
                      <a:pPr indent="0" marL="0">
                        <a:buNone/>
                      </a:pPr>
                      <a:r>
                        <a:rPr lang="en-US" sz="1200" dirty="0">
                          <a:solidFill>
                            <a:schemeClr val="tx1"/>
                          </a:solidFill>
                        </a:rPr>
                        <a:t>Paired binary (before / after)</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00" dirty="0">
                          <a:solidFill>
                            <a:schemeClr val="tx1"/>
                          </a:solidFill>
                        </a:rPr>
                        <a:t>McNemar test</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Text 21"/>
          <p:cNvSpPr txBox="1"/>
          <p:nvPr/>
        </p:nvSpPr>
        <p:spPr>
          <a:xfrm>
            <a:off x="457200" y="4572000"/>
            <a:ext cx="11274552" cy="1325880"/>
          </a:xfrm>
          <a:prstGeom prst="rect">
            <a:avLst/>
          </a:prstGeom>
          <a:noFill/>
          <a:ln/>
        </p:spPr>
        <p:txBody>
          <a:bodyPr wrap="square" lIns="0" tIns="0" rIns="0" bIns="0" rtlCol="0" anchor="t"/>
          <a:lstStyle/>
          <a:p>
            <a:pPr indent="0" marL="0">
              <a:buNone/>
            </a:pPr>
            <a:r>
              <a:rPr lang="en-US" sz="1300" b="1" dirty="0">
                <a:solidFill>
                  <a:schemeClr val="tx1"/>
                </a:solidFill>
              </a:rPr>
              <a:t>* </a:t>
            </a:r>
            <a:pPr indent="0" marL="0">
              <a:buNone/>
            </a:pPr>
            <a:r>
              <a:rPr lang="en-US" sz="1300" dirty="0">
                <a:solidFill>
                  <a:schemeClr val="tx1"/>
                </a:solidFill>
              </a:rPr>
              <a:t>Assessed in the quantity the test models (each group, the differences, or residuals); large groups are robust to moderate skew.</a:t>
            </a:r>
            <a:endParaRPr lang="en-US" sz="1300" dirty="0"/>
          </a:p>
          <a:p>
            <a:pPr indent="0" marL="0">
              <a:buNone/>
            </a:pPr>
            <a:r>
              <a:rPr lang="en-US" sz="1300" b="1" dirty="0">
                <a:solidFill>
                  <a:schemeClr val="tx1"/>
                </a:solidFill>
              </a:rPr>
              <a:t>† </a:t>
            </a:r>
            <a:pPr indent="0" marL="0">
              <a:buNone/>
            </a:pPr>
            <a:r>
              <a:rPr lang="en-US" sz="1300" dirty="0">
                <a:solidFill>
                  <a:schemeClr val="tx1"/>
                </a:solidFill>
              </a:rPr>
              <a:t>Mann-Whitney tests whether values in one group tend to be larger than in the other. It compares medians only if the two distributions have the same shape.</a:t>
            </a:r>
            <a:endParaRPr lang="en-US" sz="1300" dirty="0"/>
          </a:p>
          <a:p>
            <a:pPr indent="0" marL="0">
              <a:buNone/>
            </a:pPr>
            <a:r>
              <a:rPr lang="en-US" sz="1300" b="1" dirty="0">
                <a:solidFill>
                  <a:schemeClr val="accent1"/>
                </a:solidFill>
              </a:rPr>
              <a:t>Tests answer different questions: means, distributions or proportions. Each p-value is reported with an effect estimate.</a:t>
            </a:r>
            <a:endParaRPr lang="en-US" sz="13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7A  Report the effect and its uncertainty</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652081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269855" y="6291072"/>
            <a:ext cx="182880" cy="182880"/>
          </a:xfrm>
          <a:prstGeom prst="ellipse">
            <a:avLst/>
          </a:prstGeom>
          <a:solidFill>
            <a:schemeClr val="accent1"/>
          </a:solidFill>
          <a:ln w="12700">
            <a:solidFill>
              <a:schemeClr val="accent1"/>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pic>
        <p:nvPicPr>
          <p:cNvPr id="23" name="Unadjusted and age-adjusted difference in systolic BP" descr="Unadjusted and age-adjusted difference in systolic BP">    </p:cNvPr>
          <p:cNvPicPr>
            <a:picLocks noChangeAspect="1"/>
          </p:cNvPicPr>
          <p:nvPr/>
        </p:nvPicPr>
        <p:blipFill>
          <a:blip r:embed="rId1"/>
          <a:stretch>
            <a:fillRect/>
          </a:stretch>
        </p:blipFill>
        <p:spPr>
          <a:xfrm>
            <a:off x="457200" y="1225132"/>
            <a:ext cx="6035040" cy="2441775"/>
          </a:xfrm>
          <a:prstGeom prst="rect">
            <a:avLst/>
          </a:prstGeom>
        </p:spPr>
      </p:pic>
      <p:sp>
        <p:nvSpPr>
          <p:cNvPr id="24" name="card"/>
          <p:cNvSpPr/>
          <p:nvPr/>
        </p:nvSpPr>
        <p:spPr>
          <a:xfrm>
            <a:off x="457200" y="3886200"/>
            <a:ext cx="6035040" cy="1143000"/>
          </a:xfrm>
          <a:prstGeom prst="roundRect">
            <a:avLst>
              <a:gd name="adj" fmla="val 8000"/>
            </a:avLst>
          </a:prstGeom>
          <a:solidFill>
            <a:schemeClr val="accent4"/>
          </a:solidFill>
          <a:ln w="12700">
            <a:solidFill>
              <a:schemeClr val="accent4"/>
            </a:solidFill>
            <a:prstDash val="solid"/>
          </a:ln>
        </p:spPr>
      </p:sp>
      <p:sp>
        <p:nvSpPr>
          <p:cNvPr id="25" name="Text 22"/>
          <p:cNvSpPr txBox="1"/>
          <p:nvPr/>
        </p:nvSpPr>
        <p:spPr>
          <a:xfrm>
            <a:off x="685800" y="3886200"/>
            <a:ext cx="5577840" cy="1143000"/>
          </a:xfrm>
          <a:prstGeom prst="rect">
            <a:avLst/>
          </a:prstGeom>
          <a:noFill/>
          <a:ln/>
        </p:spPr>
        <p:txBody>
          <a:bodyPr wrap="square" lIns="0" tIns="0" rIns="0" bIns="0" rtlCol="0" anchor="ctr"/>
          <a:lstStyle/>
          <a:p>
            <a:pPr indent="0" marL="0">
              <a:buNone/>
            </a:pPr>
            <a:r>
              <a:rPr lang="en-US" sz="1400" b="1" dirty="0">
                <a:solidFill>
                  <a:schemeClr val="accent1"/>
                </a:solidFill>
              </a:rPr>
              <a:t>Report: </a:t>
            </a:r>
            <a:pPr indent="0" marL="0">
              <a:buNone/>
            </a:pPr>
            <a:r>
              <a:rPr lang="en-US" sz="1400" i="1" dirty="0">
                <a:solidFill>
                  <a:schemeClr val="tx1"/>
                </a:solidFill>
              </a:rPr>
              <a:t>Mean systolic BP was 11.6 mmHg higher in patients with diabetes (95% CI 7.7 to 15.6; p &lt; 0.001).</a:t>
            </a:r>
            <a:endParaRPr lang="en-US" sz="1400" dirty="0"/>
          </a:p>
        </p:txBody>
      </p:sp>
      <p:sp>
        <p:nvSpPr>
          <p:cNvPr id="26" name="Text 23"/>
          <p:cNvSpPr txBox="1"/>
          <p:nvPr/>
        </p:nvSpPr>
        <p:spPr>
          <a:xfrm>
            <a:off x="457200" y="5166360"/>
            <a:ext cx="6035040" cy="731520"/>
          </a:xfrm>
          <a:prstGeom prst="rect">
            <a:avLst/>
          </a:prstGeom>
          <a:noFill/>
          <a:ln/>
        </p:spPr>
        <p:txBody>
          <a:bodyPr wrap="square" lIns="0" tIns="0" rIns="0" bIns="0" rtlCol="0" anchor="t"/>
          <a:lstStyle/>
          <a:p>
            <a:pPr indent="0" marL="0">
              <a:buNone/>
            </a:pPr>
            <a:r>
              <a:rPr lang="en-US" sz="1400" dirty="0">
                <a:solidFill>
                  <a:schemeClr val="tx1"/>
                </a:solidFill>
              </a:rPr>
              <a:t>A p-value does not measure the size or the clinical importance of an effect. Compare the confidence interval with a difference that matters clinically.</a:t>
            </a:r>
            <a:endParaRPr lang="en-US" sz="1400" dirty="0"/>
          </a:p>
        </p:txBody>
      </p:sp>
      <p:sp>
        <p:nvSpPr>
          <p:cNvPr id="27" name="Python code panel"/>
          <p:cNvSpPr/>
          <p:nvPr/>
        </p:nvSpPr>
        <p:spPr>
          <a:xfrm>
            <a:off x="6766560" y="1188720"/>
            <a:ext cx="4965192" cy="2240280"/>
          </a:xfrm>
          <a:prstGeom prst="roundRect">
            <a:avLst>
              <a:gd name="adj" fmla="val 3265"/>
            </a:avLst>
          </a:prstGeom>
          <a:solidFill>
            <a:schemeClr val="bg2"/>
          </a:solidFill>
          <a:ln w="12700">
            <a:solidFill>
              <a:schemeClr val="bg2"/>
            </a:solidFill>
            <a:prstDash val="solid"/>
          </a:ln>
        </p:spPr>
      </p:sp>
      <p:sp>
        <p:nvSpPr>
          <p:cNvPr id="28" name="Python label"/>
          <p:cNvSpPr txBox="1"/>
          <p:nvPr/>
        </p:nvSpPr>
        <p:spPr>
          <a:xfrm>
            <a:off x="6903720" y="126187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a:t>
            </a:r>
            <a:endParaRPr lang="en-US" sz="1000" dirty="0"/>
          </a:p>
        </p:txBody>
      </p:sp>
      <p:sp>
        <p:nvSpPr>
          <p:cNvPr id="29" name="Python code"/>
          <p:cNvSpPr txBox="1"/>
          <p:nvPr/>
        </p:nvSpPr>
        <p:spPr>
          <a:xfrm>
            <a:off x="6903720" y="1499616"/>
            <a:ext cx="4690872" cy="1856232"/>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yes = base.loc[base.diabetes == 1, "systolic_bp"].dropna()</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no  = base.loc[base.diabetes == 0, "systolic_bp"].dropna()</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res = stats.ttest_ind(yes, no, equal_var=False)  # Welch</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diff = yes.mean() - no.mean()</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ci = res.confidence_interval(0.95)</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print(f"{diff:.1f} ({ci.low:.1f} to {ci.high:.1f})")</a:t>
            </a:r>
            <a:endParaRPr lang="en-US" sz="1000" dirty="0"/>
          </a:p>
        </p:txBody>
      </p:sp>
      <p:sp>
        <p:nvSpPr>
          <p:cNvPr id="30" name="R code panel"/>
          <p:cNvSpPr/>
          <p:nvPr/>
        </p:nvSpPr>
        <p:spPr>
          <a:xfrm>
            <a:off x="6766560" y="3611880"/>
            <a:ext cx="4965192" cy="1097280"/>
          </a:xfrm>
          <a:prstGeom prst="roundRect">
            <a:avLst>
              <a:gd name="adj" fmla="val 6667"/>
            </a:avLst>
          </a:prstGeom>
          <a:solidFill>
            <a:schemeClr val="bg2"/>
          </a:solidFill>
          <a:ln w="12700">
            <a:solidFill>
              <a:schemeClr val="bg2"/>
            </a:solidFill>
            <a:prstDash val="solid"/>
          </a:ln>
        </p:spPr>
      </p:sp>
      <p:sp>
        <p:nvSpPr>
          <p:cNvPr id="31" name="R label"/>
          <p:cNvSpPr txBox="1"/>
          <p:nvPr/>
        </p:nvSpPr>
        <p:spPr>
          <a:xfrm>
            <a:off x="6903720" y="368503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a:t>
            </a:r>
            <a:endParaRPr lang="en-US" sz="1000" dirty="0"/>
          </a:p>
        </p:txBody>
      </p:sp>
      <p:sp>
        <p:nvSpPr>
          <p:cNvPr id="32" name="R code"/>
          <p:cNvSpPr txBox="1"/>
          <p:nvPr/>
        </p:nvSpPr>
        <p:spPr>
          <a:xfrm>
            <a:off x="6903720" y="3922776"/>
            <a:ext cx="4690872" cy="713232"/>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t.test(systolic_bp ~ diabetes, data = base)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Welch by default; difference is group 0 minus 1</a:t>
            </a:r>
            <a:endParaRPr lang="en-US" sz="1150" dirty="0"/>
          </a:p>
        </p:txBody>
      </p:sp>
      <p:sp>
        <p:nvSpPr>
          <p:cNvPr id="33" name="Text 30"/>
          <p:cNvSpPr txBox="1"/>
          <p:nvPr/>
        </p:nvSpPr>
        <p:spPr>
          <a:xfrm>
            <a:off x="6766560" y="4892040"/>
            <a:ext cx="4965192" cy="274320"/>
          </a:xfrm>
          <a:prstGeom prst="rect">
            <a:avLst/>
          </a:prstGeom>
          <a:noFill/>
          <a:ln/>
        </p:spPr>
        <p:txBody>
          <a:bodyPr wrap="square" lIns="0" tIns="0" rIns="0" bIns="0" rtlCol="0" anchor="ctr"/>
          <a:lstStyle/>
          <a:p>
            <a:pPr indent="0" marL="0">
              <a:buNone/>
            </a:pPr>
            <a:r>
              <a:rPr lang="en-US" sz="13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ASA statement on p-values</a:t>
            </a:r>
            <a:endParaRPr lang="en-US" sz="13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7A  Multiple comparisons and confounding</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652081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269855" y="6291072"/>
            <a:ext cx="182880" cy="182880"/>
          </a:xfrm>
          <a:prstGeom prst="ellipse">
            <a:avLst/>
          </a:prstGeom>
          <a:solidFill>
            <a:schemeClr val="accent1"/>
          </a:solidFill>
          <a:ln w="12700">
            <a:solidFill>
              <a:schemeClr val="accent1"/>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card"/>
          <p:cNvSpPr/>
          <p:nvPr/>
        </p:nvSpPr>
        <p:spPr>
          <a:xfrm>
            <a:off x="457200" y="1188720"/>
            <a:ext cx="5486400" cy="4709160"/>
          </a:xfrm>
          <a:prstGeom prst="roundRect">
            <a:avLst>
              <a:gd name="adj" fmla="val 1942"/>
            </a:avLst>
          </a:prstGeom>
          <a:solidFill>
            <a:schemeClr val="bg2"/>
          </a:solidFill>
          <a:ln w="12700">
            <a:solidFill>
              <a:schemeClr val="bg2"/>
            </a:solidFill>
            <a:prstDash val="solid"/>
          </a:ln>
        </p:spPr>
      </p:sp>
      <p:sp>
        <p:nvSpPr>
          <p:cNvPr id="24" name="Text 22"/>
          <p:cNvSpPr txBox="1"/>
          <p:nvPr/>
        </p:nvSpPr>
        <p:spPr>
          <a:xfrm>
            <a:off x="685800" y="1280160"/>
            <a:ext cx="5029200" cy="365760"/>
          </a:xfrm>
          <a:prstGeom prst="rect">
            <a:avLst/>
          </a:prstGeom>
          <a:noFill/>
          <a:ln/>
        </p:spPr>
        <p:txBody>
          <a:bodyPr wrap="square" lIns="0" tIns="0" rIns="0" bIns="0" rtlCol="0" anchor="ctr"/>
          <a:lstStyle/>
          <a:p>
            <a:pPr indent="0" marL="0">
              <a:buNone/>
            </a:pPr>
            <a:r>
              <a:rPr lang="en-US" sz="1700" b="1" dirty="0">
                <a:solidFill>
                  <a:schemeClr val="tx1"/>
                </a:solidFill>
              </a:rPr>
              <a:t>Testing many biomarkers</a:t>
            </a:r>
            <a:endParaRPr lang="en-US" sz="1700" dirty="0"/>
          </a:p>
        </p:txBody>
      </p:sp>
      <p:sp>
        <p:nvSpPr>
          <p:cNvPr id="25" name="Text 23"/>
          <p:cNvSpPr txBox="1"/>
          <p:nvPr/>
        </p:nvSpPr>
        <p:spPr>
          <a:xfrm>
            <a:off x="685800" y="1691640"/>
            <a:ext cx="1920240" cy="868680"/>
          </a:xfrm>
          <a:prstGeom prst="rect">
            <a:avLst/>
          </a:prstGeom>
          <a:noFill/>
          <a:ln/>
        </p:spPr>
        <p:txBody>
          <a:bodyPr wrap="square" lIns="0" tIns="0" rIns="0" bIns="0" rtlCol="0" anchor="ctr"/>
          <a:lstStyle/>
          <a:p>
            <a:pPr indent="0" marL="0">
              <a:buNone/>
            </a:pPr>
            <a:r>
              <a:rPr lang="en-US" sz="5400" b="1" dirty="0">
                <a:solidFill>
                  <a:schemeClr val="accent1"/>
                </a:solidFill>
              </a:rPr>
              <a:t>40%</a:t>
            </a:r>
            <a:endParaRPr lang="en-US" sz="5400" dirty="0"/>
          </a:p>
        </p:txBody>
      </p:sp>
      <p:sp>
        <p:nvSpPr>
          <p:cNvPr id="26" name="Text 24"/>
          <p:cNvSpPr txBox="1"/>
          <p:nvPr/>
        </p:nvSpPr>
        <p:spPr>
          <a:xfrm>
            <a:off x="2606040" y="1737360"/>
            <a:ext cx="3154680" cy="868680"/>
          </a:xfrm>
          <a:prstGeom prst="rect">
            <a:avLst/>
          </a:prstGeom>
          <a:noFill/>
          <a:ln/>
        </p:spPr>
        <p:txBody>
          <a:bodyPr wrap="square" lIns="0" tIns="0" rIns="0" bIns="0" rtlCol="0" anchor="ctr"/>
          <a:lstStyle/>
          <a:p>
            <a:pPr indent="0" marL="0">
              <a:buNone/>
            </a:pPr>
            <a:r>
              <a:rPr lang="en-US" sz="1250" dirty="0">
                <a:solidFill>
                  <a:schemeClr val="tx2"/>
                </a:solidFill>
              </a:rPr>
              <a:t>chance of at least one false positive when 10 independent tests of true null hypotheses are run at α = 0.05</a:t>
            </a:r>
            <a:endParaRPr lang="en-US" sz="1250" dirty="0"/>
          </a:p>
        </p:txBody>
      </p:sp>
      <p:sp>
        <p:nvSpPr>
          <p:cNvPr id="27" name="Text 25"/>
          <p:cNvSpPr txBox="1"/>
          <p:nvPr/>
        </p:nvSpPr>
        <p:spPr>
          <a:xfrm>
            <a:off x="685800" y="2743200"/>
            <a:ext cx="5029200" cy="1645920"/>
          </a:xfrm>
          <a:prstGeom prst="rect">
            <a:avLst/>
          </a:prstGeom>
          <a:noFill/>
          <a:ln/>
        </p:spPr>
        <p:txBody>
          <a:bodyPr wrap="square" lIns="0" tIns="0" rIns="0" bIns="0" rtlCol="0" anchor="t"/>
          <a:lstStyle/>
          <a:p>
            <a:pPr marL="190500" indent="-190500">
              <a:spcAft>
                <a:spcPts val="400"/>
              </a:spcAft>
              <a:buSzPct val="100000"/>
              <a:buChar char="•"/>
            </a:pPr>
            <a:r>
              <a:rPr lang="en-US" sz="1400" b="1" dirty="0">
                <a:solidFill>
                  <a:schemeClr val="tx1"/>
                </a:solidFill>
              </a:rPr>
              <a:t>Pre-specify </a:t>
            </a:r>
            <a:pPr indent="0" marL="0">
              <a:buNone/>
            </a:pPr>
            <a:r>
              <a:rPr lang="en-US" sz="1400" dirty="0">
                <a:solidFill>
                  <a:schemeClr val="tx1"/>
                </a:solidFill>
              </a:rPr>
              <a:t>one primary outcome and comparison.</a:t>
            </a:r>
            <a:endParaRPr lang="en-US" sz="1400" dirty="0"/>
          </a:p>
          <a:p>
            <a:pPr marL="190500" indent="-190500">
              <a:spcAft>
                <a:spcPts val="400"/>
              </a:spcAft>
              <a:buSzPct val="100000"/>
              <a:buChar char="•"/>
            </a:pPr>
            <a:r>
              <a:rPr lang="en-US" sz="1400" b="1" dirty="0">
                <a:solidFill>
                  <a:schemeClr val="tx1"/>
                </a:solidFill>
              </a:rPr>
              <a:t>Adjust for the number of tests: </a:t>
            </a:r>
            <a:pPr indent="0" marL="0">
              <a:buNone/>
            </a:pPr>
            <a:r>
              <a:rPr lang="en-US" sz="1400" dirty="0">
                <a:solidFill>
                  <a:schemeClr val="tx1"/>
                </a:solidFill>
              </a:rPr>
              <a:t>Holm (family-wise error) or Benjamini-Hochberg (false discovery rate).</a:t>
            </a:r>
            <a:endParaRPr lang="en-US" sz="1400" dirty="0"/>
          </a:p>
          <a:p>
            <a:pPr marL="190500" indent="-190500">
              <a:spcAft>
                <a:spcPts val="400"/>
              </a:spcAft>
              <a:buSzPct val="100000"/>
              <a:buChar char="•"/>
            </a:pPr>
            <a:r>
              <a:rPr lang="en-US" sz="1400" b="1" dirty="0">
                <a:solidFill>
                  <a:schemeClr val="tx1"/>
                </a:solidFill>
              </a:rPr>
              <a:t>Report every test performed, </a:t>
            </a:r>
            <a:pPr indent="0" marL="0">
              <a:buNone/>
            </a:pPr>
            <a:r>
              <a:rPr lang="en-US" sz="1400" dirty="0">
                <a:solidFill>
                  <a:schemeClr val="tx1"/>
                </a:solidFill>
              </a:rPr>
              <a:t>not only the significant ones.</a:t>
            </a:r>
            <a:endParaRPr lang="en-US" sz="1400" dirty="0"/>
          </a:p>
        </p:txBody>
      </p:sp>
      <p:sp>
        <p:nvSpPr>
          <p:cNvPr id="28" name="Python  /  R code panel"/>
          <p:cNvSpPr/>
          <p:nvPr/>
        </p:nvSpPr>
        <p:spPr>
          <a:xfrm>
            <a:off x="685800" y="4434840"/>
            <a:ext cx="5029200" cy="1325880"/>
          </a:xfrm>
          <a:prstGeom prst="roundRect">
            <a:avLst>
              <a:gd name="adj" fmla="val 5517"/>
            </a:avLst>
          </a:prstGeom>
          <a:solidFill>
            <a:schemeClr val="bg2"/>
          </a:solidFill>
          <a:ln w="12700">
            <a:solidFill>
              <a:schemeClr val="bg2"/>
            </a:solidFill>
            <a:prstDash val="solid"/>
          </a:ln>
        </p:spPr>
      </p:sp>
      <p:sp>
        <p:nvSpPr>
          <p:cNvPr id="29" name="Python  /  R label"/>
          <p:cNvSpPr txBox="1"/>
          <p:nvPr/>
        </p:nvSpPr>
        <p:spPr>
          <a:xfrm>
            <a:off x="822960" y="45079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  /  R</a:t>
            </a:r>
            <a:endParaRPr lang="en-US" sz="1000" dirty="0"/>
          </a:p>
        </p:txBody>
      </p:sp>
      <p:sp>
        <p:nvSpPr>
          <p:cNvPr id="30" name="Python  /  R code"/>
          <p:cNvSpPr txBox="1"/>
          <p:nvPr/>
        </p:nvSpPr>
        <p:spPr>
          <a:xfrm>
            <a:off x="822960" y="4745736"/>
            <a:ext cx="4754880" cy="941832"/>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from statsmodels.stats.multitest import multipletests</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reject, p_adj, _, _ = multipletests(p, method="fdr_bh")</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p.adjust(p, method = "BH")                     # R</a:t>
            </a:r>
            <a:endParaRPr lang="en-US" sz="1050" dirty="0"/>
          </a:p>
        </p:txBody>
      </p:sp>
      <p:sp>
        <p:nvSpPr>
          <p:cNvPr id="31" name="card"/>
          <p:cNvSpPr/>
          <p:nvPr/>
        </p:nvSpPr>
        <p:spPr>
          <a:xfrm>
            <a:off x="6245352" y="1188720"/>
            <a:ext cx="5486400" cy="4709160"/>
          </a:xfrm>
          <a:prstGeom prst="roundRect">
            <a:avLst>
              <a:gd name="adj" fmla="val 1942"/>
            </a:avLst>
          </a:prstGeom>
          <a:solidFill>
            <a:schemeClr val="bg2"/>
          </a:solidFill>
          <a:ln w="12700">
            <a:solidFill>
              <a:schemeClr val="bg2"/>
            </a:solidFill>
            <a:prstDash val="solid"/>
          </a:ln>
        </p:spPr>
      </p:sp>
      <p:sp>
        <p:nvSpPr>
          <p:cNvPr id="32" name="Text 30"/>
          <p:cNvSpPr txBox="1"/>
          <p:nvPr/>
        </p:nvSpPr>
        <p:spPr>
          <a:xfrm>
            <a:off x="6473952" y="1280160"/>
            <a:ext cx="5029200" cy="365760"/>
          </a:xfrm>
          <a:prstGeom prst="rect">
            <a:avLst/>
          </a:prstGeom>
          <a:noFill/>
          <a:ln/>
        </p:spPr>
        <p:txBody>
          <a:bodyPr wrap="square" lIns="0" tIns="0" rIns="0" bIns="0" rtlCol="0" anchor="ctr"/>
          <a:lstStyle/>
          <a:p>
            <a:pPr indent="0" marL="0">
              <a:buNone/>
            </a:pPr>
            <a:r>
              <a:rPr lang="en-US" sz="1700" b="1" dirty="0">
                <a:solidFill>
                  <a:schemeClr val="tx1"/>
                </a:solidFill>
              </a:rPr>
              <a:t>Confounding by age</a:t>
            </a:r>
            <a:endParaRPr lang="en-US" sz="1700" dirty="0"/>
          </a:p>
        </p:txBody>
      </p:sp>
      <p:sp>
        <p:nvSpPr>
          <p:cNvPr id="33" name="Shape 31"/>
          <p:cNvSpPr/>
          <p:nvPr/>
        </p:nvSpPr>
        <p:spPr>
          <a:xfrm>
            <a:off x="8257032" y="1783080"/>
            <a:ext cx="1463040" cy="457200"/>
          </a:xfrm>
          <a:prstGeom prst="roundRect">
            <a:avLst>
              <a:gd name="adj" fmla="val 16000"/>
            </a:avLst>
          </a:prstGeom>
          <a:solidFill>
            <a:schemeClr val="accent5"/>
          </a:solidFill>
          <a:ln w="12700">
            <a:solidFill>
              <a:schemeClr val="accent5"/>
            </a:solidFill>
            <a:prstDash val="solid"/>
          </a:ln>
        </p:spPr>
      </p:sp>
      <p:sp>
        <p:nvSpPr>
          <p:cNvPr id="34" name="Text 32"/>
          <p:cNvSpPr txBox="1"/>
          <p:nvPr/>
        </p:nvSpPr>
        <p:spPr>
          <a:xfrm>
            <a:off x="8257032" y="1783080"/>
            <a:ext cx="1463040" cy="457200"/>
          </a:xfrm>
          <a:prstGeom prst="rect">
            <a:avLst/>
          </a:prstGeom>
          <a:noFill/>
          <a:ln/>
        </p:spPr>
        <p:txBody>
          <a:bodyPr wrap="square" lIns="0" tIns="0" rIns="0" bIns="0" rtlCol="0" anchor="ctr"/>
          <a:lstStyle/>
          <a:p>
            <a:pPr algn="ctr" indent="0" marL="0">
              <a:buNone/>
            </a:pPr>
            <a:r>
              <a:rPr lang="en-US" sz="1300" b="1" dirty="0">
                <a:solidFill>
                  <a:schemeClr val="tx1"/>
                </a:solidFill>
              </a:rPr>
              <a:t>Age</a:t>
            </a:r>
            <a:endParaRPr lang="en-US" sz="1300" dirty="0"/>
          </a:p>
        </p:txBody>
      </p:sp>
      <p:sp>
        <p:nvSpPr>
          <p:cNvPr id="35" name="Shape 33"/>
          <p:cNvSpPr/>
          <p:nvPr/>
        </p:nvSpPr>
        <p:spPr>
          <a:xfrm>
            <a:off x="6675120" y="2743200"/>
            <a:ext cx="1463040" cy="457200"/>
          </a:xfrm>
          <a:prstGeom prst="roundRect">
            <a:avLst>
              <a:gd name="adj" fmla="val 16000"/>
            </a:avLst>
          </a:prstGeom>
          <a:solidFill>
            <a:schemeClr val="accent1"/>
          </a:solidFill>
          <a:ln w="12700">
            <a:solidFill>
              <a:schemeClr val="accent1"/>
            </a:solidFill>
            <a:prstDash val="solid"/>
          </a:ln>
        </p:spPr>
      </p:sp>
      <p:sp>
        <p:nvSpPr>
          <p:cNvPr id="36" name="Text 34"/>
          <p:cNvSpPr txBox="1"/>
          <p:nvPr/>
        </p:nvSpPr>
        <p:spPr>
          <a:xfrm>
            <a:off x="6675120" y="2743200"/>
            <a:ext cx="1463040" cy="457200"/>
          </a:xfrm>
          <a:prstGeom prst="rect">
            <a:avLst/>
          </a:prstGeom>
          <a:noFill/>
          <a:ln/>
        </p:spPr>
        <p:txBody>
          <a:bodyPr wrap="square" lIns="0" tIns="0" rIns="0" bIns="0" rtlCol="0" anchor="ctr"/>
          <a:lstStyle/>
          <a:p>
            <a:pPr algn="ctr" indent="0" marL="0">
              <a:buNone/>
            </a:pPr>
            <a:r>
              <a:rPr lang="en-US" sz="1300" b="1" dirty="0">
                <a:solidFill>
                  <a:schemeClr val="bg1"/>
                </a:solidFill>
              </a:rPr>
              <a:t>Diabetes</a:t>
            </a:r>
            <a:endParaRPr lang="en-US" sz="1300" dirty="0"/>
          </a:p>
        </p:txBody>
      </p:sp>
      <p:sp>
        <p:nvSpPr>
          <p:cNvPr id="37" name="Shape 35"/>
          <p:cNvSpPr/>
          <p:nvPr/>
        </p:nvSpPr>
        <p:spPr>
          <a:xfrm>
            <a:off x="9875520" y="2743200"/>
            <a:ext cx="1463040" cy="457200"/>
          </a:xfrm>
          <a:prstGeom prst="roundRect">
            <a:avLst>
              <a:gd name="adj" fmla="val 16000"/>
            </a:avLst>
          </a:prstGeom>
          <a:solidFill>
            <a:schemeClr val="accent1"/>
          </a:solidFill>
          <a:ln w="12700">
            <a:solidFill>
              <a:schemeClr val="accent1"/>
            </a:solidFill>
            <a:prstDash val="solid"/>
          </a:ln>
        </p:spPr>
      </p:sp>
      <p:sp>
        <p:nvSpPr>
          <p:cNvPr id="38" name="Text 36"/>
          <p:cNvSpPr txBox="1"/>
          <p:nvPr/>
        </p:nvSpPr>
        <p:spPr>
          <a:xfrm>
            <a:off x="9875520" y="2743200"/>
            <a:ext cx="1463040" cy="457200"/>
          </a:xfrm>
          <a:prstGeom prst="rect">
            <a:avLst/>
          </a:prstGeom>
          <a:noFill/>
          <a:ln/>
        </p:spPr>
        <p:txBody>
          <a:bodyPr wrap="square" lIns="0" tIns="0" rIns="0" bIns="0" rtlCol="0" anchor="ctr"/>
          <a:lstStyle/>
          <a:p>
            <a:pPr algn="ctr" indent="0" marL="0">
              <a:buNone/>
            </a:pPr>
            <a:r>
              <a:rPr lang="en-US" sz="1300" b="1" dirty="0">
                <a:solidFill>
                  <a:schemeClr val="bg1"/>
                </a:solidFill>
              </a:rPr>
              <a:t>SBP</a:t>
            </a:r>
            <a:endParaRPr lang="en-US" sz="1300" dirty="0"/>
          </a:p>
        </p:txBody>
      </p:sp>
      <p:sp>
        <p:nvSpPr>
          <p:cNvPr id="39" name="Shape 37"/>
          <p:cNvSpPr/>
          <p:nvPr/>
        </p:nvSpPr>
        <p:spPr>
          <a:xfrm flipH="1">
            <a:off x="7863840" y="2240280"/>
            <a:ext cx="548640" cy="502920"/>
          </a:xfrm>
          <a:prstGeom prst="line">
            <a:avLst/>
          </a:prstGeom>
          <a:noFill/>
          <a:ln w="19050">
            <a:solidFill>
              <a:schemeClr val="tx2"/>
            </a:solidFill>
            <a:prstDash val="solid"/>
            <a:tailEnd type="triangle"/>
          </a:ln>
        </p:spPr>
      </p:sp>
      <p:sp>
        <p:nvSpPr>
          <p:cNvPr id="40" name="Shape 38"/>
          <p:cNvSpPr/>
          <p:nvPr/>
        </p:nvSpPr>
        <p:spPr>
          <a:xfrm>
            <a:off x="9555480" y="2240280"/>
            <a:ext cx="548640" cy="502920"/>
          </a:xfrm>
          <a:prstGeom prst="line">
            <a:avLst/>
          </a:prstGeom>
          <a:noFill/>
          <a:ln w="19050">
            <a:solidFill>
              <a:schemeClr val="tx2"/>
            </a:solidFill>
            <a:prstDash val="solid"/>
            <a:tailEnd type="triangle"/>
          </a:ln>
        </p:spPr>
      </p:sp>
      <p:sp>
        <p:nvSpPr>
          <p:cNvPr id="41" name="Shape 39"/>
          <p:cNvSpPr/>
          <p:nvPr/>
        </p:nvSpPr>
        <p:spPr>
          <a:xfrm>
            <a:off x="8138160" y="2971800"/>
            <a:ext cx="1737360" cy="0"/>
          </a:xfrm>
          <a:prstGeom prst="line">
            <a:avLst/>
          </a:prstGeom>
          <a:noFill/>
          <a:ln w="19050">
            <a:solidFill>
              <a:schemeClr val="accent1"/>
            </a:solidFill>
            <a:prstDash val="dash"/>
            <a:tailEnd type="triangle"/>
          </a:ln>
        </p:spPr>
      </p:sp>
      <p:sp>
        <p:nvSpPr>
          <p:cNvPr id="42" name="Text 40"/>
          <p:cNvSpPr txBox="1"/>
          <p:nvPr/>
        </p:nvSpPr>
        <p:spPr>
          <a:xfrm>
            <a:off x="6473952" y="3383280"/>
            <a:ext cx="5029200" cy="685800"/>
          </a:xfrm>
          <a:prstGeom prst="rect">
            <a:avLst/>
          </a:prstGeom>
          <a:noFill/>
          <a:ln/>
        </p:spPr>
        <p:txBody>
          <a:bodyPr wrap="square" lIns="0" tIns="0" rIns="0" bIns="0" rtlCol="0" anchor="t"/>
          <a:lstStyle/>
          <a:p>
            <a:pPr indent="0" marL="0">
              <a:buNone/>
            </a:pPr>
            <a:r>
              <a:rPr lang="en-US" sz="1400" b="1" dirty="0">
                <a:solidFill>
                  <a:schemeClr val="tx1"/>
                </a:solidFill>
              </a:rPr>
              <a:t>Unadjusted: </a:t>
            </a:r>
            <a:pPr indent="0" marL="0">
              <a:buNone/>
            </a:pPr>
            <a:r>
              <a:rPr lang="en-US" sz="1400" dirty="0">
                <a:solidFill>
                  <a:schemeClr val="tx1"/>
                </a:solidFill>
              </a:rPr>
              <a:t>11.6 mmHg (7.7 to 15.6)</a:t>
            </a:r>
            <a:endParaRPr lang="en-US" sz="1400" dirty="0"/>
          </a:p>
          <a:p>
            <a:pPr indent="0" marL="0">
              <a:buNone/>
            </a:pPr>
            <a:r>
              <a:rPr lang="en-US" sz="1400" b="1" dirty="0">
                <a:solidFill>
                  <a:schemeClr val="tx1"/>
                </a:solidFill>
              </a:rPr>
              <a:t>Adjusted for age: </a:t>
            </a:r>
            <a:pPr indent="0" marL="0">
              <a:buNone/>
            </a:pPr>
            <a:r>
              <a:rPr lang="en-US" sz="1400" dirty="0">
                <a:solidFill>
                  <a:schemeClr val="tx1"/>
                </a:solidFill>
              </a:rPr>
              <a:t>8.2 mmHg (4.7 to 11.8)</a:t>
            </a:r>
            <a:endParaRPr lang="en-US" sz="1400" dirty="0"/>
          </a:p>
        </p:txBody>
      </p:sp>
      <p:sp>
        <p:nvSpPr>
          <p:cNvPr id="43" name="Text 41"/>
          <p:cNvSpPr txBox="1"/>
          <p:nvPr/>
        </p:nvSpPr>
        <p:spPr>
          <a:xfrm>
            <a:off x="6473952" y="4069080"/>
            <a:ext cx="5029200" cy="685800"/>
          </a:xfrm>
          <a:prstGeom prst="rect">
            <a:avLst/>
          </a:prstGeom>
          <a:noFill/>
          <a:ln/>
        </p:spPr>
        <p:txBody>
          <a:bodyPr wrap="square" lIns="0" tIns="0" rIns="0" bIns="0" rtlCol="0" anchor="t"/>
          <a:lstStyle/>
          <a:p>
            <a:pPr indent="0" marL="0">
              <a:buNone/>
            </a:pPr>
            <a:r>
              <a:rPr lang="en-US" sz="1250" dirty="0">
                <a:solidFill>
                  <a:schemeClr val="tx2"/>
                </a:solidFill>
              </a:rPr>
              <a:t>Older patients have more diabetes and higher SBP, so part of the crude difference is age. Treatment, BMI or site can confound in the same way.</a:t>
            </a:r>
            <a:endParaRPr lang="en-US" sz="1250" dirty="0"/>
          </a:p>
        </p:txBody>
      </p:sp>
      <p:sp>
        <p:nvSpPr>
          <p:cNvPr id="44" name="Python  /  R code panel"/>
          <p:cNvSpPr/>
          <p:nvPr/>
        </p:nvSpPr>
        <p:spPr>
          <a:xfrm>
            <a:off x="6473952" y="4800600"/>
            <a:ext cx="5029200" cy="960120"/>
          </a:xfrm>
          <a:prstGeom prst="roundRect">
            <a:avLst>
              <a:gd name="adj" fmla="val 7619"/>
            </a:avLst>
          </a:prstGeom>
          <a:solidFill>
            <a:schemeClr val="bg2"/>
          </a:solidFill>
          <a:ln w="12700">
            <a:solidFill>
              <a:schemeClr val="bg2"/>
            </a:solidFill>
            <a:prstDash val="solid"/>
          </a:ln>
        </p:spPr>
      </p:sp>
      <p:sp>
        <p:nvSpPr>
          <p:cNvPr id="45" name="Python  /  R label"/>
          <p:cNvSpPr txBox="1"/>
          <p:nvPr/>
        </p:nvSpPr>
        <p:spPr>
          <a:xfrm>
            <a:off x="6611112" y="487375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  /  R</a:t>
            </a:r>
            <a:endParaRPr lang="en-US" sz="1000" dirty="0"/>
          </a:p>
        </p:txBody>
      </p:sp>
      <p:sp>
        <p:nvSpPr>
          <p:cNvPr id="46" name="Python  /  R code"/>
          <p:cNvSpPr txBox="1"/>
          <p:nvPr/>
        </p:nvSpPr>
        <p:spPr>
          <a:xfrm>
            <a:off x="6611112" y="5111496"/>
            <a:ext cx="4754880" cy="576072"/>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smf.ols("systolic_bp ~ diabetes + age", data=base).fit()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lm(systolic_bp ~ diabetes + age, data = base) |&gt; confint()</a:t>
            </a:r>
            <a:endParaRPr lang="en-US" sz="10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7B  Prediction: avoid leakage</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6520815"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269855" y="6291072"/>
            <a:ext cx="182880" cy="182880"/>
          </a:xfrm>
          <a:prstGeom prst="ellipse">
            <a:avLst/>
          </a:prstGeom>
          <a:solidFill>
            <a:schemeClr val="accent1"/>
          </a:solidFill>
          <a:ln w="12700">
            <a:solidFill>
              <a:schemeClr val="accent1"/>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Infer / Predict</a:t>
            </a:r>
            <a:endParaRPr lang="en-US" sz="1000" dirty="0"/>
          </a:p>
        </p:txBody>
      </p:sp>
      <p:sp>
        <p:nvSpPr>
          <p:cNvPr id="21" name="tracker Report"/>
          <p:cNvSpPr/>
          <p:nvPr/>
        </p:nvSpPr>
        <p:spPr>
          <a:xfrm>
            <a:off x="11237976" y="6327648"/>
            <a:ext cx="109728" cy="109728"/>
          </a:xfrm>
          <a:prstGeom prst="ellipse">
            <a:avLst/>
          </a:prstGeom>
          <a:solidFill>
            <a:schemeClr val="bg1"/>
          </a:solidFill>
          <a:ln w="12700">
            <a:solidFill>
              <a:schemeClr val="accent5"/>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Report</a:t>
            </a:r>
            <a:endParaRPr lang="en-US" sz="1000" dirty="0"/>
          </a:p>
        </p:txBody>
      </p:sp>
      <p:sp>
        <p:nvSpPr>
          <p:cNvPr id="23" name="Shape 21"/>
          <p:cNvSpPr/>
          <p:nvPr/>
        </p:nvSpPr>
        <p:spPr>
          <a:xfrm>
            <a:off x="457200" y="1234440"/>
            <a:ext cx="4206240" cy="1097280"/>
          </a:xfrm>
          <a:prstGeom prst="roundRect">
            <a:avLst>
              <a:gd name="adj" fmla="val 8333"/>
            </a:avLst>
          </a:prstGeom>
          <a:solidFill>
            <a:schemeClr val="bg2"/>
          </a:solidFill>
          <a:ln w="12700">
            <a:solidFill>
              <a:schemeClr val="bg2"/>
            </a:solidFill>
            <a:prstDash val="solid"/>
          </a:ln>
        </p:spPr>
      </p:sp>
      <p:sp>
        <p:nvSpPr>
          <p:cNvPr id="24" name="Text 22"/>
          <p:cNvSpPr txBox="1"/>
          <p:nvPr/>
        </p:nvSpPr>
        <p:spPr>
          <a:xfrm>
            <a:off x="640080" y="1234440"/>
            <a:ext cx="3840480" cy="1097280"/>
          </a:xfrm>
          <a:prstGeom prst="rect">
            <a:avLst/>
          </a:prstGeom>
          <a:noFill/>
          <a:ln/>
        </p:spPr>
        <p:txBody>
          <a:bodyPr wrap="square" lIns="0" tIns="0" rIns="0" bIns="0" rtlCol="0" anchor="ctr"/>
          <a:lstStyle/>
          <a:p>
            <a:pPr indent="0" marL="0">
              <a:buNone/>
            </a:pPr>
            <a:r>
              <a:rPr lang="en-US" sz="1500" b="1" dirty="0">
                <a:solidFill>
                  <a:schemeClr val="accent1"/>
                </a:solidFill>
              </a:rPr>
              <a:t>Split by patient</a:t>
            </a:r>
            <a:endParaRPr lang="en-US" sz="1500" dirty="0"/>
          </a:p>
          <a:p>
            <a:pPr indent="0" marL="0">
              <a:buNone/>
            </a:pPr>
            <a:r>
              <a:rPr lang="en-US" sz="1200" dirty="0">
                <a:solidFill>
                  <a:schemeClr val="tx1"/>
                </a:solidFill>
              </a:rPr>
              <a:t>and by time or site where the model will be used on new periods or centres</a:t>
            </a:r>
            <a:endParaRPr lang="en-US" sz="1500" dirty="0"/>
          </a:p>
        </p:txBody>
      </p:sp>
      <p:sp>
        <p:nvSpPr>
          <p:cNvPr id="25" name="Shape 23"/>
          <p:cNvSpPr/>
          <p:nvPr/>
        </p:nvSpPr>
        <p:spPr>
          <a:xfrm>
            <a:off x="2560320" y="2331720"/>
            <a:ext cx="0" cy="228600"/>
          </a:xfrm>
          <a:prstGeom prst="line">
            <a:avLst/>
          </a:prstGeom>
          <a:noFill/>
          <a:ln w="19050">
            <a:solidFill>
              <a:schemeClr val="tx2"/>
            </a:solidFill>
            <a:prstDash val="solid"/>
            <a:tailEnd type="triangle"/>
          </a:ln>
        </p:spPr>
      </p:sp>
      <p:sp>
        <p:nvSpPr>
          <p:cNvPr id="26" name="Shape 24"/>
          <p:cNvSpPr/>
          <p:nvPr/>
        </p:nvSpPr>
        <p:spPr>
          <a:xfrm>
            <a:off x="457200" y="2560320"/>
            <a:ext cx="4206240" cy="1097280"/>
          </a:xfrm>
          <a:prstGeom prst="roundRect">
            <a:avLst>
              <a:gd name="adj" fmla="val 8333"/>
            </a:avLst>
          </a:prstGeom>
          <a:solidFill>
            <a:schemeClr val="accent4"/>
          </a:solidFill>
          <a:ln w="12700">
            <a:solidFill>
              <a:schemeClr val="accent1"/>
            </a:solidFill>
            <a:prstDash val="solid"/>
          </a:ln>
        </p:spPr>
      </p:sp>
      <p:sp>
        <p:nvSpPr>
          <p:cNvPr id="27" name="Text 25"/>
          <p:cNvSpPr txBox="1"/>
          <p:nvPr/>
        </p:nvSpPr>
        <p:spPr>
          <a:xfrm>
            <a:off x="640080" y="2560320"/>
            <a:ext cx="3840480" cy="1097280"/>
          </a:xfrm>
          <a:prstGeom prst="rect">
            <a:avLst/>
          </a:prstGeom>
          <a:noFill/>
          <a:ln/>
        </p:spPr>
        <p:txBody>
          <a:bodyPr wrap="square" lIns="0" tIns="0" rIns="0" bIns="0" rtlCol="0" anchor="ctr"/>
          <a:lstStyle/>
          <a:p>
            <a:pPr indent="0" marL="0">
              <a:buNone/>
            </a:pPr>
            <a:r>
              <a:rPr lang="en-US" sz="1500" b="1" dirty="0">
                <a:solidFill>
                  <a:schemeClr val="accent1"/>
                </a:solidFill>
              </a:rPr>
              <a:t>Fit on training folds</a:t>
            </a:r>
            <a:endParaRPr lang="en-US" sz="1500" dirty="0"/>
          </a:p>
          <a:p>
            <a:pPr indent="0" marL="0">
              <a:buNone/>
            </a:pPr>
            <a:r>
              <a:rPr lang="en-US" sz="1200" dirty="0">
                <a:solidFill>
                  <a:schemeClr val="tx1"/>
                </a:solidFill>
              </a:rPr>
              <a:t>imputation, encoding, scaling and feature selection learn only from training data</a:t>
            </a:r>
            <a:endParaRPr lang="en-US" sz="1500" dirty="0"/>
          </a:p>
        </p:txBody>
      </p:sp>
      <p:sp>
        <p:nvSpPr>
          <p:cNvPr id="28" name="Shape 26"/>
          <p:cNvSpPr/>
          <p:nvPr/>
        </p:nvSpPr>
        <p:spPr>
          <a:xfrm>
            <a:off x="2560320" y="3657600"/>
            <a:ext cx="0" cy="228600"/>
          </a:xfrm>
          <a:prstGeom prst="line">
            <a:avLst/>
          </a:prstGeom>
          <a:noFill/>
          <a:ln w="19050">
            <a:solidFill>
              <a:schemeClr val="tx2"/>
            </a:solidFill>
            <a:prstDash val="solid"/>
            <a:tailEnd type="triangle"/>
          </a:ln>
        </p:spPr>
      </p:sp>
      <p:sp>
        <p:nvSpPr>
          <p:cNvPr id="29" name="Shape 27"/>
          <p:cNvSpPr/>
          <p:nvPr/>
        </p:nvSpPr>
        <p:spPr>
          <a:xfrm>
            <a:off x="457200" y="3886200"/>
            <a:ext cx="4206240" cy="1097280"/>
          </a:xfrm>
          <a:prstGeom prst="roundRect">
            <a:avLst>
              <a:gd name="adj" fmla="val 8333"/>
            </a:avLst>
          </a:prstGeom>
          <a:solidFill>
            <a:schemeClr val="bg2"/>
          </a:solidFill>
          <a:ln w="12700">
            <a:solidFill>
              <a:schemeClr val="bg2"/>
            </a:solidFill>
            <a:prstDash val="solid"/>
          </a:ln>
        </p:spPr>
      </p:sp>
      <p:sp>
        <p:nvSpPr>
          <p:cNvPr id="30" name="Text 28"/>
          <p:cNvSpPr txBox="1"/>
          <p:nvPr/>
        </p:nvSpPr>
        <p:spPr>
          <a:xfrm>
            <a:off x="640080" y="3886200"/>
            <a:ext cx="3840480" cy="1097280"/>
          </a:xfrm>
          <a:prstGeom prst="rect">
            <a:avLst/>
          </a:prstGeom>
          <a:noFill/>
          <a:ln/>
        </p:spPr>
        <p:txBody>
          <a:bodyPr wrap="square" lIns="0" tIns="0" rIns="0" bIns="0" rtlCol="0" anchor="ctr"/>
          <a:lstStyle/>
          <a:p>
            <a:pPr indent="0" marL="0">
              <a:buNone/>
            </a:pPr>
            <a:r>
              <a:rPr lang="en-US" sz="1500" b="1" dirty="0">
                <a:solidFill>
                  <a:schemeClr val="accent1"/>
                </a:solidFill>
              </a:rPr>
              <a:t>Evaluate on held-out patients</a:t>
            </a:r>
            <a:endParaRPr lang="en-US" sz="1500" dirty="0"/>
          </a:p>
          <a:p>
            <a:pPr indent="0" marL="0">
              <a:buNone/>
            </a:pPr>
            <a:r>
              <a:rPr lang="en-US" sz="1200" dirty="0">
                <a:solidFill>
                  <a:schemeClr val="tx1"/>
                </a:solidFill>
              </a:rPr>
              <a:t>grouped cross-validation, then temporal or external validation</a:t>
            </a:r>
            <a:endParaRPr lang="en-US" sz="1500" dirty="0"/>
          </a:p>
        </p:txBody>
      </p:sp>
      <p:sp>
        <p:nvSpPr>
          <p:cNvPr id="31" name="Text 29"/>
          <p:cNvSpPr txBox="1"/>
          <p:nvPr/>
        </p:nvSpPr>
        <p:spPr>
          <a:xfrm>
            <a:off x="457200" y="5257800"/>
            <a:ext cx="4206240" cy="640080"/>
          </a:xfrm>
          <a:prstGeom prst="rect">
            <a:avLst/>
          </a:prstGeom>
          <a:noFill/>
          <a:ln/>
        </p:spPr>
        <p:txBody>
          <a:bodyPr wrap="square" lIns="0" tIns="0" rIns="0" bIns="0" rtlCol="0" anchor="t"/>
          <a:lstStyle/>
          <a:p>
            <a:pPr indent="0" marL="0">
              <a:buNone/>
            </a:pPr>
            <a:r>
              <a:rPr lang="en-US" sz="1250" i="1" dirty="0">
                <a:solidFill>
                  <a:schemeClr val="accent1"/>
                </a:solidFill>
              </a:rPr>
              <a:t>Visits of one patient in both training and test folds inflate performance: a random forest scores AUC 0.79 with leaky folds but 0.74 on new patients.</a:t>
            </a:r>
            <a:endParaRPr lang="en-US" sz="1250" dirty="0"/>
          </a:p>
        </p:txBody>
      </p:sp>
      <p:sp>
        <p:nvSpPr>
          <p:cNvPr id="32" name="Python  (scikit-learn) code panel"/>
          <p:cNvSpPr/>
          <p:nvPr/>
        </p:nvSpPr>
        <p:spPr>
          <a:xfrm>
            <a:off x="4937760" y="1234440"/>
            <a:ext cx="6793992" cy="4206240"/>
          </a:xfrm>
          <a:prstGeom prst="roundRect">
            <a:avLst>
              <a:gd name="adj" fmla="val 1739"/>
            </a:avLst>
          </a:prstGeom>
          <a:solidFill>
            <a:schemeClr val="bg2"/>
          </a:solidFill>
          <a:ln w="12700">
            <a:solidFill>
              <a:schemeClr val="bg2"/>
            </a:solidFill>
            <a:prstDash val="solid"/>
          </a:ln>
        </p:spPr>
      </p:sp>
      <p:sp>
        <p:nvSpPr>
          <p:cNvPr id="33" name="Python  (scikit-learn) label"/>
          <p:cNvSpPr txBox="1"/>
          <p:nvPr/>
        </p:nvSpPr>
        <p:spPr>
          <a:xfrm>
            <a:off x="5074920" y="130759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Python  (scikit-learn)</a:t>
            </a:r>
            <a:endParaRPr lang="en-US" sz="1000" dirty="0"/>
          </a:p>
        </p:txBody>
      </p:sp>
      <p:sp>
        <p:nvSpPr>
          <p:cNvPr id="34" name="Python  (scikit-learn) code"/>
          <p:cNvSpPr txBox="1"/>
          <p:nvPr/>
        </p:nvSpPr>
        <p:spPr>
          <a:xfrm>
            <a:off x="5074920" y="1545336"/>
            <a:ext cx="6519672" cy="3822192"/>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num_cols = ["age", "bmi", "systolic_bp", "hdl", "crp"]</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cat_cols = ["sex", "smoking_status"]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prep = make_column_transformer(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(make_pipeline(SimpleImputer(strategy="median",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add_indicator=True),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StandardScaler()), num_cols),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(make_pipeline(SimpleImputer(strategy="most_frequent"),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OneHotEncoder(handle_unknown="ignore")),</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cat_cols))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model = make_pipeline(prep, LogisticRegression(max_iter=1000))</a:t>
            </a:r>
            <a:endParaRPr lang="en-US" sz="1200" dirty="0"/>
          </a:p>
          <a:p>
            <a:pPr indent="0" marL="0">
              <a:buNone/>
            </a:pP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auc = cross_val_score(model, df[num_cols + cat_cols],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df["diabetes"],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groups=df["patient_id"],   # all visits of a</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cv=GroupKFold(n_splits=5), # patient stay in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scoring="roc_auc")         # one fold</a:t>
            </a:r>
            <a:endParaRPr lang="en-US" sz="1200" dirty="0"/>
          </a:p>
        </p:txBody>
      </p:sp>
      <p:sp>
        <p:nvSpPr>
          <p:cNvPr id="35" name="resource chip"/>
          <p:cNvSpPr/>
          <p:nvPr/>
        </p:nvSpPr>
        <p:spPr>
          <a:xfrm>
            <a:off x="4937760" y="5577840"/>
            <a:ext cx="5029200" cy="310896"/>
          </a:xfrm>
          <a:prstGeom prst="roundRect">
            <a:avLst>
              <a:gd name="adj" fmla="val 50000"/>
            </a:avLst>
          </a:prstGeom>
          <a:solidFill>
            <a:schemeClr val="accent4"/>
          </a:solidFill>
          <a:ln w="12700">
            <a:solidFill>
              <a:schemeClr val="accent4"/>
            </a:solidFill>
            <a:prstDash val="solid"/>
          </a:ln>
        </p:spPr>
      </p:sp>
      <p:sp>
        <p:nvSpPr>
          <p:cNvPr id="36" name="resource link"/>
          <p:cNvSpPr txBox="1"/>
          <p:nvPr/>
        </p:nvSpPr>
        <p:spPr>
          <a:xfrm>
            <a:off x="5074920" y="5577840"/>
            <a:ext cx="4754880"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1" invalidUrl="" action="" tgtFrame="" tooltip="https://scikit-learn.org/stable/common_pitfalls.html" history="1" highlightClick="0" endSnd="0">
                  <a:extLst>
                    <a:ext uri="{A12FA001-AC4F-418D-AE19-62706E023703}">
                      <ahyp:hlinkClr xmlns:ahyp="http://schemas.microsoft.com/office/drawing/2018/hyperlinkcolor" val="tx"/>
                    </a:ext>
                  </a:extLst>
                </a:hlinkClick>
              </a:rPr>
              <a:t>scikit-learn: common pitfalls and data leakage</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Cohort summary table (Table 1)</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7452360"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accent1"/>
          </a:solidFill>
          <a:ln w="12700">
            <a:solidFill>
              <a:schemeClr val="accent1"/>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01400" y="6291072"/>
            <a:ext cx="182880" cy="182880"/>
          </a:xfrm>
          <a:prstGeom prst="ellipse">
            <a:avLst/>
          </a:prstGeom>
          <a:solidFill>
            <a:schemeClr val="accent1"/>
          </a:solidFill>
          <a:ln w="12700">
            <a:solidFill>
              <a:schemeClr val="accent1"/>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Report</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949440" cy="914400"/>
        </p:xfrm>
        <a:graphic>
          <a:graphicData uri="http://schemas.openxmlformats.org/drawingml/2006/table">
            <a:tbl>
              <a:tblPr/>
              <a:tblGrid>
                <a:gridCol w="2331720"/>
                <a:gridCol w="1325880"/>
                <a:gridCol w="1325880"/>
                <a:gridCol w="1188720"/>
                <a:gridCol w="777240"/>
              </a:tblGrid>
              <a:tr h="548640">
                <a:tc>
                  <a:txBody>
                    <a:bodyPr/>
                    <a:lstStyle/>
                    <a:p>
                      <a:pPr indent="0" marL="0">
                        <a:buNone/>
                      </a:pPr>
                      <a:r>
                        <a:rPr lang="en-US" sz="1200" b="1" dirty="0">
                          <a:solidFill>
                            <a:schemeClr val="bg1"/>
                          </a:solidFill>
                        </a:rPr>
                        <a:t>Characteristic</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Overall</a:t>
                      </a:r>
                      <a:endParaRPr lang="en-US" sz="1200" dirty="0"/>
                    </a:p>
                    <a:p>
                      <a:pPr algn="ctr" indent="0" marL="0">
                        <a:buNone/>
                      </a:pPr>
                      <a:r>
                        <a:rPr lang="en-US" sz="1200" b="1" dirty="0">
                          <a:solidFill>
                            <a:schemeClr val="bg1"/>
                          </a:solidFill>
                        </a:rPr>
                        <a:t>N = 420</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No diabetes</a:t>
                      </a:r>
                      <a:endParaRPr lang="en-US" sz="1200" dirty="0"/>
                    </a:p>
                    <a:p>
                      <a:pPr algn="ctr" indent="0" marL="0">
                        <a:buNone/>
                      </a:pPr>
                      <a:r>
                        <a:rPr lang="en-US" sz="1200" b="1" dirty="0">
                          <a:solidFill>
                            <a:schemeClr val="bg1"/>
                          </a:solidFill>
                        </a:rPr>
                        <a:t>N = 337</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Diabetes</a:t>
                      </a:r>
                      <a:endParaRPr lang="en-US" sz="1200" dirty="0"/>
                    </a:p>
                    <a:p>
                      <a:pPr algn="ctr" indent="0" marL="0">
                        <a:buNone/>
                      </a:pPr>
                      <a:r>
                        <a:rPr lang="en-US" sz="1200" b="1" dirty="0">
                          <a:solidFill>
                            <a:schemeClr val="bg1"/>
                          </a:solidFill>
                        </a:rPr>
                        <a:t>N = 83</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Missing</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411480">
                <a:tc>
                  <a:txBody>
                    <a:bodyPr/>
                    <a:lstStyle/>
                    <a:p>
                      <a:pPr indent="0" marL="0">
                        <a:buNone/>
                      </a:pPr>
                      <a:r>
                        <a:rPr lang="en-US" sz="1200" dirty="0">
                          <a:solidFill>
                            <a:schemeClr val="tx1"/>
                          </a:solidFill>
                        </a:rPr>
                        <a:t>Age, years, mean (SD)</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58.3 (9.9)</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57.1 (9.7)</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63.1 (9.3)</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chemeClr val="tx1"/>
                          </a:solidFill>
                        </a:rPr>
                        <a:t>Female, n/N (%)</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196/420 (47%)</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147/337 (44%)</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49/83 (59%)</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chemeClr val="tx1"/>
                          </a:solidFill>
                        </a:rPr>
                        <a:t>BMI, kg/m², mean (SD)</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27.4 (4.2)</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26.8 (4.1)</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29.9 (3.6)</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41</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chemeClr val="tx1"/>
                          </a:solidFill>
                        </a:rPr>
                        <a:t>Systolic BP, mmHg, mean (SD)</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122.5 (16.0)</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120.2 (15.1)</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131.8 (16.5)</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chemeClr val="tx1"/>
                          </a:solidFill>
                        </a:rPr>
                        <a:t>CRP, mg/L, median (IQR)</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2.0 (1.1 to 3.9)</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1.9 (1.1 to 3.7)</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2.5 (1.4 to 4.9)</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130</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chemeClr val="tx1"/>
                          </a:solidFill>
                        </a:rPr>
                        <a:t>Current smoker, n/N (%)</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66/411 (16%)</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43/329 (13%)</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23/82 (28%)</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9</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200" dirty="0">
                          <a:solidFill>
                            <a:schemeClr val="tx1"/>
                          </a:solidFill>
                        </a:rPr>
                        <a:t>On statin, n/N (%)</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135/420 (32%)</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80/337 (24%)</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55/83 (66%)</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chemeClr val="tx1"/>
                          </a:solidFill>
                        </a:rPr>
                        <a:t>0</a:t>
                      </a:r>
                      <a:endParaRPr lang="en-US" sz="12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4" name="Text 21"/>
          <p:cNvSpPr txBox="1"/>
          <p:nvPr/>
        </p:nvSpPr>
        <p:spPr>
          <a:xfrm>
            <a:off x="457200" y="4617720"/>
            <a:ext cx="6949440" cy="731520"/>
          </a:xfrm>
          <a:prstGeom prst="rect">
            <a:avLst/>
          </a:prstGeom>
          <a:noFill/>
          <a:ln/>
        </p:spPr>
        <p:txBody>
          <a:bodyPr wrap="square" lIns="0" tIns="0" rIns="0" bIns="0" rtlCol="0" anchor="t"/>
          <a:lstStyle/>
          <a:p>
            <a:pPr indent="0" marL="0">
              <a:buNone/>
            </a:pPr>
            <a:r>
              <a:rPr lang="en-US" sz="1200" dirty="0">
                <a:solidFill>
                  <a:schemeClr val="tx2"/>
                </a:solidFill>
              </a:rPr>
              <a:t>Baseline visit, one row per patient. Continuous: mean (SD) or median (IQR) by shape; categorical: n/N (%), with N = non-missing values; missing counts shown for every variable.</a:t>
            </a:r>
            <a:endParaRPr lang="en-US" sz="1200" dirty="0"/>
          </a:p>
        </p:txBody>
      </p:sp>
      <p:sp>
        <p:nvSpPr>
          <p:cNvPr id="25" name="R  (gtsummary) code panel"/>
          <p:cNvSpPr/>
          <p:nvPr/>
        </p:nvSpPr>
        <p:spPr>
          <a:xfrm>
            <a:off x="7680960" y="1188720"/>
            <a:ext cx="4050792" cy="3611880"/>
          </a:xfrm>
          <a:prstGeom prst="roundRect">
            <a:avLst>
              <a:gd name="adj" fmla="val 2025"/>
            </a:avLst>
          </a:prstGeom>
          <a:solidFill>
            <a:schemeClr val="bg2"/>
          </a:solidFill>
          <a:ln w="12700">
            <a:solidFill>
              <a:schemeClr val="bg2"/>
            </a:solidFill>
            <a:prstDash val="solid"/>
          </a:ln>
        </p:spPr>
      </p:sp>
      <p:sp>
        <p:nvSpPr>
          <p:cNvPr id="26" name="R  (gtsummary) label"/>
          <p:cNvSpPr txBox="1"/>
          <p:nvPr/>
        </p:nvSpPr>
        <p:spPr>
          <a:xfrm>
            <a:off x="7818120" y="1261872"/>
            <a:ext cx="1371600" cy="219456"/>
          </a:xfrm>
          <a:prstGeom prst="rect">
            <a:avLst/>
          </a:prstGeom>
          <a:noFill/>
          <a:ln/>
        </p:spPr>
        <p:txBody>
          <a:bodyPr wrap="square" lIns="0" tIns="0" rIns="0" bIns="0" rtlCol="0" anchor="ctr"/>
          <a:lstStyle/>
          <a:p>
            <a:pPr indent="0" marL="0">
              <a:buNone/>
            </a:pPr>
            <a:r>
              <a:rPr lang="en-US" sz="1000" b="1" dirty="0">
                <a:solidFill>
                  <a:schemeClr val="accent1"/>
                </a:solidFill>
              </a:rPr>
              <a:t>R  (gtsummary)</a:t>
            </a:r>
            <a:endParaRPr lang="en-US" sz="1000" dirty="0"/>
          </a:p>
        </p:txBody>
      </p:sp>
      <p:sp>
        <p:nvSpPr>
          <p:cNvPr id="27" name="R  (gtsummary) code"/>
          <p:cNvSpPr txBox="1"/>
          <p:nvPr/>
        </p:nvSpPr>
        <p:spPr>
          <a:xfrm>
            <a:off x="7818120" y="1499616"/>
            <a:ext cx="3776472" cy="3227832"/>
          </a:xfrm>
          <a:prstGeom prst="rect">
            <a:avLst/>
          </a:prstGeom>
          <a:noFill/>
          <a:ln/>
        </p:spPr>
        <p:txBody>
          <a:bodyPr wrap="square" lIns="0" tIns="0" rIns="0" bIns="0" rtlCol="0" anchor="t"/>
          <a:lstStyle/>
          <a:p>
            <a:pPr indent="0" marL="0">
              <a:buNone/>
            </a:pPr>
            <a:r>
              <a:rPr lang="en-US" sz="1150" dirty="0">
                <a:solidFill>
                  <a:schemeClr val="tx1"/>
                </a:solidFill>
                <a:latin typeface="Courier New" pitchFamily="34" charset="0"/>
                <a:ea typeface="Courier New" pitchFamily="34" charset="-122"/>
                <a:cs typeface="Courier New" pitchFamily="34" charset="-120"/>
              </a:rPr>
              <a:t>library(gtsummary)</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base |&gt;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select(age, sex, bmi, systolic_bp,</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crp, smoking_status, statin,</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diabetes) |&gt;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tbl_summary(</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by = diabetes,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statistic = list(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all_continuous() ~ "{mean} ({sd})",</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crp ~ "{median} ({p25}, {p75})",</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all_categorical() ~</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"{n} / {N} ({p}%)"),</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missing = "always") |&gt;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add_overall()</a:t>
            </a:r>
            <a:endParaRPr lang="en-US" sz="1150" dirty="0"/>
          </a:p>
        </p:txBody>
      </p:sp>
      <p:sp>
        <p:nvSpPr>
          <p:cNvPr id="28" name="Text 25"/>
          <p:cNvSpPr txBox="1"/>
          <p:nvPr/>
        </p:nvSpPr>
        <p:spPr>
          <a:xfrm>
            <a:off x="7680960" y="4892040"/>
            <a:ext cx="4050792" cy="640080"/>
          </a:xfrm>
          <a:prstGeom prst="rect">
            <a:avLst/>
          </a:prstGeom>
          <a:noFill/>
          <a:ln/>
        </p:spPr>
        <p:txBody>
          <a:bodyPr wrap="square" lIns="0" tIns="0" rIns="0" bIns="0" rtlCol="0" anchor="t"/>
          <a:lstStyle/>
          <a:p>
            <a:pPr indent="0" marL="0">
              <a:buNone/>
            </a:pPr>
            <a:r>
              <a:rPr lang="en-US" sz="1200" b="1" dirty="0">
                <a:solidFill>
                  <a:schemeClr val="tx1"/>
                </a:solidFill>
              </a:rPr>
              <a:t>Python: </a:t>
            </a:r>
            <a:pPr indent="0" marL="0">
              <a:buNone/>
            </a:pPr>
            <a:r>
              <a:rPr lang="en-US" sz="1050" dirty="0">
                <a:solidFill>
                  <a:schemeClr val="tx1"/>
                </a:solidFill>
                <a:latin typeface="Courier New" pitchFamily="34" charset="0"/>
                <a:ea typeface="Courier New" pitchFamily="34" charset="-122"/>
                <a:cs typeface="Courier New" pitchFamily="34" charset="-120"/>
              </a:rPr>
              <a:t>the tableone package, TableOne(base, groupby="diabetes", nonnormal=["crp"], missing=True).</a:t>
            </a:r>
            <a:endParaRPr lang="en-US" sz="1200" dirty="0"/>
          </a:p>
        </p:txBody>
      </p:sp>
      <p:sp>
        <p:nvSpPr>
          <p:cNvPr id="29" name="resource chip"/>
          <p:cNvSpPr/>
          <p:nvPr/>
        </p:nvSpPr>
        <p:spPr>
          <a:xfrm>
            <a:off x="7680960" y="5577840"/>
            <a:ext cx="4050792" cy="310896"/>
          </a:xfrm>
          <a:prstGeom prst="roundRect">
            <a:avLst>
              <a:gd name="adj" fmla="val 50000"/>
            </a:avLst>
          </a:prstGeom>
          <a:solidFill>
            <a:schemeClr val="accent4"/>
          </a:solidFill>
          <a:ln w="12700">
            <a:solidFill>
              <a:schemeClr val="accent4"/>
            </a:solidFill>
            <a:prstDash val="solid"/>
          </a:ln>
        </p:spPr>
      </p:sp>
      <p:sp>
        <p:nvSpPr>
          <p:cNvPr id="30" name="resource link"/>
          <p:cNvSpPr txBox="1"/>
          <p:nvPr/>
        </p:nvSpPr>
        <p:spPr>
          <a:xfrm>
            <a:off x="7818120" y="5577840"/>
            <a:ext cx="3776472" cy="310896"/>
          </a:xfrm>
          <a:prstGeom prst="rect">
            <a:avLst/>
          </a:prstGeom>
          <a:noFill/>
          <a:ln/>
        </p:spPr>
        <p:txBody>
          <a:bodyPr wrap="square" lIns="0" tIns="0" rIns="0" bIns="0" rtlCol="0" anchor="ctr"/>
          <a:lstStyle/>
          <a:p>
            <a:pPr indent="0" marL="0">
              <a:buNone/>
            </a:pPr>
            <a:r>
              <a:rPr lang="en-US" sz="1100" b="1" dirty="0">
                <a:solidFill>
                  <a:schemeClr val="accent1"/>
                </a:solidFill>
              </a:rPr>
              <a:t>Start here: </a:t>
            </a:r>
            <a:pPr indent="0" marL="0">
              <a:buNone/>
            </a:pPr>
            <a:r>
              <a:rPr lang="en-US" sz="1100" u="sng" dirty="0">
                <a:solidFill>
                  <a:schemeClr val="accent1"/>
                </a:solidFill>
                <a:hlinkClick r:id="rId1" invalidUrl="" action="" tgtFrame="" tooltip="https://www.danieldsjoberg.com/gtsummary/articles/tbl_summary.html" history="1" highlightClick="0" endSnd="0">
                  <a:extLst>
                    <a:ext uri="{A12FA001-AC4F-418D-AE19-62706E023703}">
                      <ahyp:hlinkClr xmlns:ahyp="http://schemas.microsoft.com/office/drawing/2018/hyperlinkcolor" val="tx"/>
                    </a:ext>
                  </a:extLst>
                </a:hlinkClick>
              </a:rPr>
              <a:t>gtsummary tbl_summary() tutorial</a:t>
            </a:r>
            <a:endParaRPr lang="en-US" sz="11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The EDA deliverable: one page, four parts</a:t>
            </a:r>
            <a:endParaRPr lang="en-US" sz="3000" dirty="0"/>
          </a:p>
        </p:txBody>
      </p:sp>
      <p:sp>
        <p:nvSpPr>
          <p:cNvPr id="3" name="tracker line"/>
          <p:cNvSpPr/>
          <p:nvPr/>
        </p:nvSpPr>
        <p:spPr>
          <a:xfrm>
            <a:off x="3840480" y="6382512"/>
            <a:ext cx="7452360" cy="0"/>
          </a:xfrm>
          <a:prstGeom prst="line">
            <a:avLst/>
          </a:prstGeom>
          <a:noFill/>
          <a:ln w="19050">
            <a:solidFill>
              <a:schemeClr val="accent5"/>
            </a:solidFill>
            <a:prstDash val="solid"/>
          </a:ln>
        </p:spPr>
      </p:sp>
      <p:sp>
        <p:nvSpPr>
          <p:cNvPr id="4" name="tracker progress"/>
          <p:cNvSpPr/>
          <p:nvPr/>
        </p:nvSpPr>
        <p:spPr>
          <a:xfrm>
            <a:off x="3840480" y="6382512"/>
            <a:ext cx="7452360" cy="0"/>
          </a:xfrm>
          <a:prstGeom prst="line">
            <a:avLst/>
          </a:prstGeom>
          <a:noFill/>
          <a:ln w="19050">
            <a:solidFill>
              <a:schemeClr val="accent1"/>
            </a:solidFill>
            <a:prstDash val="solid"/>
          </a:ln>
        </p:spPr>
      </p:sp>
      <p:sp>
        <p:nvSpPr>
          <p:cNvPr id="5" name="tracker Question"/>
          <p:cNvSpPr/>
          <p:nvPr/>
        </p:nvSpPr>
        <p:spPr>
          <a:xfrm>
            <a:off x="3785616" y="6327648"/>
            <a:ext cx="109728" cy="109728"/>
          </a:xfrm>
          <a:prstGeom prst="ellipse">
            <a:avLst/>
          </a:prstGeom>
          <a:solidFill>
            <a:schemeClr val="accent1"/>
          </a:solidFill>
          <a:ln w="12700">
            <a:solidFill>
              <a:schemeClr val="accent1"/>
            </a:solidFill>
            <a:prstDash val="solid"/>
          </a:ln>
        </p:spPr>
      </p:sp>
      <p:sp>
        <p:nvSpPr>
          <p:cNvPr id="6" name="tracker label Question"/>
          <p:cNvSpPr txBox="1"/>
          <p:nvPr/>
        </p:nvSpPr>
        <p:spPr>
          <a:xfrm>
            <a:off x="329184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Question</a:t>
            </a:r>
            <a:endParaRPr lang="en-US" sz="1000" dirty="0"/>
          </a:p>
        </p:txBody>
      </p:sp>
      <p:sp>
        <p:nvSpPr>
          <p:cNvPr id="7" name="tracker Load"/>
          <p:cNvSpPr/>
          <p:nvPr/>
        </p:nvSpPr>
        <p:spPr>
          <a:xfrm>
            <a:off x="4717161" y="6327648"/>
            <a:ext cx="109728" cy="109728"/>
          </a:xfrm>
          <a:prstGeom prst="ellipse">
            <a:avLst/>
          </a:prstGeom>
          <a:solidFill>
            <a:schemeClr val="accent1"/>
          </a:solidFill>
          <a:ln w="12700">
            <a:solidFill>
              <a:schemeClr val="accent1"/>
            </a:solidFill>
            <a:prstDash val="solid"/>
          </a:ln>
        </p:spPr>
      </p:sp>
      <p:sp>
        <p:nvSpPr>
          <p:cNvPr id="8" name="tracker label Load"/>
          <p:cNvSpPr txBox="1"/>
          <p:nvPr/>
        </p:nvSpPr>
        <p:spPr>
          <a:xfrm>
            <a:off x="422338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Load</a:t>
            </a:r>
            <a:endParaRPr lang="en-US" sz="1000" dirty="0"/>
          </a:p>
        </p:txBody>
      </p:sp>
      <p:sp>
        <p:nvSpPr>
          <p:cNvPr id="9" name="tracker Clean"/>
          <p:cNvSpPr/>
          <p:nvPr/>
        </p:nvSpPr>
        <p:spPr>
          <a:xfrm>
            <a:off x="5648706" y="6327648"/>
            <a:ext cx="109728" cy="109728"/>
          </a:xfrm>
          <a:prstGeom prst="ellipse">
            <a:avLst/>
          </a:prstGeom>
          <a:solidFill>
            <a:schemeClr val="accent1"/>
          </a:solidFill>
          <a:ln w="12700">
            <a:solidFill>
              <a:schemeClr val="accent1"/>
            </a:solidFill>
            <a:prstDash val="solid"/>
          </a:ln>
        </p:spPr>
      </p:sp>
      <p:sp>
        <p:nvSpPr>
          <p:cNvPr id="10" name="tracker label Clean"/>
          <p:cNvSpPr txBox="1"/>
          <p:nvPr/>
        </p:nvSpPr>
        <p:spPr>
          <a:xfrm>
            <a:off x="515493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Clean</a:t>
            </a:r>
            <a:endParaRPr lang="en-US" sz="1000" dirty="0"/>
          </a:p>
        </p:txBody>
      </p:sp>
      <p:sp>
        <p:nvSpPr>
          <p:cNvPr id="11" name="tracker Explore"/>
          <p:cNvSpPr/>
          <p:nvPr/>
        </p:nvSpPr>
        <p:spPr>
          <a:xfrm>
            <a:off x="6580251" y="6327648"/>
            <a:ext cx="109728" cy="109728"/>
          </a:xfrm>
          <a:prstGeom prst="ellipse">
            <a:avLst/>
          </a:prstGeom>
          <a:solidFill>
            <a:schemeClr val="accent1"/>
          </a:solidFill>
          <a:ln w="12700">
            <a:solidFill>
              <a:schemeClr val="accent1"/>
            </a:solidFill>
            <a:prstDash val="solid"/>
          </a:ln>
        </p:spPr>
      </p:sp>
      <p:sp>
        <p:nvSpPr>
          <p:cNvPr id="12" name="tracker label Explore"/>
          <p:cNvSpPr txBox="1"/>
          <p:nvPr/>
        </p:nvSpPr>
        <p:spPr>
          <a:xfrm>
            <a:off x="608647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Explore</a:t>
            </a:r>
            <a:endParaRPr lang="en-US" sz="1000" dirty="0"/>
          </a:p>
        </p:txBody>
      </p:sp>
      <p:sp>
        <p:nvSpPr>
          <p:cNvPr id="13" name="tracker Outliers"/>
          <p:cNvSpPr/>
          <p:nvPr/>
        </p:nvSpPr>
        <p:spPr>
          <a:xfrm>
            <a:off x="7511796" y="6327648"/>
            <a:ext cx="109728" cy="109728"/>
          </a:xfrm>
          <a:prstGeom prst="ellipse">
            <a:avLst/>
          </a:prstGeom>
          <a:solidFill>
            <a:schemeClr val="accent1"/>
          </a:solidFill>
          <a:ln w="12700">
            <a:solidFill>
              <a:schemeClr val="accent1"/>
            </a:solidFill>
            <a:prstDash val="solid"/>
          </a:ln>
        </p:spPr>
      </p:sp>
      <p:sp>
        <p:nvSpPr>
          <p:cNvPr id="14" name="tracker label Outliers"/>
          <p:cNvSpPr txBox="1"/>
          <p:nvPr/>
        </p:nvSpPr>
        <p:spPr>
          <a:xfrm>
            <a:off x="701802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Outliers</a:t>
            </a:r>
            <a:endParaRPr lang="en-US" sz="1000" dirty="0"/>
          </a:p>
        </p:txBody>
      </p:sp>
      <p:sp>
        <p:nvSpPr>
          <p:cNvPr id="15" name="tracker Missing"/>
          <p:cNvSpPr/>
          <p:nvPr/>
        </p:nvSpPr>
        <p:spPr>
          <a:xfrm>
            <a:off x="8443341" y="6327648"/>
            <a:ext cx="109728" cy="109728"/>
          </a:xfrm>
          <a:prstGeom prst="ellipse">
            <a:avLst/>
          </a:prstGeom>
          <a:solidFill>
            <a:schemeClr val="accent1"/>
          </a:solidFill>
          <a:ln w="12700">
            <a:solidFill>
              <a:schemeClr val="accent1"/>
            </a:solidFill>
            <a:prstDash val="solid"/>
          </a:ln>
        </p:spPr>
      </p:sp>
      <p:sp>
        <p:nvSpPr>
          <p:cNvPr id="16" name="tracker label Missing"/>
          <p:cNvSpPr txBox="1"/>
          <p:nvPr/>
        </p:nvSpPr>
        <p:spPr>
          <a:xfrm>
            <a:off x="794956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Missing</a:t>
            </a:r>
            <a:endParaRPr lang="en-US" sz="1000" dirty="0"/>
          </a:p>
        </p:txBody>
      </p:sp>
      <p:sp>
        <p:nvSpPr>
          <p:cNvPr id="17" name="tracker Features"/>
          <p:cNvSpPr/>
          <p:nvPr/>
        </p:nvSpPr>
        <p:spPr>
          <a:xfrm>
            <a:off x="9374886" y="6327648"/>
            <a:ext cx="109728" cy="109728"/>
          </a:xfrm>
          <a:prstGeom prst="ellipse">
            <a:avLst/>
          </a:prstGeom>
          <a:solidFill>
            <a:schemeClr val="accent1"/>
          </a:solidFill>
          <a:ln w="12700">
            <a:solidFill>
              <a:schemeClr val="accent1"/>
            </a:solidFill>
            <a:prstDash val="solid"/>
          </a:ln>
        </p:spPr>
      </p:sp>
      <p:sp>
        <p:nvSpPr>
          <p:cNvPr id="18" name="tracker label Features"/>
          <p:cNvSpPr txBox="1"/>
          <p:nvPr/>
        </p:nvSpPr>
        <p:spPr>
          <a:xfrm>
            <a:off x="8881110"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Features</a:t>
            </a:r>
            <a:endParaRPr lang="en-US" sz="1000" dirty="0"/>
          </a:p>
        </p:txBody>
      </p:sp>
      <p:sp>
        <p:nvSpPr>
          <p:cNvPr id="19" name="tracker Infer / Predict"/>
          <p:cNvSpPr/>
          <p:nvPr/>
        </p:nvSpPr>
        <p:spPr>
          <a:xfrm>
            <a:off x="10306431" y="6327648"/>
            <a:ext cx="109728" cy="109728"/>
          </a:xfrm>
          <a:prstGeom prst="ellipse">
            <a:avLst/>
          </a:prstGeom>
          <a:solidFill>
            <a:schemeClr val="accent1"/>
          </a:solidFill>
          <a:ln w="12700">
            <a:solidFill>
              <a:schemeClr val="accent1"/>
            </a:solidFill>
            <a:prstDash val="solid"/>
          </a:ln>
        </p:spPr>
      </p:sp>
      <p:sp>
        <p:nvSpPr>
          <p:cNvPr id="20" name="tracker label Infer / Predict"/>
          <p:cNvSpPr txBox="1"/>
          <p:nvPr/>
        </p:nvSpPr>
        <p:spPr>
          <a:xfrm>
            <a:off x="9812655" y="6492240"/>
            <a:ext cx="1097280" cy="219456"/>
          </a:xfrm>
          <a:prstGeom prst="rect">
            <a:avLst/>
          </a:prstGeom>
          <a:noFill/>
          <a:ln/>
        </p:spPr>
        <p:txBody>
          <a:bodyPr wrap="square" lIns="0" tIns="0" rIns="0" bIns="0" rtlCol="0" anchor="ctr"/>
          <a:lstStyle/>
          <a:p>
            <a:pPr algn="ctr" indent="0" marL="0">
              <a:buNone/>
            </a:pPr>
            <a:r>
              <a:rPr lang="en-US" sz="1000" dirty="0">
                <a:solidFill>
                  <a:schemeClr val="tx2"/>
                </a:solidFill>
              </a:rPr>
              <a:t>Infer / Predict</a:t>
            </a:r>
            <a:endParaRPr lang="en-US" sz="1000" dirty="0"/>
          </a:p>
        </p:txBody>
      </p:sp>
      <p:sp>
        <p:nvSpPr>
          <p:cNvPr id="21" name="tracker Report"/>
          <p:cNvSpPr/>
          <p:nvPr/>
        </p:nvSpPr>
        <p:spPr>
          <a:xfrm>
            <a:off x="11201400" y="6291072"/>
            <a:ext cx="182880" cy="182880"/>
          </a:xfrm>
          <a:prstGeom prst="ellipse">
            <a:avLst/>
          </a:prstGeom>
          <a:solidFill>
            <a:schemeClr val="accent1"/>
          </a:solidFill>
          <a:ln w="12700">
            <a:solidFill>
              <a:schemeClr val="accent1"/>
            </a:solidFill>
            <a:prstDash val="solid"/>
          </a:ln>
        </p:spPr>
      </p:sp>
      <p:sp>
        <p:nvSpPr>
          <p:cNvPr id="22" name="tracker label Report"/>
          <p:cNvSpPr txBox="1"/>
          <p:nvPr/>
        </p:nvSpPr>
        <p:spPr>
          <a:xfrm>
            <a:off x="10744200" y="6492240"/>
            <a:ext cx="1097280" cy="219456"/>
          </a:xfrm>
          <a:prstGeom prst="rect">
            <a:avLst/>
          </a:prstGeom>
          <a:noFill/>
          <a:ln/>
        </p:spPr>
        <p:txBody>
          <a:bodyPr wrap="square" lIns="0" tIns="0" rIns="0" bIns="0" rtlCol="0" anchor="ctr"/>
          <a:lstStyle/>
          <a:p>
            <a:pPr algn="ctr" indent="0" marL="0">
              <a:buNone/>
            </a:pPr>
            <a:r>
              <a:rPr lang="en-US" sz="1000" b="1" dirty="0">
                <a:solidFill>
                  <a:schemeClr val="accent1"/>
                </a:solidFill>
              </a:rPr>
              <a:t>Report</a:t>
            </a:r>
            <a:endParaRPr lang="en-US" sz="1000" dirty="0"/>
          </a:p>
        </p:txBody>
      </p:sp>
      <p:sp>
        <p:nvSpPr>
          <p:cNvPr id="23" name="card"/>
          <p:cNvSpPr/>
          <p:nvPr/>
        </p:nvSpPr>
        <p:spPr>
          <a:xfrm>
            <a:off x="457200" y="1188720"/>
            <a:ext cx="3840480" cy="2240280"/>
          </a:xfrm>
          <a:prstGeom prst="roundRect">
            <a:avLst>
              <a:gd name="adj" fmla="val 4082"/>
            </a:avLst>
          </a:prstGeom>
          <a:solidFill>
            <a:schemeClr val="bg2"/>
          </a:solidFill>
          <a:ln w="12700">
            <a:solidFill>
              <a:schemeClr val="bg2"/>
            </a:solidFill>
            <a:prstDash val="solid"/>
          </a:ln>
        </p:spPr>
      </p:sp>
      <p:sp>
        <p:nvSpPr>
          <p:cNvPr id="24" name="Text 22"/>
          <p:cNvSpPr txBox="1"/>
          <p:nvPr/>
        </p:nvSpPr>
        <p:spPr>
          <a:xfrm>
            <a:off x="640080" y="1280160"/>
            <a:ext cx="3474720" cy="320040"/>
          </a:xfrm>
          <a:prstGeom prst="rect">
            <a:avLst/>
          </a:prstGeom>
          <a:noFill/>
          <a:ln/>
        </p:spPr>
        <p:txBody>
          <a:bodyPr wrap="square" lIns="0" tIns="0" rIns="0" bIns="0" rtlCol="0" anchor="ctr"/>
          <a:lstStyle/>
          <a:p>
            <a:pPr indent="0" marL="0">
              <a:buNone/>
            </a:pPr>
            <a:r>
              <a:rPr lang="en-US" sz="1500" b="1" dirty="0">
                <a:solidFill>
                  <a:schemeClr val="accent1"/>
                </a:solidFill>
              </a:rPr>
              <a:t>(i)  </a:t>
            </a:r>
            <a:pPr indent="0" marL="0">
              <a:buNone/>
            </a:pPr>
            <a:r>
              <a:rPr lang="en-US" sz="1500" b="1" dirty="0">
                <a:solidFill>
                  <a:schemeClr val="tx1"/>
                </a:solidFill>
              </a:rPr>
              <a:t>Cohort summary</a:t>
            </a:r>
            <a:endParaRPr lang="en-US" sz="1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3383280" cy="914400"/>
        </p:xfrm>
        <a:graphic>
          <a:graphicData uri="http://schemas.openxmlformats.org/drawingml/2006/table">
            <a:tbl>
              <a:tblPr/>
              <a:tblGrid>
                <a:gridCol w="1188720"/>
                <a:gridCol w="1097280"/>
                <a:gridCol w="1097280"/>
              </a:tblGrid>
              <a:tr h="274320">
                <a:tc>
                  <a:txBody>
                    <a:bodyPr/>
                    <a:lstStyle/>
                    <a:p>
                      <a:pPr algn="ctr" indent="0" marL="0">
                        <a:buNone/>
                      </a:pP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chemeClr val="tx1"/>
                          </a:solidFill>
                        </a:rPr>
                        <a:t>No DM</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chemeClr val="tx1"/>
                          </a:solidFill>
                        </a:rPr>
                        <a:t>DM</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274320">
                <a:tc>
                  <a:txBody>
                    <a:bodyPr/>
                    <a:lstStyle/>
                    <a:p>
                      <a:pPr algn="ctr" indent="0" marL="0">
                        <a:buNone/>
                      </a:pPr>
                      <a:r>
                        <a:rPr lang="en-US" sz="1100" dirty="0">
                          <a:solidFill>
                            <a:schemeClr val="tx1"/>
                          </a:solidFill>
                        </a:rPr>
                        <a:t>N</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chemeClr val="tx1"/>
                          </a:solidFill>
                        </a:rPr>
                        <a:t>337</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chemeClr val="tx1"/>
                          </a:solidFill>
                        </a:rPr>
                        <a:t>83</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274320">
                <a:tc>
                  <a:txBody>
                    <a:bodyPr/>
                    <a:lstStyle/>
                    <a:p>
                      <a:pPr algn="ctr" indent="0" marL="0">
                        <a:buNone/>
                      </a:pPr>
                      <a:r>
                        <a:rPr lang="en-US" sz="1100" dirty="0">
                          <a:solidFill>
                            <a:schemeClr val="tx1"/>
                          </a:solidFill>
                        </a:rPr>
                        <a:t>Age</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chemeClr val="tx1"/>
                          </a:solidFill>
                        </a:rPr>
                        <a:t>57.1</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chemeClr val="tx1"/>
                          </a:solidFill>
                        </a:rPr>
                        <a:t>63.1</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274320">
                <a:tc>
                  <a:txBody>
                    <a:bodyPr/>
                    <a:lstStyle/>
                    <a:p>
                      <a:pPr algn="ctr" indent="0" marL="0">
                        <a:buNone/>
                      </a:pPr>
                      <a:r>
                        <a:rPr lang="en-US" sz="1100" dirty="0">
                          <a:solidFill>
                            <a:schemeClr val="tx1"/>
                          </a:solidFill>
                        </a:rPr>
                        <a:t>SBP</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chemeClr val="tx1"/>
                          </a:solidFill>
                        </a:rPr>
                        <a:t>120.2</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chemeClr val="tx1"/>
                          </a:solidFill>
                        </a:rPr>
                        <a:t>131.8</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274320">
                <a:tc>
                  <a:txBody>
                    <a:bodyPr/>
                    <a:lstStyle/>
                    <a:p>
                      <a:pPr algn="ctr" indent="0" marL="0">
                        <a:buNone/>
                      </a:pPr>
                      <a:r>
                        <a:rPr lang="en-US" sz="1100" dirty="0">
                          <a:solidFill>
                            <a:schemeClr val="tx1"/>
                          </a:solidFill>
                        </a:rPr>
                        <a:t>CRP*</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chemeClr val="tx1"/>
                          </a:solidFill>
                        </a:rPr>
                        <a:t>1.9</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chemeClr val="tx1"/>
                          </a:solidFill>
                        </a:rPr>
                        <a:t>2.5</a:t>
                      </a:r>
                      <a:endParaRPr lang="en-US" sz="1100" dirty="0"/>
                    </a:p>
                  </a:txBody>
                  <a:tcPr marL="38100" marR="38100" marT="12700" marB="127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6" name="Text 23"/>
          <p:cNvSpPr txBox="1"/>
          <p:nvPr/>
        </p:nvSpPr>
        <p:spPr>
          <a:xfrm>
            <a:off x="685800" y="3063240"/>
            <a:ext cx="3383280" cy="274320"/>
          </a:xfrm>
          <a:prstGeom prst="rect">
            <a:avLst/>
          </a:prstGeom>
          <a:noFill/>
          <a:ln/>
        </p:spPr>
        <p:txBody>
          <a:bodyPr wrap="square" lIns="0" tIns="0" rIns="0" bIns="0" rtlCol="0" anchor="ctr"/>
          <a:lstStyle/>
          <a:p>
            <a:pPr indent="0" marL="0">
              <a:buNone/>
            </a:pPr>
            <a:r>
              <a:rPr lang="en-US" sz="1000" i="1" dirty="0">
                <a:solidFill>
                  <a:schemeClr val="tx2"/>
                </a:solidFill>
              </a:rPr>
              <a:t>* median, mg/L. Full Table 1 on the previous slide.</a:t>
            </a:r>
            <a:endParaRPr lang="en-US" sz="1000" dirty="0"/>
          </a:p>
        </p:txBody>
      </p:sp>
      <p:sp>
        <p:nvSpPr>
          <p:cNvPr id="27" name="card"/>
          <p:cNvSpPr/>
          <p:nvPr/>
        </p:nvSpPr>
        <p:spPr>
          <a:xfrm>
            <a:off x="4526280" y="1188720"/>
            <a:ext cx="7205472" cy="2240280"/>
          </a:xfrm>
          <a:prstGeom prst="roundRect">
            <a:avLst>
              <a:gd name="adj" fmla="val 4082"/>
            </a:avLst>
          </a:prstGeom>
          <a:solidFill>
            <a:schemeClr val="bg2"/>
          </a:solidFill>
          <a:ln w="12700">
            <a:solidFill>
              <a:schemeClr val="bg2"/>
            </a:solidFill>
            <a:prstDash val="solid"/>
          </a:ln>
        </p:spPr>
      </p:sp>
      <p:sp>
        <p:nvSpPr>
          <p:cNvPr id="28" name="Text 25"/>
          <p:cNvSpPr txBox="1"/>
          <p:nvPr/>
        </p:nvSpPr>
        <p:spPr>
          <a:xfrm>
            <a:off x="4709160" y="1280160"/>
            <a:ext cx="6839712" cy="320040"/>
          </a:xfrm>
          <a:prstGeom prst="rect">
            <a:avLst/>
          </a:prstGeom>
          <a:noFill/>
          <a:ln/>
        </p:spPr>
        <p:txBody>
          <a:bodyPr wrap="square" lIns="0" tIns="0" rIns="0" bIns="0" rtlCol="0" anchor="ctr"/>
          <a:lstStyle/>
          <a:p>
            <a:pPr indent="0" marL="0">
              <a:buNone/>
            </a:pPr>
            <a:r>
              <a:rPr lang="en-US" sz="1500" b="1" dirty="0">
                <a:solidFill>
                  <a:schemeClr val="accent1"/>
                </a:solidFill>
              </a:rPr>
              <a:t>(ii)  </a:t>
            </a:r>
            <a:pPr indent="0" marL="0">
              <a:buNone/>
            </a:pPr>
            <a:r>
              <a:rPr lang="en-US" sz="1500" b="1" dirty="0">
                <a:solidFill>
                  <a:schemeClr val="tx1"/>
                </a:solidFill>
              </a:rPr>
              <a:t>Three informative plots</a:t>
            </a:r>
            <a:endParaRPr lang="en-US" sz="1500" dirty="0"/>
          </a:p>
        </p:txBody>
      </p:sp>
      <p:pic>
        <p:nvPicPr>
          <p:cNvPr id="29" name="thumbnail group plot" descr="thumbnail group plot">    </p:cNvPr>
          <p:cNvPicPr>
            <a:picLocks noChangeAspect="1"/>
          </p:cNvPicPr>
          <p:nvPr/>
        </p:nvPicPr>
        <p:blipFill>
          <a:blip r:embed="rId1"/>
          <a:stretch>
            <a:fillRect/>
          </a:stretch>
        </p:blipFill>
        <p:spPr>
          <a:xfrm>
            <a:off x="4663440" y="1699566"/>
            <a:ext cx="1783080" cy="1492909"/>
          </a:xfrm>
          <a:prstGeom prst="rect">
            <a:avLst/>
          </a:prstGeom>
        </p:spPr>
      </p:pic>
      <p:pic>
        <p:nvPicPr>
          <p:cNvPr id="30" name="thumbnail scatter" descr="thumbnail scatter">    </p:cNvPr>
          <p:cNvPicPr>
            <a:picLocks noChangeAspect="1"/>
          </p:cNvPicPr>
          <p:nvPr/>
        </p:nvPicPr>
        <p:blipFill>
          <a:blip r:embed="rId2"/>
          <a:stretch>
            <a:fillRect/>
          </a:stretch>
        </p:blipFill>
        <p:spPr>
          <a:xfrm>
            <a:off x="6492240" y="1690028"/>
            <a:ext cx="1874520" cy="1511985"/>
          </a:xfrm>
          <a:prstGeom prst="rect">
            <a:avLst/>
          </a:prstGeom>
        </p:spPr>
      </p:pic>
      <p:pic>
        <p:nvPicPr>
          <p:cNvPr id="31" name="thumbnail missingness" descr="thumbnail missingness">    </p:cNvPr>
          <p:cNvPicPr>
            <a:picLocks noChangeAspect="1"/>
          </p:cNvPicPr>
          <p:nvPr/>
        </p:nvPicPr>
        <p:blipFill>
          <a:blip r:embed="rId3"/>
          <a:stretch>
            <a:fillRect/>
          </a:stretch>
        </p:blipFill>
        <p:spPr>
          <a:xfrm>
            <a:off x="8412480" y="1914528"/>
            <a:ext cx="3200400" cy="1062983"/>
          </a:xfrm>
          <a:prstGeom prst="rect">
            <a:avLst/>
          </a:prstGeom>
        </p:spPr>
      </p:pic>
      <p:sp>
        <p:nvSpPr>
          <p:cNvPr id="32" name="card"/>
          <p:cNvSpPr/>
          <p:nvPr/>
        </p:nvSpPr>
        <p:spPr>
          <a:xfrm>
            <a:off x="457200" y="3611880"/>
            <a:ext cx="5486400" cy="2286000"/>
          </a:xfrm>
          <a:prstGeom prst="roundRect">
            <a:avLst>
              <a:gd name="adj" fmla="val 4000"/>
            </a:avLst>
          </a:prstGeom>
          <a:solidFill>
            <a:schemeClr val="bg2"/>
          </a:solidFill>
          <a:ln w="12700">
            <a:solidFill>
              <a:schemeClr val="bg2"/>
            </a:solidFill>
            <a:prstDash val="solid"/>
          </a:ln>
        </p:spPr>
      </p:sp>
      <p:sp>
        <p:nvSpPr>
          <p:cNvPr id="33" name="Text 27"/>
          <p:cNvSpPr txBox="1"/>
          <p:nvPr/>
        </p:nvSpPr>
        <p:spPr>
          <a:xfrm>
            <a:off x="640080" y="3703320"/>
            <a:ext cx="5120640" cy="320040"/>
          </a:xfrm>
          <a:prstGeom prst="rect">
            <a:avLst/>
          </a:prstGeom>
          <a:noFill/>
          <a:ln/>
        </p:spPr>
        <p:txBody>
          <a:bodyPr wrap="square" lIns="0" tIns="0" rIns="0" bIns="0" rtlCol="0" anchor="ctr"/>
          <a:lstStyle/>
          <a:p>
            <a:pPr indent="0" marL="0">
              <a:buNone/>
            </a:pPr>
            <a:r>
              <a:rPr lang="en-US" sz="1500" b="1" dirty="0">
                <a:solidFill>
                  <a:schemeClr val="accent1"/>
                </a:solidFill>
              </a:rPr>
              <a:t>(iii)  </a:t>
            </a:r>
            <a:pPr indent="0" marL="0">
              <a:buNone/>
            </a:pPr>
            <a:r>
              <a:rPr lang="en-US" sz="1500" b="1" dirty="0">
                <a:solidFill>
                  <a:schemeClr val="tx1"/>
                </a:solidFill>
              </a:rPr>
              <a:t>Problems identified</a:t>
            </a:r>
            <a:endParaRPr lang="en-US" sz="1500" dirty="0"/>
          </a:p>
        </p:txBody>
      </p:sp>
      <p:sp>
        <p:nvSpPr>
          <p:cNvPr id="34" name="Text 28"/>
          <p:cNvSpPr txBox="1"/>
          <p:nvPr/>
        </p:nvSpPr>
        <p:spPr>
          <a:xfrm>
            <a:off x="685800" y="4069080"/>
            <a:ext cx="5120640" cy="1783080"/>
          </a:xfrm>
          <a:prstGeom prst="rect">
            <a:avLst/>
          </a:prstGeom>
          <a:noFill/>
          <a:ln/>
        </p:spPr>
        <p:txBody>
          <a:bodyPr wrap="square" lIns="0" tIns="0" rIns="0" bIns="0" rtlCol="0" anchor="t"/>
          <a:lstStyle/>
          <a:p>
            <a:pPr lvl="1" marL="381000" indent="-190500">
              <a:spcAft>
                <a:spcPts val="300"/>
              </a:spcAft>
              <a:buSzPct val="100000"/>
              <a:buChar char="•"/>
            </a:pPr>
            <a:r>
              <a:rPr lang="en-US" sz="1400" dirty="0">
                <a:solidFill>
                  <a:schemeClr val="tx1"/>
                </a:solidFill>
              </a:rPr>
              <a:t>46 cholesterol values in mmol/L (site C, 2023)</a:t>
            </a:r>
            <a:endParaRPr lang="en-US" sz="1400" dirty="0"/>
          </a:p>
          <a:p>
            <a:pPr lvl="1" marL="381000" indent="-190500">
              <a:spcAft>
                <a:spcPts val="300"/>
              </a:spcAft>
              <a:buSzPct val="100000"/>
              <a:buChar char="•"/>
            </a:pPr>
            <a:r>
              <a:rPr lang="en-US" sz="1400" dirty="0">
                <a:solidFill>
                  <a:schemeClr val="tx1"/>
                </a:solidFill>
              </a:rPr>
              <a:t>4 duplicate records; 5 spellings of sex</a:t>
            </a:r>
            <a:endParaRPr lang="en-US" sz="1400" dirty="0"/>
          </a:p>
          <a:p>
            <a:pPr lvl="1" marL="381000" indent="-190500">
              <a:spcAft>
                <a:spcPts val="300"/>
              </a:spcAft>
              <a:buSzPct val="100000"/>
              <a:buChar char="•"/>
            </a:pPr>
            <a:r>
              <a:rPr lang="en-US" sz="1400" dirty="0">
                <a:solidFill>
                  <a:schemeClr val="tx1"/>
                </a:solidFill>
              </a:rPr>
              <a:t>2 DBP ≥ SBP, 1 implausible height, 1 misdated visit</a:t>
            </a:r>
            <a:endParaRPr lang="en-US" sz="1400" dirty="0"/>
          </a:p>
          <a:p>
            <a:pPr lvl="1" marL="381000" indent="-190500">
              <a:spcAft>
                <a:spcPts val="300"/>
              </a:spcAft>
              <a:buSzPct val="100000"/>
              <a:buChar char="•"/>
            </a:pPr>
            <a:r>
              <a:rPr lang="en-US" sz="1400" dirty="0">
                <a:solidFill>
                  <a:schemeClr val="tx1"/>
                </a:solidFill>
              </a:rPr>
              <a:t>CRP 30% missing, more often in younger patients</a:t>
            </a:r>
            <a:endParaRPr lang="en-US" sz="1400" dirty="0"/>
          </a:p>
          <a:p>
            <a:pPr lvl="1" marL="381000" indent="-190500">
              <a:spcAft>
                <a:spcPts val="300"/>
              </a:spcAft>
              <a:buSzPct val="100000"/>
              <a:buChar char="•"/>
            </a:pPr>
            <a:r>
              <a:rPr lang="en-US" sz="1400" dirty="0">
                <a:solidFill>
                  <a:schemeClr val="tx1"/>
                </a:solidFill>
              </a:rPr>
              <a:t>HDL missing mostly at site B (22%)</a:t>
            </a:r>
            <a:endParaRPr lang="en-US" sz="1400" dirty="0"/>
          </a:p>
        </p:txBody>
      </p:sp>
      <p:sp>
        <p:nvSpPr>
          <p:cNvPr id="35" name="card"/>
          <p:cNvSpPr/>
          <p:nvPr/>
        </p:nvSpPr>
        <p:spPr>
          <a:xfrm>
            <a:off x="6245352" y="3611880"/>
            <a:ext cx="5486400" cy="2286000"/>
          </a:xfrm>
          <a:prstGeom prst="roundRect">
            <a:avLst>
              <a:gd name="adj" fmla="val 4000"/>
            </a:avLst>
          </a:prstGeom>
          <a:solidFill>
            <a:schemeClr val="bg2"/>
          </a:solidFill>
          <a:ln w="12700">
            <a:solidFill>
              <a:schemeClr val="bg2"/>
            </a:solidFill>
            <a:prstDash val="solid"/>
          </a:ln>
        </p:spPr>
      </p:sp>
      <p:sp>
        <p:nvSpPr>
          <p:cNvPr id="36" name="Text 30"/>
          <p:cNvSpPr txBox="1"/>
          <p:nvPr/>
        </p:nvSpPr>
        <p:spPr>
          <a:xfrm>
            <a:off x="6428232" y="3703320"/>
            <a:ext cx="5120640" cy="320040"/>
          </a:xfrm>
          <a:prstGeom prst="rect">
            <a:avLst/>
          </a:prstGeom>
          <a:noFill/>
          <a:ln/>
        </p:spPr>
        <p:txBody>
          <a:bodyPr wrap="square" lIns="0" tIns="0" rIns="0" bIns="0" rtlCol="0" anchor="ctr"/>
          <a:lstStyle/>
          <a:p>
            <a:pPr indent="0" marL="0">
              <a:buNone/>
            </a:pPr>
            <a:r>
              <a:rPr lang="en-US" sz="1500" b="1" dirty="0">
                <a:solidFill>
                  <a:schemeClr val="accent1"/>
                </a:solidFill>
              </a:rPr>
              <a:t>(iv)  </a:t>
            </a:r>
            <a:pPr indent="0" marL="0">
              <a:buNone/>
            </a:pPr>
            <a:r>
              <a:rPr lang="en-US" sz="1500" b="1" dirty="0">
                <a:solidFill>
                  <a:schemeClr val="tx1"/>
                </a:solidFill>
              </a:rPr>
              <a:t>Documented analysis decisions</a:t>
            </a:r>
            <a:endParaRPr lang="en-US" sz="1500" dirty="0"/>
          </a:p>
        </p:txBody>
      </p:sp>
      <p:sp>
        <p:nvSpPr>
          <p:cNvPr id="37" name="Text 31"/>
          <p:cNvSpPr txBox="1"/>
          <p:nvPr/>
        </p:nvSpPr>
        <p:spPr>
          <a:xfrm>
            <a:off x="6473952" y="4069080"/>
            <a:ext cx="5120640" cy="1783080"/>
          </a:xfrm>
          <a:prstGeom prst="rect">
            <a:avLst/>
          </a:prstGeom>
          <a:noFill/>
          <a:ln/>
        </p:spPr>
        <p:txBody>
          <a:bodyPr wrap="square" lIns="0" tIns="0" rIns="0" bIns="0" rtlCol="0" anchor="t"/>
          <a:lstStyle/>
          <a:p>
            <a:pPr lvl="1" marL="381000" indent="-190500">
              <a:spcAft>
                <a:spcPts val="300"/>
              </a:spcAft>
              <a:buSzPct val="100000"/>
              <a:buChar char="•"/>
            </a:pPr>
            <a:r>
              <a:rPr lang="en-US" sz="1400" dirty="0">
                <a:solidFill>
                  <a:schemeClr val="tx1"/>
                </a:solidFill>
              </a:rPr>
              <a:t>Unit of analysis: baseline visit per patient</a:t>
            </a:r>
            <a:endParaRPr lang="en-US" sz="1400" dirty="0"/>
          </a:p>
          <a:p>
            <a:pPr lvl="1" marL="381000" indent="-190500">
              <a:spcAft>
                <a:spcPts val="300"/>
              </a:spcAft>
              <a:buSzPct val="100000"/>
              <a:buChar char="•"/>
            </a:pPr>
            <a:r>
              <a:rPr lang="en-US" sz="1400" dirty="0">
                <a:solidFill>
                  <a:schemeClr val="tx1"/>
                </a:solidFill>
              </a:rPr>
              <a:t>Units converted after site confirmation; impossible values set to missing</a:t>
            </a:r>
            <a:endParaRPr lang="en-US" sz="1400" dirty="0"/>
          </a:p>
          <a:p>
            <a:pPr lvl="1" marL="381000" indent="-190500">
              <a:spcAft>
                <a:spcPts val="300"/>
              </a:spcAft>
              <a:buSzPct val="100000"/>
              <a:buChar char="•"/>
            </a:pPr>
            <a:r>
              <a:rPr lang="en-US" sz="1400" dirty="0">
                <a:solidFill>
                  <a:schemeClr val="tx1"/>
                </a:solidFill>
              </a:rPr>
              <a:t>CRP below LOD set to 0.15 mg/L, flag kept</a:t>
            </a:r>
            <a:endParaRPr lang="en-US" sz="1400" dirty="0"/>
          </a:p>
          <a:p>
            <a:pPr lvl="1" marL="381000" indent="-190500">
              <a:spcAft>
                <a:spcPts val="300"/>
              </a:spcAft>
              <a:buSzPct val="100000"/>
              <a:buChar char="•"/>
            </a:pPr>
            <a:r>
              <a:rPr lang="en-US" sz="1400" dirty="0">
                <a:solidFill>
                  <a:schemeClr val="tx1"/>
                </a:solidFill>
              </a:rPr>
              <a:t>SBP 212 mmHg kept; estimate 10.6 without it vs 11.6</a:t>
            </a:r>
            <a:endParaRPr lang="en-US" sz="1400" dirty="0"/>
          </a:p>
          <a:p>
            <a:pPr lvl="1" marL="381000" indent="-190500">
              <a:spcAft>
                <a:spcPts val="300"/>
              </a:spcAft>
              <a:buSzPct val="100000"/>
              <a:buChar char="•"/>
            </a:pPr>
            <a:r>
              <a:rPr lang="en-US" sz="1400" dirty="0">
                <a:solidFill>
                  <a:schemeClr val="tx1"/>
                </a:solidFill>
              </a:rPr>
              <a:t>Age-adjusted comparison; multiple imputation for covariates</a:t>
            </a:r>
            <a:endParaRPr lang="en-US" sz="14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Resources by task</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291840"/>
                <a:gridCol w="7982712"/>
              </a:tblGrid>
              <a:tr h="365760">
                <a:tc>
                  <a:txBody>
                    <a:bodyPr/>
                    <a:lstStyle/>
                    <a:p>
                      <a:pPr indent="0" marL="0">
                        <a:buNone/>
                      </a:pPr>
                      <a:r>
                        <a:rPr lang="en-US" sz="1300" b="1" dirty="0">
                          <a:solidFill>
                            <a:schemeClr val="bg1"/>
                          </a:solidFill>
                        </a:rPr>
                        <a:t>Task</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Resource</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r>
              <a:tr h="365760">
                <a:tc>
                  <a:txBody>
                    <a:bodyPr/>
                    <a:lstStyle/>
                    <a:p>
                      <a:pPr indent="0" marL="0">
                        <a:buNone/>
                      </a:pPr>
                      <a:r>
                        <a:rPr lang="en-US" sz="1300" b="1" dirty="0">
                          <a:solidFill>
                            <a:schemeClr val="tx1"/>
                          </a:solidFill>
                        </a:rPr>
                        <a:t>Beginner Python</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1" invalidUrl="" action="" tgtFrame="" tooltip="https://swcarpentry.github.io/python-novice-inflammation/" history="1" highlightClick="0" endSnd="0">
                            <a:extLst>
                              <a:ext uri="{A12FA001-AC4F-418D-AE19-62706E023703}">
                                <ahyp:hlinkClr xmlns:ahyp="http://schemas.microsoft.com/office/drawing/2018/hyperlinkcolor" val="tx"/>
                              </a:ext>
                            </a:extLst>
                          </a:hlinkClick>
                        </a:rPr>
                        <a:t>Software Carpentry: Programming with Python (patient data example)</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Beginner R and EDA</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2" invalidUrl="" action="" tgtFrame="" tooltip="https://r4ds.hadley.nz/" history="1" highlightClick="0" endSnd="0">
                            <a:extLst>
                              <a:ext uri="{A12FA001-AC4F-418D-AE19-62706E023703}">
                                <ahyp:hlinkClr xmlns:ahyp="http://schemas.microsoft.com/office/drawing/2018/hyperlinkcolor" val="tx"/>
                              </a:ext>
                            </a:extLst>
                          </a:hlinkClick>
                        </a:rPr>
                        <a:t>R for Data Science, 2nd edition</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Loading and manipulating tables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3" invalidUrl="" action="" tgtFrame="" tooltip="https://pandas.pydata.org/docs/getting_started/intro_tutorials/index.html" history="1" highlightClick="0" endSnd="0">
                            <a:extLst>
                              <a:ext uri="{A12FA001-AC4F-418D-AE19-62706E023703}">
                                <ahyp:hlinkClr xmlns:ahyp="http://schemas.microsoft.com/office/drawing/2018/hyperlinkcolor" val="tx"/>
                              </a:ext>
                            </a:extLst>
                          </a:hlinkClick>
                        </a:rPr>
                        <a:t>pandas: Getting started tutorials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Plotting distributions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4" invalidUrl="" action="" tgtFrame="" tooltip="https://seaborn.pydata.org/tutorial/distributions.html" history="1" highlightClick="0" endSnd="0">
                            <a:extLst>
                              <a:ext uri="{A12FA001-AC4F-418D-AE19-62706E023703}">
                                <ahyp:hlinkClr xmlns:ahyp="http://schemas.microsoft.com/office/drawing/2018/hyperlinkcolor" val="tx"/>
                              </a:ext>
                            </a:extLst>
                          </a:hlinkClick>
                        </a:rPr>
                        <a:t>seaborn: Visualizing distributions of data</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Practising visualization</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5" invalidUrl="" action="" tgtFrame="" tooltip="https://www.kaggle.com/learn/data-visualization" history="1" highlightClick="0" endSnd="0">
                            <a:extLst>
                              <a:ext uri="{A12FA001-AC4F-418D-AE19-62706E023703}">
                                <ahyp:hlinkClr xmlns:ahyp="http://schemas.microsoft.com/office/drawing/2018/hyperlinkcolor" val="tx"/>
                              </a:ext>
                            </a:extLst>
                          </a:hlinkClick>
                        </a:rPr>
                        <a:t>Kaggle Learn: Data Visualization</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Automated profiling</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6" invalidUrl="" action="" tgtFrame="" tooltip="https://docs.profiling.ydata.ai/latest/getting-started/quickstart/" history="1" highlightClick="0" endSnd="0">
                            <a:extLst>
                              <a:ext uri="{A12FA001-AC4F-418D-AE19-62706E023703}">
                                <ahyp:hlinkClr xmlns:ahyp="http://schemas.microsoft.com/office/drawing/2018/hyperlinkcolor" val="tx"/>
                              </a:ext>
                            </a:extLst>
                          </a:hlinkClick>
                        </a:rPr>
                        <a:t>YData Profiling: Quickstart</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Clinical summary tables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7" invalidUrl="" action="" tgtFrame="" tooltip="https://www.danieldsjoberg.com/gtsummary/articles/tbl_summary.html" history="1" highlightClick="0" endSnd="0">
                            <a:extLst>
                              <a:ext uri="{A12FA001-AC4F-418D-AE19-62706E023703}">
                                <ahyp:hlinkClr xmlns:ahyp="http://schemas.microsoft.com/office/drawing/2018/hyperlinkcolor" val="tx"/>
                              </a:ext>
                            </a:extLst>
                          </a:hlinkClick>
                        </a:rPr>
                        <a:t>gtsummary: tbl_summary() tutorial</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Missing-data reasoning</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8" invalidUrl="" action="" tgtFrame="" tooltip="https://stefvanbuuren.name/fimd/" history="1" highlightClick="0" endSnd="0">
                            <a:extLst>
                              <a:ext uri="{A12FA001-AC4F-418D-AE19-62706E023703}">
                                <ahyp:hlinkClr xmlns:ahyp="http://schemas.microsoft.com/office/drawing/2018/hyperlinkcolor" val="tx"/>
                              </a:ext>
                            </a:extLst>
                          </a:hlinkClick>
                        </a:rPr>
                        <a:t>van Buuren: Flexible Imputation of Missing Data</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Multiple-imputation analysis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9" invalidUrl="" action="" tgtFrame="" tooltip="https://amices.org/mice/" history="1" highlightClick="0" endSnd="0">
                            <a:extLst>
                              <a:ext uri="{A12FA001-AC4F-418D-AE19-62706E023703}">
                                <ahyp:hlinkClr xmlns:ahyp="http://schemas.microsoft.com/office/drawing/2018/hyperlinkcolor" val="tx"/>
                              </a:ext>
                            </a:extLst>
                          </a:hlinkClick>
                        </a:rPr>
                        <a:t>mice: impute, with(), pool() workflow</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Transition to machine learning</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10" invalidUrl="" action="" tgtFrame="" tooltip="https://scikit-learn.org/stable/common_pitfalls.html" history="1" highlightClick="0" endSnd="0">
                            <a:extLst>
                              <a:ext uri="{A12FA001-AC4F-418D-AE19-62706E023703}">
                                <ahyp:hlinkClr xmlns:ahyp="http://schemas.microsoft.com/office/drawing/2018/hyperlinkcolor" val="tx"/>
                              </a:ext>
                            </a:extLst>
                          </a:hlinkClick>
                        </a:rPr>
                        <a:t>scikit-learn: Common pitfalls and data leakage</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chemeClr val="tx1"/>
                          </a:solidFill>
                        </a:rPr>
                        <a:t>p-values and effect sizes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u="sng" dirty="0">
                          <a:solidFill>
                            <a:schemeClr val="accent1"/>
                          </a:solidFill>
                          <a:hlinkClick r:id="rId11" invalidUrl="" action="" tgtFrame="" tooltip="https://www.amstat.org/asa/files/pdfs/p-valuestatements.pdf" history="1" highlightClick="0" endSnd="0">
                            <a:extLst>
                              <a:ext uri="{A12FA001-AC4F-418D-AE19-62706E023703}">
                                <ahyp:hlinkClr xmlns:ahyp="http://schemas.microsoft.com/office/drawing/2018/hyperlinkcolor" val="tx"/>
                              </a:ext>
                            </a:extLst>
                          </a:hlinkClick>
                        </a:rPr>
                        <a:t>ASA statement on statistical significance and p-values</a:t>
                      </a:r>
                      <a:endParaRPr lang="en-US" sz="1300" dirty="0"/>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457200" y="5715000"/>
            <a:ext cx="11274552" cy="274320"/>
          </a:xfrm>
          <a:prstGeom prst="rect">
            <a:avLst/>
          </a:prstGeom>
          <a:noFill/>
          <a:ln/>
        </p:spPr>
        <p:txBody>
          <a:bodyPr wrap="square" lIns="0" tIns="0" rIns="0" bIns="0" rtlCol="0" anchor="ctr"/>
          <a:lstStyle/>
          <a:p>
            <a:pPr indent="0" marL="0">
              <a:buNone/>
            </a:pPr>
            <a:r>
              <a:rPr lang="en-US" sz="1300" b="1" dirty="0">
                <a:solidFill>
                  <a:schemeClr val="tx1"/>
                </a:solidFill>
              </a:rPr>
              <a:t>Main textbooks: </a:t>
            </a:r>
            <a:pPr indent="0" marL="0">
              <a:buNone/>
            </a:pPr>
            <a:r>
              <a:rPr lang="en-US" sz="1300" u="sng" dirty="0">
                <a:solidFill>
                  <a:schemeClr val="accent1"/>
                </a:solidFill>
                <a:hlinkClick r:id="rId12" invalidUrl="" action="" tgtFrame="" tooltip="https://book.datascience.appliedhealthinformatics.com/docs/intro" history="1" highlightClick="0" endSnd="0">
                  <a:extLst>
                    <a:ext uri="{A12FA001-AC4F-418D-AE19-62706E023703}">
                      <ahyp:hlinkClr xmlns:ahyp="http://schemas.microsoft.com/office/drawing/2018/hyperlinkcolor" val="tx"/>
                    </a:ext>
                  </a:extLst>
                </a:hlinkClick>
              </a:rPr>
              <a:t>Data Science for Health Informatists</a:t>
            </a:r>
            <a:pPr indent="0" marL="0">
              <a:buNone/>
            </a:pPr>
            <a:r>
              <a:rPr lang="en-US" sz="1300" dirty="0">
                <a:solidFill>
                  <a:schemeClr val="tx1"/>
                </a:solidFill>
              </a:rPr>
              <a:t>  ·  </a:t>
            </a:r>
            <a:pPr indent="0" marL="0">
              <a:buNone/>
            </a:pPr>
            <a:r>
              <a:rPr lang="en-US" sz="1300" u="sng" dirty="0">
                <a:solidFill>
                  <a:schemeClr val="accent1"/>
                </a:solidFill>
                <a:hlinkClick r:id="rId13" invalidUrl="" action="" tgtFrame="" tooltip="https://www.pythonhealthdatascience.com/content/front_page.html" history="1" highlightClick="0" endSnd="0">
                  <a:extLst>
                    <a:ext uri="{A12FA001-AC4F-418D-AE19-62706E023703}">
                      <ahyp:hlinkClr xmlns:ahyp="http://schemas.microsoft.com/office/drawing/2018/hyperlinkcolor" val="tx"/>
                    </a:ext>
                  </a:extLst>
                </a:hlinkClick>
              </a:rPr>
              <a:t>Python for Health Data Science</a:t>
            </a:r>
            <a:pPr indent="0" marL="0">
              <a:buNone/>
            </a:pPr>
            <a:r>
              <a:rPr lang="en-US" sz="1300" dirty="0">
                <a:solidFill>
                  <a:schemeClr val="tx1"/>
                </a:solidFill>
              </a:rPr>
              <a:t>  ·  </a:t>
            </a:r>
            <a:pPr indent="0" marL="0">
              <a:buNone/>
            </a:pPr>
            <a:r>
              <a:rPr lang="en-US" sz="1300" u="sng" dirty="0">
                <a:solidFill>
                  <a:schemeClr val="accent1"/>
                </a:solidFill>
                <a:hlinkClick r:id="rId14" invalidUrl="" action="" tgtFrame="" tooltip="https://bookdown.org/drki_musa/dataanalysis/" history="1" highlightClick="0" endSnd="0">
                  <a:extLst>
                    <a:ext uri="{A12FA001-AC4F-418D-AE19-62706E023703}">
                      <ahyp:hlinkClr xmlns:ahyp="http://schemas.microsoft.com/office/drawing/2018/hyperlinkcolor" val="tx"/>
                    </a:ext>
                  </a:extLst>
                </a:hlinkClick>
              </a:rPr>
              <a:t>Data Analysis in Medicine and Health using R</a:t>
            </a:r>
            <a:endParaRPr lang="en-US" sz="1300" dirty="0"/>
          </a:p>
        </p:txBody>
      </p:sp>
      <p:sp>
        <p:nvSpPr>
          <p:cNvPr id="25" name="Slide Number Placeholder 0"/>
          <p:cNvSpPr>
            <a:spLocks noGrp="1"/>
          </p:cNvSpPr>
          <p:nvPr>
            <p:ph type="sldNum" sz="quarter" idx="4294967295"/>
          </p:nvPr>
        </p:nvSpPr>
        <p:spPr>
          <a:xfrm>
            <a:off x="1965960" y="63733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1274552" cy="731520"/>
          </a:xfrm>
          <a:prstGeom prst="rect">
            <a:avLst/>
          </a:prstGeom>
          <a:noFill/>
          <a:ln/>
        </p:spPr>
        <p:txBody>
          <a:bodyPr wrap="square" lIns="0" tIns="0" rIns="0" bIns="0" rtlCol="0" anchor="ctr"/>
          <a:lstStyle/>
          <a:p>
            <a:pPr algn="l" indent="0" marL="0">
              <a:buNone/>
            </a:pPr>
            <a:r>
              <a:rPr lang="en-US" sz="3000" b="1" dirty="0">
                <a:solidFill>
                  <a:schemeClr val="bg1"/>
                </a:solidFill>
              </a:rPr>
              <a:t>EDA checklist</a:t>
            </a:r>
            <a:endParaRPr lang="en-US" sz="3000" dirty="0"/>
          </a:p>
        </p:txBody>
      </p:sp>
      <p:sp>
        <p:nvSpPr>
          <p:cNvPr id="3" name="Text 1"/>
          <p:cNvSpPr txBox="1"/>
          <p:nvPr/>
        </p:nvSpPr>
        <p:spPr>
          <a:xfrm>
            <a:off x="457200" y="1371600"/>
            <a:ext cx="5486400" cy="411480"/>
          </a:xfrm>
          <a:prstGeom prst="rect">
            <a:avLst/>
          </a:prstGeom>
          <a:noFill/>
          <a:ln/>
        </p:spPr>
        <p:txBody>
          <a:bodyPr wrap="square" lIns="0" tIns="0" rIns="0" bIns="0" rtlCol="0" anchor="ctr"/>
          <a:lstStyle/>
          <a:p>
            <a:pPr indent="0" marL="0">
              <a:buNone/>
            </a:pPr>
            <a:r>
              <a:rPr lang="en-US" sz="2000" b="1" dirty="0">
                <a:solidFill>
                  <a:schemeClr val="bg1"/>
                </a:solidFill>
              </a:rPr>
              <a:t>Before</a:t>
            </a:r>
            <a:endParaRPr lang="en-US" sz="2000" dirty="0"/>
          </a:p>
        </p:txBody>
      </p:sp>
      <p:sp>
        <p:nvSpPr>
          <p:cNvPr id="4" name="Text 2"/>
          <p:cNvSpPr txBox="1"/>
          <p:nvPr/>
        </p:nvSpPr>
        <p:spPr>
          <a:xfrm>
            <a:off x="457200" y="1874520"/>
            <a:ext cx="5486400" cy="1691640"/>
          </a:xfrm>
          <a:prstGeom prst="rect">
            <a:avLst/>
          </a:prstGeom>
          <a:noFill/>
          <a:ln/>
        </p:spPr>
        <p:txBody>
          <a:bodyPr wrap="square" lIns="0" tIns="0" rIns="0" bIns="0" rtlCol="0" anchor="t"/>
          <a:lstStyle/>
          <a:p>
            <a:pPr indent="0" marL="0">
              <a:spcAft>
                <a:spcPts val="400"/>
              </a:spcAft>
              <a:buNone/>
            </a:pPr>
            <a:r>
              <a:rPr lang="en-US" sz="1700" dirty="0">
                <a:solidFill>
                  <a:schemeClr val="bg1"/>
                </a:solidFill>
              </a:rPr>
              <a:t>☐  Study question, population and outcome written down</a:t>
            </a:r>
            <a:endParaRPr lang="en-US" sz="1700" dirty="0"/>
          </a:p>
          <a:p>
            <a:pPr indent="0" marL="0">
              <a:spcAft>
                <a:spcPts val="400"/>
              </a:spcAft>
              <a:buNone/>
            </a:pPr>
            <a:r>
              <a:rPr lang="en-US" sz="1700" dirty="0">
                <a:solidFill>
                  <a:schemeClr val="bg1"/>
                </a:solidFill>
              </a:rPr>
              <a:t>☐  Unit of analysis defined: patient, visit or specimen</a:t>
            </a:r>
            <a:endParaRPr lang="en-US" sz="1700" dirty="0"/>
          </a:p>
          <a:p>
            <a:pPr indent="0" marL="0">
              <a:spcAft>
                <a:spcPts val="400"/>
              </a:spcAft>
              <a:buNone/>
            </a:pPr>
            <a:r>
              <a:rPr lang="en-US" sz="1700" dirty="0">
                <a:solidFill>
                  <a:schemeClr val="bg1"/>
                </a:solidFill>
              </a:rPr>
              <a:t>☐  Data dictionary with units, codes and missing-value codes</a:t>
            </a:r>
            <a:endParaRPr lang="en-US" sz="1700" dirty="0"/>
          </a:p>
        </p:txBody>
      </p:sp>
      <p:sp>
        <p:nvSpPr>
          <p:cNvPr id="5" name="Text 3"/>
          <p:cNvSpPr txBox="1"/>
          <p:nvPr/>
        </p:nvSpPr>
        <p:spPr>
          <a:xfrm>
            <a:off x="6245352" y="1371600"/>
            <a:ext cx="5486400" cy="411480"/>
          </a:xfrm>
          <a:prstGeom prst="rect">
            <a:avLst/>
          </a:prstGeom>
          <a:noFill/>
          <a:ln/>
        </p:spPr>
        <p:txBody>
          <a:bodyPr wrap="square" lIns="0" tIns="0" rIns="0" bIns="0" rtlCol="0" anchor="ctr"/>
          <a:lstStyle/>
          <a:p>
            <a:pPr indent="0" marL="0">
              <a:buNone/>
            </a:pPr>
            <a:r>
              <a:rPr lang="en-US" sz="2000" b="1" dirty="0">
                <a:solidFill>
                  <a:schemeClr val="bg1"/>
                </a:solidFill>
              </a:rPr>
              <a:t>Clean</a:t>
            </a:r>
            <a:endParaRPr lang="en-US" sz="2000" dirty="0"/>
          </a:p>
        </p:txBody>
      </p:sp>
      <p:sp>
        <p:nvSpPr>
          <p:cNvPr id="6" name="Text 4"/>
          <p:cNvSpPr txBox="1"/>
          <p:nvPr/>
        </p:nvSpPr>
        <p:spPr>
          <a:xfrm>
            <a:off x="6245352" y="1874520"/>
            <a:ext cx="5486400" cy="1691640"/>
          </a:xfrm>
          <a:prstGeom prst="rect">
            <a:avLst/>
          </a:prstGeom>
          <a:noFill/>
          <a:ln/>
        </p:spPr>
        <p:txBody>
          <a:bodyPr wrap="square" lIns="0" tIns="0" rIns="0" bIns="0" rtlCol="0" anchor="t"/>
          <a:lstStyle/>
          <a:p>
            <a:pPr indent="0" marL="0">
              <a:spcAft>
                <a:spcPts val="400"/>
              </a:spcAft>
              <a:buNone/>
            </a:pPr>
            <a:r>
              <a:rPr lang="en-US" sz="1700" dirty="0">
                <a:solidFill>
                  <a:schemeClr val="bg1"/>
                </a:solidFill>
              </a:rPr>
              <a:t>☐  Labels, types and missing codes fixed</a:t>
            </a:r>
            <a:endParaRPr lang="en-US" sz="1700" dirty="0"/>
          </a:p>
          <a:p>
            <a:pPr indent="0" marL="0">
              <a:spcAft>
                <a:spcPts val="400"/>
              </a:spcAft>
              <a:buNone/>
            </a:pPr>
            <a:r>
              <a:rPr lang="en-US" sz="1700" dirty="0">
                <a:solidFill>
                  <a:schemeClr val="bg1"/>
                </a:solidFill>
              </a:rPr>
              <a:t>☐  Exact duplicates removed, repeat visits kept</a:t>
            </a:r>
            <a:endParaRPr lang="en-US" sz="1700" dirty="0"/>
          </a:p>
          <a:p>
            <a:pPr indent="0" marL="0">
              <a:spcAft>
                <a:spcPts val="400"/>
              </a:spcAft>
              <a:buNone/>
            </a:pPr>
            <a:r>
              <a:rPr lang="en-US" sz="1700" dirty="0">
                <a:solidFill>
                  <a:schemeClr val="bg1"/>
                </a:solidFill>
              </a:rPr>
              <a:t>☐  Units, dates and impossible values checked; decisions logged</a:t>
            </a:r>
            <a:endParaRPr lang="en-US" sz="1700" dirty="0"/>
          </a:p>
        </p:txBody>
      </p:sp>
      <p:sp>
        <p:nvSpPr>
          <p:cNvPr id="7" name="Text 5"/>
          <p:cNvSpPr txBox="1"/>
          <p:nvPr/>
        </p:nvSpPr>
        <p:spPr>
          <a:xfrm>
            <a:off x="457200" y="3703320"/>
            <a:ext cx="5486400" cy="411480"/>
          </a:xfrm>
          <a:prstGeom prst="rect">
            <a:avLst/>
          </a:prstGeom>
          <a:noFill/>
          <a:ln/>
        </p:spPr>
        <p:txBody>
          <a:bodyPr wrap="square" lIns="0" tIns="0" rIns="0" bIns="0" rtlCol="0" anchor="ctr"/>
          <a:lstStyle/>
          <a:p>
            <a:pPr indent="0" marL="0">
              <a:buNone/>
            </a:pPr>
            <a:r>
              <a:rPr lang="en-US" sz="2000" b="1" dirty="0">
                <a:solidFill>
                  <a:schemeClr val="bg1"/>
                </a:solidFill>
              </a:rPr>
              <a:t>Explore</a:t>
            </a:r>
            <a:endParaRPr lang="en-US" sz="2000" dirty="0"/>
          </a:p>
        </p:txBody>
      </p:sp>
      <p:sp>
        <p:nvSpPr>
          <p:cNvPr id="8" name="Text 6"/>
          <p:cNvSpPr txBox="1"/>
          <p:nvPr/>
        </p:nvSpPr>
        <p:spPr>
          <a:xfrm>
            <a:off x="457200" y="4206240"/>
            <a:ext cx="5486400" cy="1691640"/>
          </a:xfrm>
          <a:prstGeom prst="rect">
            <a:avLst/>
          </a:prstGeom>
          <a:noFill/>
          <a:ln/>
        </p:spPr>
        <p:txBody>
          <a:bodyPr wrap="square" lIns="0" tIns="0" rIns="0" bIns="0" rtlCol="0" anchor="t"/>
          <a:lstStyle/>
          <a:p>
            <a:pPr indent="0" marL="0">
              <a:spcAft>
                <a:spcPts val="400"/>
              </a:spcAft>
              <a:buNone/>
            </a:pPr>
            <a:r>
              <a:rPr lang="en-US" sz="1700" dirty="0">
                <a:solidFill>
                  <a:schemeClr val="bg1"/>
                </a:solidFill>
              </a:rPr>
              <a:t>☐  Histogram and Q-Q plot for each key variable, per group</a:t>
            </a:r>
            <a:endParaRPr lang="en-US" sz="1700" dirty="0"/>
          </a:p>
          <a:p>
            <a:pPr indent="0" marL="0">
              <a:spcAft>
                <a:spcPts val="400"/>
              </a:spcAft>
              <a:buNone/>
            </a:pPr>
            <a:r>
              <a:rPr lang="en-US" sz="1700" dirty="0">
                <a:solidFill>
                  <a:schemeClr val="bg1"/>
                </a:solidFill>
              </a:rPr>
              <a:t>☐  Outliers judged against clinical plausibility</a:t>
            </a:r>
            <a:endParaRPr lang="en-US" sz="1700" dirty="0"/>
          </a:p>
          <a:p>
            <a:pPr indent="0" marL="0">
              <a:spcAft>
                <a:spcPts val="400"/>
              </a:spcAft>
              <a:buNone/>
            </a:pPr>
            <a:r>
              <a:rPr lang="en-US" sz="1700" dirty="0">
                <a:solidFill>
                  <a:schemeClr val="bg1"/>
                </a:solidFill>
              </a:rPr>
              <a:t>☐  Missingness explored by variable, site and patient group</a:t>
            </a:r>
            <a:endParaRPr lang="en-US" sz="1700" dirty="0"/>
          </a:p>
        </p:txBody>
      </p:sp>
      <p:sp>
        <p:nvSpPr>
          <p:cNvPr id="9" name="Text 7"/>
          <p:cNvSpPr txBox="1"/>
          <p:nvPr/>
        </p:nvSpPr>
        <p:spPr>
          <a:xfrm>
            <a:off x="6245352" y="3703320"/>
            <a:ext cx="5486400" cy="411480"/>
          </a:xfrm>
          <a:prstGeom prst="rect">
            <a:avLst/>
          </a:prstGeom>
          <a:noFill/>
          <a:ln/>
        </p:spPr>
        <p:txBody>
          <a:bodyPr wrap="square" lIns="0" tIns="0" rIns="0" bIns="0" rtlCol="0" anchor="ctr"/>
          <a:lstStyle/>
          <a:p>
            <a:pPr indent="0" marL="0">
              <a:buNone/>
            </a:pPr>
            <a:r>
              <a:rPr lang="en-US" sz="2000" b="1" dirty="0">
                <a:solidFill>
                  <a:schemeClr val="bg1"/>
                </a:solidFill>
              </a:rPr>
              <a:t>Decide and report</a:t>
            </a:r>
            <a:endParaRPr lang="en-US" sz="2000" dirty="0"/>
          </a:p>
        </p:txBody>
      </p:sp>
      <p:sp>
        <p:nvSpPr>
          <p:cNvPr id="10" name="Text 8"/>
          <p:cNvSpPr txBox="1"/>
          <p:nvPr/>
        </p:nvSpPr>
        <p:spPr>
          <a:xfrm>
            <a:off x="6245352" y="4206240"/>
            <a:ext cx="5486400" cy="1691640"/>
          </a:xfrm>
          <a:prstGeom prst="rect">
            <a:avLst/>
          </a:prstGeom>
          <a:noFill/>
          <a:ln/>
        </p:spPr>
        <p:txBody>
          <a:bodyPr wrap="square" lIns="0" tIns="0" rIns="0" bIns="0" rtlCol="0" anchor="t"/>
          <a:lstStyle/>
          <a:p>
            <a:pPr indent="0" marL="0">
              <a:spcAft>
                <a:spcPts val="400"/>
              </a:spcAft>
              <a:buNone/>
            </a:pPr>
            <a:r>
              <a:rPr lang="en-US" sz="1700" dirty="0">
                <a:solidFill>
                  <a:schemeClr val="bg1"/>
                </a:solidFill>
              </a:rPr>
              <a:t>☐  Path chosen: inference or prediction</a:t>
            </a:r>
            <a:endParaRPr lang="en-US" sz="1700" dirty="0"/>
          </a:p>
          <a:p>
            <a:pPr indent="0" marL="0">
              <a:spcAft>
                <a:spcPts val="400"/>
              </a:spcAft>
              <a:buNone/>
            </a:pPr>
            <a:r>
              <a:rPr lang="en-US" sz="1700" dirty="0">
                <a:solidFill>
                  <a:schemeClr val="bg1"/>
                </a:solidFill>
              </a:rPr>
              <a:t>☐  Effect estimates with CIs, multiplicity, confounding; or a leakage-safe pipeline</a:t>
            </a:r>
            <a:endParaRPr lang="en-US" sz="1700" dirty="0"/>
          </a:p>
          <a:p>
            <a:pPr indent="0" marL="0">
              <a:spcAft>
                <a:spcPts val="400"/>
              </a:spcAft>
              <a:buNone/>
            </a:pPr>
            <a:r>
              <a:rPr lang="en-US" sz="1700" dirty="0">
                <a:solidFill>
                  <a:schemeClr val="bg1"/>
                </a:solidFill>
              </a:rPr>
              <a:t>☐  Table 1, three plots, problems and decisions shared</a:t>
            </a:r>
            <a:endParaRPr lang="en-US" sz="1700" dirty="0"/>
          </a:p>
        </p:txBody>
      </p:sp>
      <p:sp>
        <p:nvSpPr>
          <p:cNvPr id="11" name="Text 9"/>
          <p:cNvSpPr txBox="1"/>
          <p:nvPr/>
        </p:nvSpPr>
        <p:spPr>
          <a:xfrm>
            <a:off x="4114800" y="6263640"/>
            <a:ext cx="7616952" cy="365760"/>
          </a:xfrm>
          <a:prstGeom prst="rect">
            <a:avLst/>
          </a:prstGeom>
          <a:noFill/>
          <a:ln/>
        </p:spPr>
        <p:txBody>
          <a:bodyPr wrap="square" lIns="0" tIns="0" rIns="0" bIns="0" rtlCol="0" anchor="ctr"/>
          <a:lstStyle/>
          <a:p>
            <a:pPr algn="r" indent="0" marL="0">
              <a:buNone/>
            </a:pPr>
            <a:r>
              <a:rPr lang="en-US" sz="1500" b="1" dirty="0">
                <a:solidFill>
                  <a:schemeClr val="bg1"/>
                </a:solidFill>
              </a:rPr>
              <a:t>All links in one place: </a:t>
            </a:r>
            <a:pPr algn="r" indent="0" marL="0">
              <a:buNone/>
            </a:pPr>
            <a:r>
              <a:rPr lang="en-US" sz="1500" u="sng" dirty="0">
                <a:solidFill>
                  <a:schemeClr val="bg1"/>
                </a:solidFill>
                <a:hlinkClick r:id="rId1" action="ppaction://hlinksldjump" tooltip="Go to Resources by task">
                  <a:extLst>
                    <a:ext uri="{A12FA001-AC4F-418D-AE19-62706E023703}">
                      <ahyp:hlinkClr xmlns:ahyp="http://schemas.microsoft.com/office/drawing/2018/hyperlinkcolor" val="tx"/>
                    </a:ext>
                  </a:extLst>
                </a:hlinkClick>
              </a:rPr>
              <a:t>Resources by task →</a:t>
            </a:r>
            <a:endParaRPr lang="en-US" sz="1500" dirty="0"/>
          </a:p>
        </p:txBody>
      </p:sp>
      <p:sp>
        <p:nvSpPr>
          <p:cNvPr id="25" name="Slide Number Placeholder 0"/>
          <p:cNvSpPr>
            <a:spLocks noGrp="1"/>
          </p:cNvSpPr>
          <p:nvPr>
            <p:ph type="sldNum" sz="quarter" idx="4294967295"/>
          </p:nvPr>
        </p:nvSpPr>
        <p:spPr>
          <a:xfrm>
            <a:off x="2057400" y="63550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RSU Clinical EDA">
  <a:themeElements>
    <a:clrScheme name="RSU Clinical EDA">
      <a:dk1>
        <a:srgbClr val="1F1F1F"/>
      </a:dk1>
      <a:lt1>
        <a:srgbClr val="FFFFFF"/>
      </a:lt1>
      <a:dk2>
        <a:srgbClr val="58595B"/>
      </a:dk2>
      <a:lt2>
        <a:srgbClr val="F3F3F3"/>
      </a:lt2>
      <a:accent1>
        <a:srgbClr val="8E001C"/>
      </a:accent1>
      <a:accent2>
        <a:srgbClr val="6B7B8C"/>
      </a:accent2>
      <a:accent3>
        <a:srgbClr val="C9A3AB"/>
      </a:accent3>
      <a:accent4>
        <a:srgbClr val="F6ECEE"/>
      </a:accent4>
      <a:accent5>
        <a:srgbClr val="E3E6EA"/>
      </a:accent5>
      <a:accent6>
        <a:srgbClr val="3D4A57"/>
      </a:accent6>
      <a:hlink>
        <a:srgbClr val="8E001C"/>
      </a:hlink>
      <a:folHlink>
        <a:srgbClr val="6B1525"/>
      </a:folHlink>
    </a:clrScheme>
    <a:fontScheme name="RSU Clinical ED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Quickstart: Clinical Data Exploratory Data Analysis</dc:title>
  <dc:subject>PptxGenJS Presentation</dc:subject>
  <dc:creator>Viktorija Dauksaite</dc:creator>
  <cp:lastModifiedBy>Viktorija Dauksaite</cp:lastModifiedBy>
  <cp:revision>1</cp:revision>
  <dcterms:created xsi:type="dcterms:W3CDTF">2026-10-26T15:31:05Z</dcterms:created>
  <dcterms:modified xsi:type="dcterms:W3CDTF">2026-10-26T15:31:05Z</dcterms:modified>
</cp:coreProperties>
</file>